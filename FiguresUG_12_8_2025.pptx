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7" r:id="rId2"/>
    <p:sldId id="341" r:id="rId3"/>
    <p:sldId id="342" r:id="rId4"/>
    <p:sldId id="343" r:id="rId5"/>
    <p:sldId id="344" r:id="rId6"/>
    <p:sldId id="345" r:id="rId7"/>
    <p:sldId id="346" r:id="rId8"/>
    <p:sldId id="340" r:id="rId9"/>
    <p:sldId id="337" r:id="rId10"/>
    <p:sldId id="336" r:id="rId11"/>
    <p:sldId id="334" r:id="rId12"/>
    <p:sldId id="338" r:id="rId13"/>
    <p:sldId id="347" r:id="rId14"/>
    <p:sldId id="339" r:id="rId15"/>
    <p:sldId id="315" r:id="rId16"/>
    <p:sldId id="284" r:id="rId17"/>
    <p:sldId id="330" r:id="rId18"/>
    <p:sldId id="348" r:id="rId19"/>
    <p:sldId id="324" r:id="rId20"/>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1ED"/>
    <a:srgbClr val="F73DEB"/>
    <a:srgbClr val="00EEE7"/>
    <a:srgbClr val="1C4AED"/>
    <a:srgbClr val="00D164"/>
    <a:srgbClr val="203864"/>
    <a:srgbClr val="AA5800"/>
    <a:srgbClr val="005E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C00172-02D9-DC46-9908-7BACB68E0EBC}" v="1" dt="2025-12-10T05:52:26.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18"/>
    <p:restoredTop sz="83401"/>
  </p:normalViewPr>
  <p:slideViewPr>
    <p:cSldViewPr snapToGrid="0">
      <p:cViewPr varScale="1">
        <p:scale>
          <a:sx n="136" d="100"/>
          <a:sy n="136" d="100"/>
        </p:scale>
        <p:origin x="528" y="21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rey Schank" userId="259389749_tp_box_2" providerId="OAuth2" clId="{C0118A51-923D-5E68-930B-1DBC73078E70}"/>
    <pc:docChg chg="modSld">
      <pc:chgData name="Jeffrey Schank" userId="259389749_tp_box_2" providerId="OAuth2" clId="{C0118A51-923D-5E68-930B-1DBC73078E70}" dt="2025-12-10T05:52:30.572" v="1" actId="20577"/>
      <pc:docMkLst>
        <pc:docMk/>
      </pc:docMkLst>
      <pc:sldChg chg="modNotesTx">
        <pc:chgData name="Jeffrey Schank" userId="259389749_tp_box_2" providerId="OAuth2" clId="{C0118A51-923D-5E68-930B-1DBC73078E70}" dt="2025-12-10T05:52:30.572" v="1" actId="20577"/>
        <pc:sldMkLst>
          <pc:docMk/>
          <pc:sldMk cId="2890395705" sldId="3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C63A-1C43-1944-ABEB-533E101EC168}" type="datetimeFigureOut">
              <a:rPr lang="en-US" smtClean="0"/>
              <a:t>12/9/25</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C594B4-43BD-AE4E-8E0C-9B6BE5C545EA}" type="slidenum">
              <a:rPr lang="en-US" smtClean="0"/>
              <a:t>‹#›</a:t>
            </a:fld>
            <a:endParaRPr lang="en-US"/>
          </a:p>
        </p:txBody>
      </p:sp>
    </p:spTree>
    <p:extLst>
      <p:ext uri="{BB962C8B-B14F-4D97-AF65-F5344CB8AC3E}">
        <p14:creationId xmlns:p14="http://schemas.microsoft.com/office/powerpoint/2010/main" val="2419170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en-US" sz="1200" b="1" kern="1200" dirty="0">
                <a:solidFill>
                  <a:schemeClr val="tx1"/>
                </a:solidFill>
                <a:effectLst/>
                <a:latin typeface="+mn-lt"/>
                <a:ea typeface="+mn-ea"/>
                <a:cs typeface="+mn-cs"/>
              </a:rPr>
              <a:t>Fig 1</a:t>
            </a:r>
            <a:r>
              <a:rPr lang="en-US" sz="1200" kern="1200" dirty="0">
                <a:solidFill>
                  <a:schemeClr val="tx1"/>
                </a:solidFill>
                <a:effectLst/>
                <a:latin typeface="+mn-lt"/>
                <a:ea typeface="+mn-ea"/>
                <a:cs typeface="+mn-cs"/>
              </a:rPr>
              <a:t>. Empirical data from ultimatum game experiments. Meta-analysis mean offers, mean ATs, offer-AT gap, and rejection rates (a). Offer distributions across studies (b).  AT distribution from Strategy method studies (c). Relative rejection rates of responders with the dashed line indicating a linear decrease from 1.0 to 0. (d). See S1 Appendix for sources of these data.</a:t>
            </a:r>
            <a:r>
              <a:rPr lang="en-US" sz="1800" dirty="0">
                <a:effectLst/>
              </a:rPr>
              <a:t> </a:t>
            </a:r>
          </a:p>
          <a:p>
            <a:pPr marL="0" marR="0"/>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a:p>
            <a:pPr marL="0" marR="0"/>
            <a:r>
              <a:rPr lang="en-US" sz="1800" kern="100" dirty="0">
                <a:effectLst/>
                <a:latin typeface="Aptos" panose="020B0004020202020204" pitchFamily="34" charset="0"/>
                <a:ea typeface="Yu Gothic" panose="020B0400000000000000" pitchFamily="34" charset="-128"/>
                <a:cs typeface="Arial" panose="020B0604020202020204" pitchFamily="34" charset="0"/>
              </a:rPr>
              <a:t>From: Empirical Data-12-8-25.xlsx (Figure 1 tab)</a:t>
            </a:r>
          </a:p>
          <a:p>
            <a:pPr marL="0" marR="0"/>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p:txBody>
      </p:sp>
      <p:sp>
        <p:nvSpPr>
          <p:cNvPr id="4" name="Slide Number Placeholder 3"/>
          <p:cNvSpPr>
            <a:spLocks noGrp="1"/>
          </p:cNvSpPr>
          <p:nvPr>
            <p:ph type="sldNum" sz="quarter" idx="5"/>
          </p:nvPr>
        </p:nvSpPr>
        <p:spPr/>
        <p:txBody>
          <a:bodyPr/>
          <a:lstStyle/>
          <a:p>
            <a:fld id="{D8C594B4-43BD-AE4E-8E0C-9B6BE5C545EA}" type="slidenum">
              <a:rPr lang="en-US" smtClean="0"/>
              <a:t>1</a:t>
            </a:fld>
            <a:endParaRPr lang="en-US"/>
          </a:p>
        </p:txBody>
      </p:sp>
    </p:spTree>
    <p:extLst>
      <p:ext uri="{BB962C8B-B14F-4D97-AF65-F5344CB8AC3E}">
        <p14:creationId xmlns:p14="http://schemas.microsoft.com/office/powerpoint/2010/main" val="3930512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363C7-7A54-F9FC-BB0C-E0863CB63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030CD-D5C8-5180-A167-AC49A0201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11093-4A4C-C7E5-D1B8-9B011C0AD7B4}"/>
              </a:ext>
            </a:extLst>
          </p:cNvPr>
          <p:cNvSpPr>
            <a:spLocks noGrp="1"/>
          </p:cNvSpPr>
          <p:nvPr>
            <p:ph type="body" idx="1"/>
          </p:nvPr>
        </p:nvSpPr>
        <p:spPr/>
        <p:txBody>
          <a:bodyPr/>
          <a:lstStyle/>
          <a:p>
            <a:r>
              <a:rPr lang="en-US" sz="1800" b="1" kern="100" dirty="0">
                <a:effectLst/>
                <a:latin typeface="Times New Roman" panose="02020603050405020304" pitchFamily="18" charset="0"/>
                <a:ea typeface="Yu Gothic" panose="020B0400000000000000" pitchFamily="34" charset="-128"/>
              </a:rPr>
              <a:t>Fig. 2</a:t>
            </a:r>
            <a:r>
              <a:rPr lang="en-US" sz="1800" kern="100" dirty="0">
                <a:effectLst/>
                <a:latin typeface="Times New Roman" panose="02020603050405020304" pitchFamily="18" charset="0"/>
                <a:ea typeface="Yu Gothic" panose="020B0400000000000000" pitchFamily="34" charset="-128"/>
              </a:rPr>
              <a:t>. Example spatial distribution of groups for </a:t>
            </a:r>
            <a:r>
              <a:rPr lang="en-US" sz="1800" i="1" kern="100" dirty="0" err="1">
                <a:effectLst/>
                <a:latin typeface="Times New Roman" panose="02020603050405020304" pitchFamily="18" charset="0"/>
                <a:ea typeface="Yu Gothic" panose="020B0400000000000000" pitchFamily="34" charset="-128"/>
              </a:rPr>
              <a:t>G</a:t>
            </a:r>
            <a:r>
              <a:rPr lang="en-US" sz="1800" kern="100" baseline="-25000" dirty="0" err="1">
                <a:effectLst/>
                <a:latin typeface="Times New Roman" panose="02020603050405020304" pitchFamily="18" charset="0"/>
                <a:ea typeface="Yu Gothic" panose="020B0400000000000000" pitchFamily="34" charset="-128"/>
              </a:rPr>
              <a:t>max</a:t>
            </a:r>
            <a:r>
              <a:rPr lang="en-US" sz="1800" kern="100" baseline="-25000" dirty="0">
                <a:effectLst/>
                <a:latin typeface="Times New Roman" panose="02020603050405020304" pitchFamily="18" charset="0"/>
                <a:ea typeface="Yu Gothic" panose="020B0400000000000000" pitchFamily="34" charset="-128"/>
              </a:rPr>
              <a:t> </a:t>
            </a:r>
            <a:r>
              <a:rPr lang="en-US" sz="1800" kern="100" dirty="0">
                <a:effectLst/>
                <a:latin typeface="Times New Roman" panose="02020603050405020304" pitchFamily="18" charset="0"/>
                <a:ea typeface="Yu Gothic" panose="020B0400000000000000" pitchFamily="34" charset="-128"/>
              </a:rPr>
              <a:t>= 20, </a:t>
            </a:r>
            <a:r>
              <a:rPr lang="en-US" sz="1800" i="1" kern="100" dirty="0" err="1">
                <a:effectLst/>
                <a:latin typeface="Times New Roman" panose="02020603050405020304" pitchFamily="18" charset="0"/>
                <a:ea typeface="Yu Gothic" panose="020B0400000000000000" pitchFamily="34" charset="-128"/>
              </a:rPr>
              <a:t>N</a:t>
            </a:r>
            <a:r>
              <a:rPr lang="en-US" sz="1800" kern="100" baseline="-25000" dirty="0" err="1">
                <a:effectLst/>
                <a:latin typeface="Times New Roman" panose="02020603050405020304" pitchFamily="18" charset="0"/>
                <a:ea typeface="Yu Gothic" panose="020B0400000000000000" pitchFamily="34" charset="-128"/>
              </a:rPr>
              <a:t>max</a:t>
            </a:r>
            <a:r>
              <a:rPr lang="en-US" sz="1800" kern="100" baseline="-25000" dirty="0">
                <a:effectLst/>
                <a:latin typeface="Times New Roman" panose="02020603050405020304" pitchFamily="18" charset="0"/>
                <a:ea typeface="Yu Gothic" panose="020B0400000000000000" pitchFamily="34" charset="-128"/>
              </a:rPr>
              <a:t> </a:t>
            </a:r>
            <a:r>
              <a:rPr lang="en-US" sz="1800" kern="100" dirty="0">
                <a:effectLst/>
                <a:latin typeface="Times New Roman" panose="02020603050405020304" pitchFamily="18" charset="0"/>
                <a:ea typeface="Yu Gothic" panose="020B0400000000000000" pitchFamily="34" charset="-128"/>
              </a:rPr>
              <a:t>=10,000, </a:t>
            </a:r>
            <a:r>
              <a:rPr lang="en-US" sz="1800" i="1" kern="100" dirty="0">
                <a:effectLst/>
                <a:latin typeface="Times New Roman" panose="02020603050405020304" pitchFamily="18" charset="0"/>
                <a:ea typeface="Yu Gothic" panose="020B0400000000000000" pitchFamily="34" charset="-128"/>
              </a:rPr>
              <a:t>m</a:t>
            </a:r>
            <a:r>
              <a:rPr lang="en-US" sz="1800" kern="100" dirty="0">
                <a:effectLst/>
                <a:latin typeface="Times New Roman" panose="02020603050405020304" pitchFamily="18" charset="0"/>
                <a:ea typeface="Yu Gothic" panose="020B0400000000000000" pitchFamily="34" charset="-128"/>
              </a:rPr>
              <a:t> = 150, after 200 generations in 250 × 250 discrete space (see </a:t>
            </a:r>
            <a:r>
              <a:rPr lang="en-US" sz="1800" b="1" kern="100" dirty="0">
                <a:effectLst/>
                <a:latin typeface="Times New Roman" panose="02020603050405020304" pitchFamily="18" charset="0"/>
                <a:ea typeface="Yu Gothic" panose="020B0400000000000000" pitchFamily="34" charset="-128"/>
              </a:rPr>
              <a:t>Table 2</a:t>
            </a:r>
            <a:r>
              <a:rPr lang="en-US" sz="1800" kern="100" dirty="0">
                <a:effectLst/>
                <a:latin typeface="Times New Roman" panose="02020603050405020304" pitchFamily="18" charset="0"/>
                <a:ea typeface="Yu Gothic" panose="020B0400000000000000" pitchFamily="34" charset="-128"/>
              </a:rPr>
              <a:t> for a description of these parameters). Groups are color-coded by the average offer in a group. The dashed rectangular region is the portion of the population represented in </a:t>
            </a:r>
            <a:r>
              <a:rPr lang="en-US" sz="1800" b="1" kern="100" dirty="0">
                <a:effectLst/>
                <a:latin typeface="Times New Roman" panose="02020603050405020304" pitchFamily="18" charset="0"/>
                <a:ea typeface="Yu Gothic" panose="020B0400000000000000" pitchFamily="34" charset="-128"/>
              </a:rPr>
              <a:t>Fig. 3</a:t>
            </a:r>
            <a:r>
              <a:rPr lang="en-US" sz="1800" kern="100" dirty="0">
                <a:effectLst/>
                <a:latin typeface="Times New Roman" panose="02020603050405020304" pitchFamily="18" charset="0"/>
                <a:ea typeface="Yu Gothic" panose="020B0400000000000000" pitchFamily="34" charset="-128"/>
              </a:rPr>
              <a:t>.</a:t>
            </a:r>
            <a:r>
              <a:rPr lang="en-US" dirty="0">
                <a:effectLst/>
              </a:rPr>
              <a:t> </a:t>
            </a:r>
            <a:endParaRPr lang="en-US" dirty="0"/>
          </a:p>
        </p:txBody>
      </p:sp>
      <p:sp>
        <p:nvSpPr>
          <p:cNvPr id="4" name="Slide Number Placeholder 3">
            <a:extLst>
              <a:ext uri="{FF2B5EF4-FFF2-40B4-BE49-F238E27FC236}">
                <a16:creationId xmlns:a16="http://schemas.microsoft.com/office/drawing/2014/main" id="{A2A7A76F-D1B3-73EC-BC37-C4FA643E55B0}"/>
              </a:ext>
            </a:extLst>
          </p:cNvPr>
          <p:cNvSpPr>
            <a:spLocks noGrp="1"/>
          </p:cNvSpPr>
          <p:nvPr>
            <p:ph type="sldNum" sz="quarter" idx="5"/>
          </p:nvPr>
        </p:nvSpPr>
        <p:spPr/>
        <p:txBody>
          <a:bodyPr/>
          <a:lstStyle/>
          <a:p>
            <a:fld id="{D8C594B4-43BD-AE4E-8E0C-9B6BE5C545EA}" type="slidenum">
              <a:rPr lang="en-US" smtClean="0"/>
              <a:t>2</a:t>
            </a:fld>
            <a:endParaRPr lang="en-US"/>
          </a:p>
        </p:txBody>
      </p:sp>
    </p:spTree>
    <p:extLst>
      <p:ext uri="{BB962C8B-B14F-4D97-AF65-F5344CB8AC3E}">
        <p14:creationId xmlns:p14="http://schemas.microsoft.com/office/powerpoint/2010/main" val="1221286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kern="100" dirty="0">
                <a:effectLst/>
                <a:latin typeface="Times New Roman" panose="02020603050405020304" pitchFamily="18" charset="0"/>
                <a:ea typeface="Yu Gothic" panose="020B0400000000000000" pitchFamily="34" charset="-128"/>
              </a:rPr>
              <a:t>Fig. 3</a:t>
            </a:r>
            <a:r>
              <a:rPr lang="en-US" sz="1800" kern="100" dirty="0">
                <a:effectLst/>
                <a:latin typeface="Times New Roman" panose="02020603050405020304" pitchFamily="18" charset="0"/>
                <a:ea typeface="Yu Gothic" panose="020B0400000000000000" pitchFamily="34" charset="-128"/>
              </a:rPr>
              <a:t>. Model diagram of the levels represented in the model including IBIs. At the top is a portion of the population from </a:t>
            </a:r>
            <a:r>
              <a:rPr lang="en-US" sz="1800" b="1" kern="100" dirty="0">
                <a:effectLst/>
                <a:latin typeface="Times New Roman" panose="02020603050405020304" pitchFamily="18" charset="0"/>
                <a:ea typeface="Yu Gothic" panose="020B0400000000000000" pitchFamily="34" charset="-128"/>
              </a:rPr>
              <a:t>Fig. 2</a:t>
            </a:r>
            <a:r>
              <a:rPr lang="en-US" sz="1800" kern="100" dirty="0">
                <a:effectLst/>
                <a:latin typeface="Times New Roman" panose="02020603050405020304" pitchFamily="18" charset="0"/>
                <a:ea typeface="Yu Gothic" panose="020B0400000000000000" pitchFamily="34" charset="-128"/>
              </a:rPr>
              <a:t>.</a:t>
            </a:r>
            <a:r>
              <a:rPr lang="en-US" dirty="0">
                <a:effectLst/>
              </a:rPr>
              <a:t> </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3</a:t>
            </a:fld>
            <a:endParaRPr lang="en-US"/>
          </a:p>
        </p:txBody>
      </p:sp>
    </p:spTree>
    <p:extLst>
      <p:ext uri="{BB962C8B-B14F-4D97-AF65-F5344CB8AC3E}">
        <p14:creationId xmlns:p14="http://schemas.microsoft.com/office/powerpoint/2010/main" val="3249037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4</a:t>
            </a:r>
            <a:r>
              <a:rPr lang="en-US" sz="1200" kern="1200" dirty="0">
                <a:solidFill>
                  <a:schemeClr val="tx1"/>
                </a:solidFill>
                <a:effectLst/>
                <a:latin typeface="+mn-lt"/>
                <a:ea typeface="+mn-ea"/>
                <a:cs typeface="+mn-cs"/>
              </a:rPr>
              <a:t> Evolutionary trajectories for individual simulations of well-mixed populations for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150 and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with (a, b) and without (c, d) IBIs, and for Random and Zero initial conditions.</a:t>
            </a:r>
            <a:r>
              <a:rPr lang="en-US" sz="1800" dirty="0">
                <a:effectLst/>
              </a:rPr>
              <a:t> </a:t>
            </a:r>
          </a:p>
          <a:p>
            <a:endParaRPr lang="en-US" sz="1800" dirty="0">
              <a:effectLst/>
            </a:endParaRPr>
          </a:p>
          <a:p>
            <a:endParaRPr lang="en-US" sz="2800" dirty="0">
              <a:effectLst/>
            </a:endParaRPr>
          </a:p>
          <a:p>
            <a:r>
              <a:rPr lang="en-US" sz="2800" dirty="0">
                <a:effectLst/>
              </a:rPr>
              <a:t>From: MaterDataTimeWM_12-8-2025.xlsx (Figure 4)</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4</a:t>
            </a:fld>
            <a:endParaRPr lang="en-US"/>
          </a:p>
        </p:txBody>
      </p:sp>
    </p:spTree>
    <p:extLst>
      <p:ext uri="{BB962C8B-B14F-4D97-AF65-F5344CB8AC3E}">
        <p14:creationId xmlns:p14="http://schemas.microsoft.com/office/powerpoint/2010/main" val="2983207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5</a:t>
            </a:r>
            <a:r>
              <a:rPr lang="en-US" sz="1200" kern="1200" dirty="0">
                <a:solidFill>
                  <a:schemeClr val="tx1"/>
                </a:solidFill>
                <a:effectLst/>
                <a:latin typeface="+mn-lt"/>
                <a:ea typeface="+mn-ea"/>
                <a:cs typeface="+mn-cs"/>
              </a:rPr>
              <a:t>. Simulation results for well-mixed populations with and without IBIs starting with Random initial conditions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The top row plots mean offers, mean ATs, and mean rejection rates with (a) and without (b) IBIs. The middle rows are offer distributions for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25 to 500 (in shades of blue with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25 shaded white and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150 shaded black for reference) with (c) and without (d) IBIs, and AT distributions with (e) and without (f) IBIs. The bottom row illustrates relative rejection rates (dashed lines indicating a linear) with (g) and without (f) IBIs.</a:t>
            </a:r>
            <a:r>
              <a:rPr lang="en-US" sz="1800" dirty="0">
                <a:effectLst/>
              </a:rPr>
              <a:t> </a:t>
            </a:r>
          </a:p>
          <a:p>
            <a:endParaRPr lang="en-US" sz="1800" dirty="0">
              <a:effectLst/>
            </a:endParaRPr>
          </a:p>
          <a:p>
            <a:r>
              <a:rPr lang="en-US" sz="1800" dirty="0">
                <a:effectLst/>
              </a:rPr>
              <a:t>From: MasterDataWM1-12-8-2025.xlsx (Figure 5)</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5</a:t>
            </a:fld>
            <a:endParaRPr lang="en-US"/>
          </a:p>
        </p:txBody>
      </p:sp>
    </p:spTree>
    <p:extLst>
      <p:ext uri="{BB962C8B-B14F-4D97-AF65-F5344CB8AC3E}">
        <p14:creationId xmlns:p14="http://schemas.microsoft.com/office/powerpoint/2010/main" val="9552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6</a:t>
            </a:r>
            <a:r>
              <a:rPr lang="en-US" sz="1200" kern="1200" dirty="0">
                <a:solidFill>
                  <a:schemeClr val="tx1"/>
                </a:solidFill>
                <a:effectLst/>
                <a:latin typeface="+mn-lt"/>
                <a:ea typeface="+mn-ea"/>
                <a:cs typeface="+mn-cs"/>
              </a:rPr>
              <a:t>. Offer and AT evolutionary trajectories for individual simulations for two initial conditions: Random and Zero in group-structured populations for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20 (a, b),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40 (c, d), and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100 (e, f).</a:t>
            </a:r>
            <a:r>
              <a:rPr lang="en-US" sz="1800" dirty="0">
                <a:effectLst/>
              </a:rPr>
              <a:t> </a:t>
            </a:r>
          </a:p>
          <a:p>
            <a:endParaRPr lang="en-US" sz="1800" dirty="0">
              <a:effectLst/>
            </a:endParaRPr>
          </a:p>
          <a:p>
            <a:endParaRPr lang="en-US" sz="1800" dirty="0">
              <a:effectLst/>
            </a:endParaRPr>
          </a:p>
          <a:p>
            <a:r>
              <a:rPr lang="en-US" sz="1800" dirty="0">
                <a:effectLst/>
              </a:rPr>
              <a:t>From: MaterDataTimeS7-8-12-8-2025.xlsx (Figure 6)</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6</a:t>
            </a:fld>
            <a:endParaRPr lang="en-US"/>
          </a:p>
        </p:txBody>
      </p:sp>
    </p:spTree>
    <p:extLst>
      <p:ext uri="{BB962C8B-B14F-4D97-AF65-F5344CB8AC3E}">
        <p14:creationId xmlns:p14="http://schemas.microsoft.com/office/powerpoint/2010/main" val="3771749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kern="100" dirty="0">
                <a:solidFill>
                  <a:srgbClr val="000000"/>
                </a:solidFill>
                <a:effectLst/>
                <a:latin typeface="Times New Roman" panose="02020603050405020304" pitchFamily="18" charset="0"/>
                <a:ea typeface="Yu Gothic" panose="020B0400000000000000" pitchFamily="34" charset="-128"/>
              </a:rPr>
              <a:t>Fig. 7</a:t>
            </a:r>
            <a:r>
              <a:rPr lang="en-US" sz="1800" kern="100" dirty="0">
                <a:solidFill>
                  <a:srgbClr val="000000"/>
                </a:solidFill>
                <a:effectLst/>
                <a:latin typeface="Times New Roman" panose="02020603050405020304" pitchFamily="18" charset="0"/>
                <a:ea typeface="Yu Gothic" panose="020B0400000000000000" pitchFamily="34" charset="-128"/>
              </a:rPr>
              <a:t>. </a:t>
            </a:r>
            <a:r>
              <a:rPr lang="en-US" sz="1800" kern="100" dirty="0">
                <a:effectLst/>
                <a:latin typeface="Times New Roman" panose="02020603050405020304" pitchFamily="18" charset="0"/>
                <a:ea typeface="Yu Gothic" panose="020B0400000000000000" pitchFamily="34" charset="-128"/>
              </a:rPr>
              <a:t>The effect of maximum group size, resource variation, and </a:t>
            </a:r>
            <a:r>
              <a:rPr lang="en-US" sz="1800" i="1" kern="100" dirty="0">
                <a:effectLst/>
                <a:latin typeface="Times New Roman" panose="02020603050405020304" pitchFamily="18" charset="0"/>
                <a:ea typeface="Yu Gothic" panose="020B0400000000000000" pitchFamily="34" charset="-128"/>
              </a:rPr>
              <a:t>m</a:t>
            </a:r>
            <a:r>
              <a:rPr lang="en-US" sz="1800" kern="100" dirty="0">
                <a:effectLst/>
                <a:latin typeface="Times New Roman" panose="02020603050405020304" pitchFamily="18" charset="0"/>
                <a:ea typeface="Yu Gothic" panose="020B0400000000000000" pitchFamily="34" charset="-128"/>
              </a:rPr>
              <a:t> on measures of UG evolved behavior with and without IBIs. IBI length ranged from </a:t>
            </a:r>
            <a:r>
              <a:rPr lang="en-US" sz="1800" i="1" kern="100" dirty="0">
                <a:effectLst/>
                <a:latin typeface="Times New Roman" panose="02020603050405020304" pitchFamily="18" charset="0"/>
                <a:ea typeface="Yu Gothic" panose="020B0400000000000000" pitchFamily="34" charset="-128"/>
              </a:rPr>
              <a:t>m</a:t>
            </a:r>
            <a:r>
              <a:rPr lang="en-US" sz="1800" kern="100" dirty="0">
                <a:effectLst/>
                <a:latin typeface="Times New Roman" panose="02020603050405020304" pitchFamily="18" charset="0"/>
                <a:ea typeface="Yu Gothic" panose="020B0400000000000000" pitchFamily="34" charset="-128"/>
              </a:rPr>
              <a:t> = 25 to 500 with (a-e) and without IBIs (f-j). The resource standard deviation was varied, </a:t>
            </a:r>
            <a:r>
              <a:rPr lang="en-US" sz="1800" i="1" kern="100" dirty="0">
                <a:effectLst/>
                <a:latin typeface="Symbol" pitchFamily="2" charset="2"/>
                <a:ea typeface="Symbol" pitchFamily="2" charset="2"/>
                <a:cs typeface="Symbol" pitchFamily="2" charset="2"/>
              </a:rPr>
              <a:t>s</a:t>
            </a:r>
            <a:r>
              <a:rPr lang="en-US" sz="1800" i="1" kern="100" baseline="-25000" dirty="0">
                <a:effectLst/>
                <a:latin typeface="Times New Roman" panose="02020603050405020304" pitchFamily="18" charset="0"/>
                <a:ea typeface="Yu Gothic" panose="020B0400000000000000" pitchFamily="34" charset="-128"/>
                <a:cs typeface="Times New Roman" panose="02020603050405020304" pitchFamily="18" charset="0"/>
                <a:sym typeface="Symbol" pitchFamily="2" charset="2"/>
              </a:rPr>
              <a:t></a:t>
            </a:r>
            <a:r>
              <a:rPr lang="en-US" sz="1800" kern="100" dirty="0">
                <a:effectLst/>
                <a:latin typeface="Times New Roman" panose="02020603050405020304" pitchFamily="18" charset="0"/>
                <a:ea typeface="Yu Gothic" panose="020B0400000000000000" pitchFamily="34" charset="-128"/>
              </a:rPr>
              <a:t> = 0.0 to 0.75</a:t>
            </a:r>
            <a:r>
              <a:rPr lang="en-US" sz="1800" i="1" kern="100" dirty="0">
                <a:effectLst/>
                <a:latin typeface="Times New Roman" panose="02020603050405020304" pitchFamily="18" charset="0"/>
                <a:ea typeface="Yu Gothic" panose="020B0400000000000000" pitchFamily="34" charset="-128"/>
                <a:cs typeface="Times New Roman" panose="02020603050405020304" pitchFamily="18" charset="0"/>
                <a:sym typeface="Symbol" pitchFamily="2" charset="2"/>
              </a:rPr>
              <a:t></a:t>
            </a:r>
            <a:r>
              <a:rPr lang="en-US" sz="1800" kern="100" dirty="0">
                <a:effectLst/>
                <a:latin typeface="Times New Roman" panose="02020603050405020304" pitchFamily="18" charset="0"/>
                <a:ea typeface="Yu Gothic" panose="020B0400000000000000" pitchFamily="34" charset="-128"/>
              </a:rPr>
              <a:t>.</a:t>
            </a:r>
            <a:r>
              <a:rPr lang="en-US" dirty="0">
                <a:effectLst/>
              </a:rPr>
              <a:t> </a:t>
            </a:r>
          </a:p>
          <a:p>
            <a:endParaRPr lang="en-US" dirty="0">
              <a:effectLst/>
            </a:endParaRPr>
          </a:p>
          <a:p>
            <a:r>
              <a:rPr lang="en-US" dirty="0">
                <a:effectLst/>
              </a:rPr>
              <a:t>From (With IBIs): MasterDataS7-12-7-2025.xlsx (Figure 7)</a:t>
            </a:r>
          </a:p>
          <a:p>
            <a:r>
              <a:rPr lang="en-US" dirty="0">
                <a:effectLst/>
              </a:rPr>
              <a:t>From (Without IBIs): MasterDataS-IBI7-12-7-2025.xlsx (Figure 7)</a:t>
            </a:r>
          </a:p>
          <a:p>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7</a:t>
            </a:fld>
            <a:endParaRPr lang="en-US"/>
          </a:p>
        </p:txBody>
      </p:sp>
    </p:spTree>
    <p:extLst>
      <p:ext uri="{BB962C8B-B14F-4D97-AF65-F5344CB8AC3E}">
        <p14:creationId xmlns:p14="http://schemas.microsoft.com/office/powerpoint/2010/main" val="4133190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D5499-BA4F-6167-63FE-497881AED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AA4F6-4496-D642-757B-724725199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B9AF6D-A2F3-9BCE-7C95-AC772D71378E}"/>
              </a:ext>
            </a:extLst>
          </p:cNvPr>
          <p:cNvSpPr>
            <a:spLocks noGrp="1"/>
          </p:cNvSpPr>
          <p:nvPr>
            <p:ph type="body" idx="1"/>
          </p:nvPr>
        </p:nvSpPr>
        <p:spPr/>
        <p:txBody>
          <a:bodyPr/>
          <a:lstStyle/>
          <a:p>
            <a:pPr marL="0" marR="0" algn="l"/>
            <a:r>
              <a:rPr lang="en-US" sz="1200" b="1" kern="1200" dirty="0">
                <a:solidFill>
                  <a:schemeClr val="tx1"/>
                </a:solidFill>
                <a:effectLst/>
                <a:latin typeface="+mn-lt"/>
                <a:ea typeface="+mn-ea"/>
                <a:cs typeface="+mn-cs"/>
              </a:rPr>
              <a:t>Fig 8</a:t>
            </a:r>
            <a:r>
              <a:rPr lang="en-US" sz="1200" kern="1200" dirty="0">
                <a:solidFill>
                  <a:schemeClr val="tx1"/>
                </a:solidFill>
                <a:effectLst/>
                <a:latin typeface="+mn-lt"/>
                <a:ea typeface="+mn-ea"/>
                <a:cs typeface="+mn-cs"/>
              </a:rPr>
              <a:t>. Mean offers and offer-AT gaps averaged over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(25 to 500) and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(20 to 100) from Fig 7 for different levels of resource variation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0.0 to 0.75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for agents with (a, c) and without (b, d) IBIs.</a:t>
            </a:r>
            <a:r>
              <a:rPr lang="en-US" sz="1800" dirty="0">
                <a:effectLst/>
              </a:rPr>
              <a:t> </a:t>
            </a:r>
          </a:p>
          <a:p>
            <a:pPr marL="0" marR="0" algn="l"/>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a:p>
            <a:r>
              <a:rPr lang="en-US" sz="1800" dirty="0">
                <a:effectLst/>
              </a:rPr>
              <a:t>From (With IBIs): MasterDataS7-12-7-2025.xlsx (Figure 8)</a:t>
            </a:r>
          </a:p>
          <a:p>
            <a:r>
              <a:rPr lang="en-US" sz="1800" dirty="0">
                <a:effectLst/>
              </a:rPr>
              <a:t>From (Without IBIs): MasterDataS-IBI7-12-7-2025.xlsx (Figure 8)</a:t>
            </a:r>
          </a:p>
          <a:p>
            <a:pPr marL="0" marR="0" algn="l"/>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p:txBody>
      </p:sp>
      <p:sp>
        <p:nvSpPr>
          <p:cNvPr id="4" name="Slide Number Placeholder 3">
            <a:extLst>
              <a:ext uri="{FF2B5EF4-FFF2-40B4-BE49-F238E27FC236}">
                <a16:creationId xmlns:a16="http://schemas.microsoft.com/office/drawing/2014/main" id="{B7B7CBB6-226F-1D8B-B98E-4CE695016D51}"/>
              </a:ext>
            </a:extLst>
          </p:cNvPr>
          <p:cNvSpPr>
            <a:spLocks noGrp="1"/>
          </p:cNvSpPr>
          <p:nvPr>
            <p:ph type="sldNum" sz="quarter" idx="5"/>
          </p:nvPr>
        </p:nvSpPr>
        <p:spPr/>
        <p:txBody>
          <a:bodyPr/>
          <a:lstStyle/>
          <a:p>
            <a:fld id="{D8C594B4-43BD-AE4E-8E0C-9B6BE5C545EA}" type="slidenum">
              <a:rPr lang="en-US" smtClean="0"/>
              <a:t>8</a:t>
            </a:fld>
            <a:endParaRPr lang="en-US"/>
          </a:p>
        </p:txBody>
      </p:sp>
    </p:spTree>
    <p:extLst>
      <p:ext uri="{BB962C8B-B14F-4D97-AF65-F5344CB8AC3E}">
        <p14:creationId xmlns:p14="http://schemas.microsoft.com/office/powerpoint/2010/main" val="880827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BE96D-DCD0-BB6A-D035-E9B014DA0C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B7B64-A71B-5896-0FD6-0C9344BFE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E93A8-918C-0DB1-6D10-51D72377FCCB}"/>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9</a:t>
            </a:r>
            <a:r>
              <a:rPr lang="en-US" sz="1200" kern="1200" dirty="0">
                <a:solidFill>
                  <a:schemeClr val="tx1"/>
                </a:solidFill>
                <a:effectLst/>
                <a:latin typeface="+mn-lt"/>
                <a:ea typeface="+mn-ea"/>
                <a:cs typeface="+mn-cs"/>
              </a:rPr>
              <a:t>. Simulation results for group-structured populations with and without IBIs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20,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150, and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Simulation results with IBIs are plotted for mean offers, ATs, offer-AT gaps, and rejections (a), offer distribution (b), AT distribution (c), and relative rejection rates (dashed line indicating a linear, (d). Simulation results without IBIs are plotted for mean offers, ATs, offer-AT gaps, and rejections (e), offer distribution (f), AT distribution (g), and relative rejection rates (h).</a:t>
            </a:r>
            <a:r>
              <a:rPr lang="en-US" sz="1800" dirty="0">
                <a:effectLst/>
              </a:rPr>
              <a:t> </a:t>
            </a:r>
          </a:p>
          <a:p>
            <a:endParaRPr lang="en-US" sz="1800" dirty="0">
              <a:effectLst/>
            </a:endParaRPr>
          </a:p>
          <a:p>
            <a:endParaRPr lang="en-US" sz="2800" dirty="0">
              <a:effectLst/>
            </a:endParaRPr>
          </a:p>
          <a:p>
            <a:r>
              <a:rPr lang="en-US" sz="1200" dirty="0">
                <a:effectLst/>
              </a:rPr>
              <a:t>From (With IBIs): MasterDataS7-12-7-2025.xlsx (Figure 9)</a:t>
            </a:r>
          </a:p>
          <a:p>
            <a:r>
              <a:rPr lang="en-US" sz="1200" dirty="0">
                <a:effectLst/>
              </a:rPr>
              <a:t>From (Without IBIs): MasterDataS-IBI7-12-7-2025.xlsx (Figure 9)</a:t>
            </a:r>
          </a:p>
          <a:p>
            <a:endParaRPr lang="en-US" dirty="0"/>
          </a:p>
        </p:txBody>
      </p:sp>
      <p:sp>
        <p:nvSpPr>
          <p:cNvPr id="4" name="Slide Number Placeholder 3">
            <a:extLst>
              <a:ext uri="{FF2B5EF4-FFF2-40B4-BE49-F238E27FC236}">
                <a16:creationId xmlns:a16="http://schemas.microsoft.com/office/drawing/2014/main" id="{3DE30F04-B019-898B-1114-7D9226791C1A}"/>
              </a:ext>
            </a:extLst>
          </p:cNvPr>
          <p:cNvSpPr>
            <a:spLocks noGrp="1"/>
          </p:cNvSpPr>
          <p:nvPr>
            <p:ph type="sldNum" sz="quarter" idx="5"/>
          </p:nvPr>
        </p:nvSpPr>
        <p:spPr/>
        <p:txBody>
          <a:bodyPr/>
          <a:lstStyle/>
          <a:p>
            <a:fld id="{D8C594B4-43BD-AE4E-8E0C-9B6BE5C545EA}" type="slidenum">
              <a:rPr lang="en-US" smtClean="0"/>
              <a:t>9</a:t>
            </a:fld>
            <a:endParaRPr lang="en-US"/>
          </a:p>
        </p:txBody>
      </p:sp>
    </p:spTree>
    <p:extLst>
      <p:ext uri="{BB962C8B-B14F-4D97-AF65-F5344CB8AC3E}">
        <p14:creationId xmlns:p14="http://schemas.microsoft.com/office/powerpoint/2010/main" val="3210629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EEE58-B3B7-88B6-FE1A-AA834250E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684F1-4DAF-0A04-611E-5EC040F03D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4E9DC-2F37-D926-06B5-9DE5C4CD3329}"/>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10</a:t>
            </a:r>
            <a:r>
              <a:rPr lang="en-US" sz="1200" kern="1200" dirty="0">
                <a:solidFill>
                  <a:schemeClr val="tx1"/>
                </a:solidFill>
                <a:effectLst/>
                <a:latin typeface="+mn-lt"/>
                <a:ea typeface="+mn-ea"/>
                <a:cs typeface="+mn-cs"/>
              </a:rPr>
              <a:t>. Different mutation rates, </a:t>
            </a:r>
            <a:r>
              <a:rPr lang="en-US" sz="1200" i="1" kern="1200" dirty="0">
                <a:solidFill>
                  <a:schemeClr val="tx1"/>
                </a:solidFill>
                <a:effectLst/>
                <a:latin typeface="+mn-lt"/>
                <a:ea typeface="+mn-ea"/>
                <a:cs typeface="+mn-cs"/>
              </a:rPr>
              <a:t>r</a:t>
            </a:r>
            <a:r>
              <a:rPr lang="en-US" sz="1200" kern="1200" dirty="0">
                <a:solidFill>
                  <a:schemeClr val="tx1"/>
                </a:solidFill>
                <a:effectLst/>
                <a:latin typeface="+mn-lt"/>
                <a:ea typeface="+mn-ea"/>
                <a:cs typeface="+mn-cs"/>
              </a:rPr>
              <a:t>, in well-mixed and group-structured populations with IBIs: well-mixed populations (a); group-structured populations,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20 (b),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40 (c), and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100 (d).</a:t>
            </a:r>
            <a:r>
              <a:rPr lang="en-US" sz="1800" dirty="0">
                <a:effectLst/>
              </a:rPr>
              <a:t> </a:t>
            </a:r>
          </a:p>
          <a:p>
            <a:endParaRPr lang="en-US" sz="1800" dirty="0">
              <a:effectLst/>
            </a:endParaRPr>
          </a:p>
          <a:p>
            <a:r>
              <a:rPr lang="en-US" sz="1200" dirty="0">
                <a:effectLst/>
              </a:rPr>
              <a:t>From (Well mixed): MasterDataWM1-12-9-2025 (Figure 10)</a:t>
            </a:r>
          </a:p>
          <a:p>
            <a:r>
              <a:rPr lang="en-US" sz="1200" dirty="0">
                <a:effectLst/>
              </a:rPr>
              <a:t>From (</a:t>
            </a:r>
            <a:r>
              <a:rPr lang="en-US" sz="1200" dirty="0" err="1">
                <a:effectLst/>
              </a:rPr>
              <a:t>Gmax</a:t>
            </a:r>
            <a:r>
              <a:rPr lang="en-US" sz="1200" dirty="0">
                <a:effectLst/>
              </a:rPr>
              <a:t> 20, 40, 100): MasterDataS7-12-7-2025.xlsx (Figure 10)</a:t>
            </a:r>
          </a:p>
          <a:p>
            <a:endParaRPr lang="en-US" dirty="0"/>
          </a:p>
        </p:txBody>
      </p:sp>
      <p:sp>
        <p:nvSpPr>
          <p:cNvPr id="4" name="Slide Number Placeholder 3">
            <a:extLst>
              <a:ext uri="{FF2B5EF4-FFF2-40B4-BE49-F238E27FC236}">
                <a16:creationId xmlns:a16="http://schemas.microsoft.com/office/drawing/2014/main" id="{F3F726D7-FF76-BE1A-1E2C-4EF177B930E6}"/>
              </a:ext>
            </a:extLst>
          </p:cNvPr>
          <p:cNvSpPr>
            <a:spLocks noGrp="1"/>
          </p:cNvSpPr>
          <p:nvPr>
            <p:ph type="sldNum" sz="quarter" idx="5"/>
          </p:nvPr>
        </p:nvSpPr>
        <p:spPr/>
        <p:txBody>
          <a:bodyPr/>
          <a:lstStyle/>
          <a:p>
            <a:fld id="{D8C594B4-43BD-AE4E-8E0C-9B6BE5C545EA}" type="slidenum">
              <a:rPr lang="en-US" smtClean="0"/>
              <a:t>10</a:t>
            </a:fld>
            <a:endParaRPr lang="en-US"/>
          </a:p>
        </p:txBody>
      </p:sp>
    </p:spTree>
    <p:extLst>
      <p:ext uri="{BB962C8B-B14F-4D97-AF65-F5344CB8AC3E}">
        <p14:creationId xmlns:p14="http://schemas.microsoft.com/office/powerpoint/2010/main" val="4107372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B6D4-4A40-7681-008A-31E008255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04EBA-8594-6ADE-E416-7E07E3B14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9D70CF-2CA7-B302-C6FA-220E3BB2AE65}"/>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11</a:t>
            </a:r>
            <a:r>
              <a:rPr lang="en-US" sz="1200" kern="1200" dirty="0">
                <a:solidFill>
                  <a:schemeClr val="tx1"/>
                </a:solidFill>
                <a:effectLst/>
                <a:latin typeface="+mn-lt"/>
                <a:ea typeface="+mn-ea"/>
                <a:cs typeface="+mn-cs"/>
              </a:rPr>
              <a:t>. Simulation results for group-structured populations with IBIs and a mutation rate of </a:t>
            </a:r>
            <a:r>
              <a:rPr lang="en-US" sz="1200" i="1" kern="1200" dirty="0">
                <a:solidFill>
                  <a:schemeClr val="tx1"/>
                </a:solidFill>
                <a:effectLst/>
                <a:latin typeface="+mn-lt"/>
                <a:ea typeface="+mn-ea"/>
                <a:cs typeface="+mn-cs"/>
              </a:rPr>
              <a:t>r</a:t>
            </a:r>
            <a:r>
              <a:rPr lang="en-US" sz="1200" kern="1200" dirty="0">
                <a:solidFill>
                  <a:schemeClr val="tx1"/>
                </a:solidFill>
                <a:effectLst/>
                <a:latin typeface="+mn-lt"/>
                <a:ea typeface="+mn-ea"/>
                <a:cs typeface="+mn-cs"/>
              </a:rPr>
              <a:t> = 0.1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20,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150, and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Simulation results are plotted for mean offers, ATs, offer-AT gaps, rejections (a), offer distribution (b), acceptance threshold distribution (c), and relative rejection rates (dashed line indicating a linear, d).</a:t>
            </a:r>
            <a:r>
              <a:rPr lang="en-US" sz="1800" dirty="0">
                <a:effectLst/>
              </a:rPr>
              <a:t> </a:t>
            </a:r>
          </a:p>
          <a:p>
            <a:endParaRPr lang="en-US" sz="1800" dirty="0">
              <a:effectLst/>
            </a:endParaRPr>
          </a:p>
          <a:p>
            <a:r>
              <a:rPr lang="en-US" sz="1800" dirty="0">
                <a:effectLst/>
              </a:rPr>
              <a:t>From: MasterDataMR7m-0.1-12-9-2025.xlsx (Figure 11)</a:t>
            </a:r>
            <a:endParaRPr lang="en-US" dirty="0"/>
          </a:p>
        </p:txBody>
      </p:sp>
      <p:sp>
        <p:nvSpPr>
          <p:cNvPr id="4" name="Slide Number Placeholder 3">
            <a:extLst>
              <a:ext uri="{FF2B5EF4-FFF2-40B4-BE49-F238E27FC236}">
                <a16:creationId xmlns:a16="http://schemas.microsoft.com/office/drawing/2014/main" id="{745CF66C-65AD-82C6-907D-8E8FE476B0D0}"/>
              </a:ext>
            </a:extLst>
          </p:cNvPr>
          <p:cNvSpPr>
            <a:spLocks noGrp="1"/>
          </p:cNvSpPr>
          <p:nvPr>
            <p:ph type="sldNum" sz="quarter" idx="5"/>
          </p:nvPr>
        </p:nvSpPr>
        <p:spPr/>
        <p:txBody>
          <a:bodyPr/>
          <a:lstStyle/>
          <a:p>
            <a:fld id="{D8C594B4-43BD-AE4E-8E0C-9B6BE5C545EA}" type="slidenum">
              <a:rPr lang="en-US" smtClean="0"/>
              <a:t>11</a:t>
            </a:fld>
            <a:endParaRPr lang="en-US"/>
          </a:p>
        </p:txBody>
      </p:sp>
    </p:spTree>
    <p:extLst>
      <p:ext uri="{BB962C8B-B14F-4D97-AF65-F5344CB8AC3E}">
        <p14:creationId xmlns:p14="http://schemas.microsoft.com/office/powerpoint/2010/main" val="14469667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1C300-18C6-18F4-D7C0-0EE385856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BF80DF-5FB1-16AF-8A81-FFBEB3F19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F0FBF-2CE4-3C66-CDFC-35AF2645F54C}"/>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12</a:t>
            </a:r>
            <a:r>
              <a:rPr lang="en-US" sz="1200" kern="1200" dirty="0">
                <a:solidFill>
                  <a:schemeClr val="tx1"/>
                </a:solidFill>
                <a:effectLst/>
                <a:latin typeface="+mn-lt"/>
                <a:ea typeface="+mn-ea"/>
                <a:cs typeface="+mn-cs"/>
              </a:rPr>
              <a:t>. Dispersion and the spatial density of groups had little effect on measures of the UG.  Results for mean offers, ATs, and rejections for five rates of dispersion (a, b, c). Results for mean offers, ATs, and rejections for levels of density (d, e, f).</a:t>
            </a:r>
            <a:r>
              <a:rPr lang="en-US" sz="1800" dirty="0">
                <a:effectLst/>
              </a:rPr>
              <a:t> </a:t>
            </a:r>
          </a:p>
          <a:p>
            <a:endParaRPr lang="en-US" sz="1800" dirty="0">
              <a:effectLst/>
            </a:endParaRPr>
          </a:p>
          <a:p>
            <a:r>
              <a:rPr lang="en-US" sz="1800" dirty="0">
                <a:effectLst/>
              </a:rPr>
              <a:t>From (Dispersion): MasterDatadispersion-12-9-2025.xlsx (Figure 12)</a:t>
            </a:r>
          </a:p>
          <a:p>
            <a:r>
              <a:rPr lang="en-US" sz="1800" dirty="0">
                <a:effectLst/>
              </a:rPr>
              <a:t>From (Density): MasterDataDensity-12-9-2025.xlsx (Figure 12)</a:t>
            </a:r>
            <a:endParaRPr lang="en-US" dirty="0"/>
          </a:p>
        </p:txBody>
      </p:sp>
      <p:sp>
        <p:nvSpPr>
          <p:cNvPr id="4" name="Slide Number Placeholder 3">
            <a:extLst>
              <a:ext uri="{FF2B5EF4-FFF2-40B4-BE49-F238E27FC236}">
                <a16:creationId xmlns:a16="http://schemas.microsoft.com/office/drawing/2014/main" id="{5332D69E-D35B-78CC-CD76-E7C89DDF87AB}"/>
              </a:ext>
            </a:extLst>
          </p:cNvPr>
          <p:cNvSpPr>
            <a:spLocks noGrp="1"/>
          </p:cNvSpPr>
          <p:nvPr>
            <p:ph type="sldNum" sz="quarter" idx="5"/>
          </p:nvPr>
        </p:nvSpPr>
        <p:spPr/>
        <p:txBody>
          <a:bodyPr/>
          <a:lstStyle/>
          <a:p>
            <a:fld id="{D8C594B4-43BD-AE4E-8E0C-9B6BE5C545EA}" type="slidenum">
              <a:rPr lang="en-US" smtClean="0"/>
              <a:t>12</a:t>
            </a:fld>
            <a:endParaRPr lang="en-US"/>
          </a:p>
        </p:txBody>
      </p:sp>
    </p:spTree>
    <p:extLst>
      <p:ext uri="{BB962C8B-B14F-4D97-AF65-F5344CB8AC3E}">
        <p14:creationId xmlns:p14="http://schemas.microsoft.com/office/powerpoint/2010/main" val="568902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80B61-C59E-646B-EA8B-2BC1FAC53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ABB6E-E591-F4C1-B7E8-689FDC3F81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6281A-4CCD-C778-2054-1B418AA37E16}"/>
              </a:ext>
            </a:extLst>
          </p:cNvPr>
          <p:cNvSpPr>
            <a:spLocks noGrp="1"/>
          </p:cNvSpPr>
          <p:nvPr>
            <p:ph type="body" idx="1"/>
          </p:nvPr>
        </p:nvSpPr>
        <p:spPr/>
        <p:txBody>
          <a:bodyPr/>
          <a:lstStyle/>
          <a:p>
            <a:pPr marL="0" marR="0"/>
            <a:r>
              <a:rPr lang="en-US" sz="1200" b="1" kern="1200" dirty="0">
                <a:solidFill>
                  <a:schemeClr val="tx1"/>
                </a:solidFill>
                <a:effectLst/>
                <a:latin typeface="+mn-lt"/>
                <a:ea typeface="+mn-ea"/>
                <a:cs typeface="+mn-cs"/>
              </a:rPr>
              <a:t>Fig 13</a:t>
            </a:r>
            <a:r>
              <a:rPr lang="en-US" sz="1200" kern="1200" dirty="0">
                <a:solidFill>
                  <a:schemeClr val="tx1"/>
                </a:solidFill>
                <a:effectLst/>
                <a:latin typeface="+mn-lt"/>
                <a:ea typeface="+mn-ea"/>
                <a:cs typeface="+mn-cs"/>
              </a:rPr>
              <a:t>. Comparison of asexual and sexual reproduction group-structured populations averaged over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20 to 100,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25 to 500, and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0.0 to 0.75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a:t>
            </a:r>
            <a:r>
              <a:rPr lang="en-US" sz="1800" dirty="0">
                <a:effectLst/>
              </a:rPr>
              <a:t> </a:t>
            </a:r>
          </a:p>
          <a:p>
            <a:pPr marL="0" marR="0"/>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a:p>
            <a:pPr marL="0" marR="0"/>
            <a:r>
              <a:rPr lang="en-US" sz="1800" kern="100" dirty="0">
                <a:effectLst/>
                <a:latin typeface="Aptos" panose="020B0004020202020204" pitchFamily="34" charset="0"/>
                <a:ea typeface="Yu Gothic" panose="020B0400000000000000" pitchFamily="34" charset="-128"/>
                <a:cs typeface="Arial" panose="020B0604020202020204" pitchFamily="34" charset="0"/>
              </a:rPr>
              <a:t>From: MasterDataS7-12-7-2025.xlsx (Figure 13)</a:t>
            </a:r>
          </a:p>
        </p:txBody>
      </p:sp>
      <p:sp>
        <p:nvSpPr>
          <p:cNvPr id="4" name="Slide Number Placeholder 3">
            <a:extLst>
              <a:ext uri="{FF2B5EF4-FFF2-40B4-BE49-F238E27FC236}">
                <a16:creationId xmlns:a16="http://schemas.microsoft.com/office/drawing/2014/main" id="{D042DEE1-34E5-8800-8301-2E5C348A0E8F}"/>
              </a:ext>
            </a:extLst>
          </p:cNvPr>
          <p:cNvSpPr>
            <a:spLocks noGrp="1"/>
          </p:cNvSpPr>
          <p:nvPr>
            <p:ph type="sldNum" sz="quarter" idx="5"/>
          </p:nvPr>
        </p:nvSpPr>
        <p:spPr/>
        <p:txBody>
          <a:bodyPr/>
          <a:lstStyle/>
          <a:p>
            <a:fld id="{D8C594B4-43BD-AE4E-8E0C-9B6BE5C545EA}" type="slidenum">
              <a:rPr lang="en-US" smtClean="0"/>
              <a:t>13</a:t>
            </a:fld>
            <a:endParaRPr lang="en-US"/>
          </a:p>
        </p:txBody>
      </p:sp>
    </p:spTree>
    <p:extLst>
      <p:ext uri="{BB962C8B-B14F-4D97-AF65-F5344CB8AC3E}">
        <p14:creationId xmlns:p14="http://schemas.microsoft.com/office/powerpoint/2010/main" val="127682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6093D-52F4-0C9C-105F-0224C67C5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E7CCD-23EA-F669-2997-C3373F0B96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79E43-1B1B-5F4C-03F3-CAE68791ECC7}"/>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14</a:t>
            </a:r>
            <a:r>
              <a:rPr lang="en-US" sz="1200" kern="1200" dirty="0">
                <a:solidFill>
                  <a:schemeClr val="tx1"/>
                </a:solidFill>
                <a:effectLst/>
                <a:latin typeface="+mn-lt"/>
                <a:ea typeface="+mn-ea"/>
                <a:cs typeface="+mn-cs"/>
              </a:rPr>
              <a:t>. Comparison of simulations with different populations sizes (</a:t>
            </a:r>
            <a:r>
              <a:rPr lang="en-US" sz="1200" i="1" kern="1200" dirty="0" err="1">
                <a:solidFill>
                  <a:schemeClr val="tx1"/>
                </a:solidFill>
                <a:effectLst/>
                <a:latin typeface="+mn-lt"/>
                <a:ea typeface="+mn-ea"/>
                <a:cs typeface="+mn-cs"/>
              </a:rPr>
              <a:t>G</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60, </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 = 200, and </a:t>
            </a:r>
            <a:r>
              <a:rPr lang="en-US" sz="1200" i="1" kern="1200" dirty="0">
                <a:solidFill>
                  <a:schemeClr val="tx1"/>
                </a:solidFill>
                <a:effectLst/>
                <a:latin typeface="+mn-lt"/>
                <a:ea typeface="+mn-ea"/>
                <a:cs typeface="+mn-cs"/>
              </a:rPr>
              <a:t>s</a:t>
            </a:r>
            <a:r>
              <a:rPr lang="en-US" sz="1200" i="1" kern="1200" baseline="-250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 0.5</a:t>
            </a:r>
            <a:r>
              <a:rPr lang="en-US" sz="1200" i="1" kern="1200" dirty="0">
                <a:solidFill>
                  <a:schemeClr val="tx1"/>
                </a:solidFill>
                <a:effectLst/>
                <a:latin typeface="+mn-lt"/>
                <a:ea typeface="+mn-ea"/>
                <a:cs typeface="+mn-cs"/>
                <a:sym typeface="Symbol" pitchFamily="2" charset="2"/>
              </a:rPr>
              <a:t></a:t>
            </a:r>
            <a:r>
              <a:rPr lang="en-US" sz="1200" kern="1200" dirty="0">
                <a:solidFill>
                  <a:schemeClr val="tx1"/>
                </a:solidFill>
                <a:effectLst/>
                <a:latin typeface="+mn-lt"/>
                <a:ea typeface="+mn-ea"/>
                <a:cs typeface="+mn-cs"/>
              </a:rPr>
              <a:t>). Results for</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10,000 solid colors and for </a:t>
            </a:r>
            <a:r>
              <a:rPr lang="en-US" sz="1200" i="1" kern="1200" dirty="0" err="1">
                <a:solidFill>
                  <a:schemeClr val="tx1"/>
                </a:solidFill>
                <a:effectLst/>
                <a:latin typeface="+mn-lt"/>
                <a:ea typeface="+mn-ea"/>
                <a:cs typeface="+mn-cs"/>
              </a:rPr>
              <a:t>N</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 30,000 are corresponding patterned colors.  Simulation results are plotted for mean offers, ATs, offer-AT gaps, and rejections (a), offer distribution (b), AT distribution (c), and relative rejection rates (dashed line indicating a linear, d).</a:t>
            </a:r>
            <a:r>
              <a:rPr lang="en-US" sz="1800" dirty="0">
                <a:effectLst/>
              </a:rPr>
              <a:t> </a:t>
            </a:r>
          </a:p>
          <a:p>
            <a:endParaRPr lang="en-US" sz="1800" dirty="0">
              <a:effectLst/>
            </a:endParaRPr>
          </a:p>
          <a:p>
            <a:r>
              <a:rPr lang="en-US" sz="1800" dirty="0">
                <a:effectLst/>
              </a:rPr>
              <a:t>From: MasterDataS60-12-9-2025.xlsx (Figure 14)</a:t>
            </a:r>
            <a:endParaRPr lang="en-US" dirty="0"/>
          </a:p>
        </p:txBody>
      </p:sp>
      <p:sp>
        <p:nvSpPr>
          <p:cNvPr id="4" name="Slide Number Placeholder 3">
            <a:extLst>
              <a:ext uri="{FF2B5EF4-FFF2-40B4-BE49-F238E27FC236}">
                <a16:creationId xmlns:a16="http://schemas.microsoft.com/office/drawing/2014/main" id="{BB59AC2A-BDD3-032B-0862-AAA4F15ECC8E}"/>
              </a:ext>
            </a:extLst>
          </p:cNvPr>
          <p:cNvSpPr>
            <a:spLocks noGrp="1"/>
          </p:cNvSpPr>
          <p:nvPr>
            <p:ph type="sldNum" sz="quarter" idx="5"/>
          </p:nvPr>
        </p:nvSpPr>
        <p:spPr/>
        <p:txBody>
          <a:bodyPr/>
          <a:lstStyle/>
          <a:p>
            <a:fld id="{D8C594B4-43BD-AE4E-8E0C-9B6BE5C545EA}" type="slidenum">
              <a:rPr lang="en-US" smtClean="0"/>
              <a:t>14</a:t>
            </a:fld>
            <a:endParaRPr lang="en-US"/>
          </a:p>
        </p:txBody>
      </p:sp>
    </p:spTree>
    <p:extLst>
      <p:ext uri="{BB962C8B-B14F-4D97-AF65-F5344CB8AC3E}">
        <p14:creationId xmlns:p14="http://schemas.microsoft.com/office/powerpoint/2010/main" val="1507726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 A</a:t>
            </a:r>
            <a:r>
              <a:rPr lang="en-US" sz="1200" kern="1200" dirty="0">
                <a:solidFill>
                  <a:schemeClr val="tx1"/>
                </a:solidFill>
                <a:effectLst/>
                <a:latin typeface="+mn-lt"/>
                <a:ea typeface="+mn-ea"/>
                <a:cs typeface="+mn-cs"/>
              </a:rPr>
              <a:t>. Population structure descriptive statistics: Mean number of groups (a), mean number of agents per group (b), and cluster size of group with standard deviations (c), and mean number of agents in clusters. </a:t>
            </a:r>
          </a:p>
          <a:p>
            <a:endParaRPr lang="en-US" sz="1800" kern="100" dirty="0">
              <a:effectLst/>
              <a:latin typeface="Times New Roman" panose="02020603050405020304" pitchFamily="18" charset="0"/>
              <a:ea typeface="Yu Gothic" panose="020B0400000000000000" pitchFamily="34" charset="-128"/>
            </a:endParaRPr>
          </a:p>
          <a:p>
            <a:r>
              <a:rPr lang="en-US" sz="1800" kern="100" dirty="0">
                <a:effectLst/>
                <a:latin typeface="Times New Roman" panose="02020603050405020304" pitchFamily="18" charset="0"/>
                <a:ea typeface="Yu Gothic" panose="020B0400000000000000" pitchFamily="34" charset="-128"/>
              </a:rPr>
              <a:t>From: MasterDataS7-12-7-2025.xlsx (Fig. A)</a:t>
            </a:r>
            <a:endParaRPr lang="en-US" dirty="0"/>
          </a:p>
        </p:txBody>
      </p:sp>
      <p:sp>
        <p:nvSpPr>
          <p:cNvPr id="4" name="Slide Number Placeholder 3"/>
          <p:cNvSpPr>
            <a:spLocks noGrp="1"/>
          </p:cNvSpPr>
          <p:nvPr>
            <p:ph type="sldNum" sz="quarter" idx="5"/>
          </p:nvPr>
        </p:nvSpPr>
        <p:spPr/>
        <p:txBody>
          <a:bodyPr/>
          <a:lstStyle/>
          <a:p>
            <a:fld id="{D8C594B4-43BD-AE4E-8E0C-9B6BE5C545EA}" type="slidenum">
              <a:rPr lang="en-US" smtClean="0"/>
              <a:t>16</a:t>
            </a:fld>
            <a:endParaRPr lang="en-US"/>
          </a:p>
        </p:txBody>
      </p:sp>
    </p:spTree>
    <p:extLst>
      <p:ext uri="{BB962C8B-B14F-4D97-AF65-F5344CB8AC3E}">
        <p14:creationId xmlns:p14="http://schemas.microsoft.com/office/powerpoint/2010/main" val="656517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en-US" sz="1200" b="1" kern="1200" dirty="0">
                <a:solidFill>
                  <a:schemeClr val="tx1"/>
                </a:solidFill>
                <a:effectLst/>
                <a:latin typeface="+mn-lt"/>
                <a:ea typeface="+mn-ea"/>
                <a:cs typeface="+mn-cs"/>
              </a:rPr>
              <a:t>Fig B</a:t>
            </a:r>
            <a:r>
              <a:rPr lang="en-US" sz="1200" kern="1200" dirty="0">
                <a:solidFill>
                  <a:schemeClr val="tx1"/>
                </a:solidFill>
                <a:effectLst/>
                <a:latin typeface="+mn-lt"/>
                <a:ea typeface="+mn-ea"/>
                <a:cs typeface="+mn-cs"/>
              </a:rPr>
              <a:t>. Distribution of mean offers across 96 studies. Cochard et al. (2021) performed a meta-analysis of 42 papers and a book containing 96 studies on UG experiments conducted in 30 countries from 1983 to 2011. Studies were excluded if games were repeated with the same participants, repeated games where the mean offer is revealed after each round of play, asymmetric uncertainty, UGs with more than two participants or computerized participants, stakes less than $4, proposers earn proposer position, lack of total anonymity, participants played a game prior to the UG, the Nash perfect sub-game equilibrium was revealed to participants before deciding, and UGs were framed as seller/buyer experiments.  The data are supplementary data from Cochard et al. (2021). Offer means, and standard deviations are binned in increments of 5%, plotted the frequency of studies in each bin (blue bars), and calculated the mean offer (solid green circles) and standard deviations bars.  The green dashed horizontal line is the mean over the 96 studies (41.5%).</a:t>
            </a:r>
            <a:r>
              <a:rPr lang="en-US" sz="1800" dirty="0">
                <a:effectLst/>
              </a:rPr>
              <a:t> </a:t>
            </a:r>
          </a:p>
          <a:p>
            <a:pPr marL="0" marR="0"/>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a:p>
            <a:pPr marL="0" marR="0"/>
            <a:r>
              <a:rPr lang="en-US" sz="1800" kern="100" dirty="0">
                <a:effectLst/>
                <a:latin typeface="Aptos" panose="020B0004020202020204" pitchFamily="34" charset="0"/>
                <a:ea typeface="Yu Gothic" panose="020B0400000000000000" pitchFamily="34" charset="-128"/>
                <a:cs typeface="Arial" panose="020B0604020202020204" pitchFamily="34" charset="0"/>
              </a:rPr>
              <a:t>From: Empirical Data-12-8-25.xlsx (Fig B)</a:t>
            </a:r>
          </a:p>
        </p:txBody>
      </p:sp>
      <p:sp>
        <p:nvSpPr>
          <p:cNvPr id="4" name="Slide Number Placeholder 3"/>
          <p:cNvSpPr>
            <a:spLocks noGrp="1"/>
          </p:cNvSpPr>
          <p:nvPr>
            <p:ph type="sldNum" sz="quarter" idx="5"/>
          </p:nvPr>
        </p:nvSpPr>
        <p:spPr/>
        <p:txBody>
          <a:bodyPr/>
          <a:lstStyle/>
          <a:p>
            <a:fld id="{D8C594B4-43BD-AE4E-8E0C-9B6BE5C545EA}" type="slidenum">
              <a:rPr lang="en-US" smtClean="0"/>
              <a:t>17</a:t>
            </a:fld>
            <a:endParaRPr lang="en-US"/>
          </a:p>
        </p:txBody>
      </p:sp>
    </p:spTree>
    <p:extLst>
      <p:ext uri="{BB962C8B-B14F-4D97-AF65-F5344CB8AC3E}">
        <p14:creationId xmlns:p14="http://schemas.microsoft.com/office/powerpoint/2010/main" val="485479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DA887-C1BD-97B6-4A37-1FE478C13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CFA66-D737-847D-69FD-196059392E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30B2C-7851-BFC1-E328-4CCD3BBE68AA}"/>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Fig C</a:t>
            </a:r>
            <a:r>
              <a:rPr lang="en-US" sz="1200" kern="1200" dirty="0">
                <a:solidFill>
                  <a:schemeClr val="tx1"/>
                </a:solidFill>
                <a:effectLst/>
                <a:latin typeface="+mn-lt"/>
                <a:ea typeface="+mn-ea"/>
                <a:cs typeface="+mn-cs"/>
              </a:rPr>
              <a:t>. Mean offers (gray columns) and ATs (blue columns) with standard deviations across 14 societies from Heinrich et al. (2010). The dashed black line is the mean offer across societies, and the dashed blue line is the mean AT across societies. The overall offer-AT gap is 0.23.  UG’s were conducted in the following societies: </a:t>
            </a:r>
            <a:r>
              <a:rPr lang="en-US" sz="1200" kern="1200" dirty="0" err="1">
                <a:solidFill>
                  <a:schemeClr val="tx1"/>
                </a:solidFill>
                <a:effectLst/>
                <a:latin typeface="+mn-lt"/>
                <a:ea typeface="+mn-ea"/>
                <a:cs typeface="+mn-cs"/>
              </a:rPr>
              <a:t>Hadza</a:t>
            </a:r>
            <a:r>
              <a:rPr lang="en-US" sz="1200" kern="1200" dirty="0">
                <a:solidFill>
                  <a:schemeClr val="tx1"/>
                </a:solidFill>
                <a:effectLst/>
                <a:latin typeface="+mn-lt"/>
                <a:ea typeface="+mn-ea"/>
                <a:cs typeface="+mn-cs"/>
              </a:rPr>
              <a:t> (HA), </a:t>
            </a:r>
            <a:r>
              <a:rPr lang="en-US" sz="1200" kern="1200" dirty="0" err="1">
                <a:solidFill>
                  <a:schemeClr val="tx1"/>
                </a:solidFill>
                <a:effectLst/>
                <a:latin typeface="+mn-lt"/>
                <a:ea typeface="+mn-ea"/>
                <a:cs typeface="+mn-cs"/>
              </a:rPr>
              <a:t>Sanquianga</a:t>
            </a:r>
            <a:r>
              <a:rPr lang="en-US" sz="1200" kern="1200" dirty="0">
                <a:solidFill>
                  <a:schemeClr val="tx1"/>
                </a:solidFill>
                <a:effectLst/>
                <a:latin typeface="+mn-lt"/>
                <a:ea typeface="+mn-ea"/>
                <a:cs typeface="+mn-cs"/>
              </a:rPr>
              <a:t> (SQ), </a:t>
            </a:r>
            <a:r>
              <a:rPr lang="en-US" sz="1200" kern="1200" dirty="0" err="1">
                <a:solidFill>
                  <a:schemeClr val="tx1"/>
                </a:solidFill>
                <a:effectLst/>
                <a:latin typeface="+mn-lt"/>
                <a:ea typeface="+mn-ea"/>
                <a:cs typeface="+mn-cs"/>
              </a:rPr>
              <a:t>Isanga</a:t>
            </a:r>
            <a:r>
              <a:rPr lang="en-US" sz="1200" kern="1200" dirty="0">
                <a:solidFill>
                  <a:schemeClr val="tx1"/>
                </a:solidFill>
                <a:effectLst/>
                <a:latin typeface="+mn-lt"/>
                <a:ea typeface="+mn-ea"/>
                <a:cs typeface="+mn-cs"/>
              </a:rPr>
              <a:t> (IS), Au (AU), </a:t>
            </a:r>
            <a:r>
              <a:rPr lang="en-US" sz="1200" kern="1200" dirty="0" err="1">
                <a:solidFill>
                  <a:schemeClr val="tx1"/>
                </a:solidFill>
                <a:effectLst/>
                <a:latin typeface="+mn-lt"/>
                <a:ea typeface="+mn-ea"/>
                <a:cs typeface="+mn-cs"/>
              </a:rPr>
              <a:t>Yaswa</a:t>
            </a:r>
            <a:r>
              <a:rPr lang="en-US" sz="1200" kern="1200" dirty="0">
                <a:solidFill>
                  <a:schemeClr val="tx1"/>
                </a:solidFill>
                <a:effectLst/>
                <a:latin typeface="+mn-lt"/>
                <a:ea typeface="+mn-ea"/>
                <a:cs typeface="+mn-cs"/>
              </a:rPr>
              <a:t> (YA), </a:t>
            </a:r>
            <a:r>
              <a:rPr lang="en-US" sz="1200" kern="1200" dirty="0" err="1">
                <a:solidFill>
                  <a:schemeClr val="tx1"/>
                </a:solidFill>
                <a:effectLst/>
                <a:latin typeface="+mn-lt"/>
                <a:ea typeface="+mn-ea"/>
                <a:cs typeface="+mn-cs"/>
              </a:rPr>
              <a:t>Tsimane</a:t>
            </a:r>
            <a:r>
              <a:rPr lang="en-US" sz="1200" kern="1200" dirty="0">
                <a:solidFill>
                  <a:schemeClr val="tx1"/>
                </a:solidFill>
                <a:effectLst/>
                <a:latin typeface="+mn-lt"/>
                <a:ea typeface="+mn-ea"/>
                <a:cs typeface="+mn-cs"/>
              </a:rPr>
              <a:t> (TS), Dolgan/</a:t>
            </a:r>
            <a:r>
              <a:rPr lang="en-US" sz="1200" kern="1200" dirty="0" err="1">
                <a:solidFill>
                  <a:schemeClr val="tx1"/>
                </a:solidFill>
                <a:effectLst/>
                <a:latin typeface="+mn-lt"/>
                <a:ea typeface="+mn-ea"/>
                <a:cs typeface="+mn-cs"/>
              </a:rPr>
              <a:t>Nganasan</a:t>
            </a:r>
            <a:r>
              <a:rPr lang="en-US" sz="1200" kern="1200" dirty="0">
                <a:solidFill>
                  <a:schemeClr val="tx1"/>
                </a:solidFill>
                <a:effectLst/>
                <a:latin typeface="+mn-lt"/>
                <a:ea typeface="+mn-ea"/>
                <a:cs typeface="+mn-cs"/>
              </a:rPr>
              <a:t> (DO), </a:t>
            </a:r>
            <a:r>
              <a:rPr lang="en-US" sz="1200" kern="1200" dirty="0" err="1">
                <a:solidFill>
                  <a:schemeClr val="tx1"/>
                </a:solidFill>
                <a:effectLst/>
                <a:latin typeface="+mn-lt"/>
                <a:ea typeface="+mn-ea"/>
                <a:cs typeface="+mn-cs"/>
              </a:rPr>
              <a:t>Sururunga</a:t>
            </a:r>
            <a:r>
              <a:rPr lang="en-US" sz="1200" kern="1200" dirty="0">
                <a:solidFill>
                  <a:schemeClr val="tx1"/>
                </a:solidFill>
                <a:effectLst/>
                <a:latin typeface="+mn-lt"/>
                <a:ea typeface="+mn-ea"/>
                <a:cs typeface="+mn-cs"/>
              </a:rPr>
              <a:t> (SU), </a:t>
            </a:r>
            <a:r>
              <a:rPr lang="en-US" sz="1200" kern="1200" dirty="0" err="1">
                <a:solidFill>
                  <a:schemeClr val="tx1"/>
                </a:solidFill>
                <a:effectLst/>
                <a:latin typeface="+mn-lt"/>
                <a:ea typeface="+mn-ea"/>
                <a:cs typeface="+mn-cs"/>
              </a:rPr>
              <a:t>Guslii</a:t>
            </a:r>
            <a:r>
              <a:rPr lang="en-US" sz="1200" kern="1200" dirty="0">
                <a:solidFill>
                  <a:schemeClr val="tx1"/>
                </a:solidFill>
                <a:effectLst/>
                <a:latin typeface="+mn-lt"/>
                <a:ea typeface="+mn-ea"/>
                <a:cs typeface="+mn-cs"/>
              </a:rPr>
              <a:t> (GU), </a:t>
            </a:r>
            <a:r>
              <a:rPr lang="en-US" sz="1200" kern="1200" dirty="0" err="1">
                <a:solidFill>
                  <a:schemeClr val="tx1"/>
                </a:solidFill>
                <a:effectLst/>
                <a:latin typeface="+mn-lt"/>
                <a:ea typeface="+mn-ea"/>
                <a:cs typeface="+mn-cs"/>
              </a:rPr>
              <a:t>Maragoli</a:t>
            </a:r>
            <a:r>
              <a:rPr lang="en-US" sz="1200" kern="1200" dirty="0">
                <a:solidFill>
                  <a:schemeClr val="tx1"/>
                </a:solidFill>
                <a:effectLst/>
                <a:latin typeface="+mn-lt"/>
                <a:ea typeface="+mn-ea"/>
                <a:cs typeface="+mn-cs"/>
              </a:rPr>
              <a:t> (MA), </a:t>
            </a:r>
            <a:r>
              <a:rPr lang="en-US" sz="1200" kern="1200" dirty="0" err="1">
                <a:solidFill>
                  <a:schemeClr val="tx1"/>
                </a:solidFill>
                <a:effectLst/>
                <a:latin typeface="+mn-lt"/>
                <a:ea typeface="+mn-ea"/>
                <a:cs typeface="+mn-cs"/>
              </a:rPr>
              <a:t>Shaur</a:t>
            </a:r>
            <a:r>
              <a:rPr lang="en-US" sz="1200" kern="1200" dirty="0">
                <a:solidFill>
                  <a:schemeClr val="tx1"/>
                </a:solidFill>
                <a:effectLst/>
                <a:latin typeface="+mn-lt"/>
                <a:ea typeface="+mn-ea"/>
                <a:cs typeface="+mn-cs"/>
              </a:rPr>
              <a:t> (SH), Samburu (SA), Accra (AC), and U.S./Rural Missouri (US). These data were plotted from Table S4 in the Supporting Online Material provides the descriptive statistics for each of the three games Heinrich et al. (2010).</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From: Empirical Data-12-8-25.xlsx (Fig C)</a:t>
            </a:r>
          </a:p>
        </p:txBody>
      </p:sp>
      <p:sp>
        <p:nvSpPr>
          <p:cNvPr id="4" name="Slide Number Placeholder 3">
            <a:extLst>
              <a:ext uri="{FF2B5EF4-FFF2-40B4-BE49-F238E27FC236}">
                <a16:creationId xmlns:a16="http://schemas.microsoft.com/office/drawing/2014/main" id="{C419A671-2A54-A058-9FE3-E11FB6B51D69}"/>
              </a:ext>
            </a:extLst>
          </p:cNvPr>
          <p:cNvSpPr>
            <a:spLocks noGrp="1"/>
          </p:cNvSpPr>
          <p:nvPr>
            <p:ph type="sldNum" sz="quarter" idx="5"/>
          </p:nvPr>
        </p:nvSpPr>
        <p:spPr/>
        <p:txBody>
          <a:bodyPr/>
          <a:lstStyle/>
          <a:p>
            <a:fld id="{D8C594B4-43BD-AE4E-8E0C-9B6BE5C545EA}" type="slidenum">
              <a:rPr lang="en-US" smtClean="0"/>
              <a:t>18</a:t>
            </a:fld>
            <a:endParaRPr lang="en-US"/>
          </a:p>
        </p:txBody>
      </p:sp>
    </p:spTree>
    <p:extLst>
      <p:ext uri="{BB962C8B-B14F-4D97-AF65-F5344CB8AC3E}">
        <p14:creationId xmlns:p14="http://schemas.microsoft.com/office/powerpoint/2010/main" val="3572629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a:r>
              <a:rPr lang="en-US" sz="1200" b="1" kern="1200" dirty="0">
                <a:solidFill>
                  <a:schemeClr val="tx1"/>
                </a:solidFill>
                <a:effectLst/>
                <a:latin typeface="+mn-lt"/>
                <a:ea typeface="+mn-ea"/>
                <a:cs typeface="+mn-cs"/>
              </a:rPr>
              <a:t>Fig D</a:t>
            </a:r>
            <a:r>
              <a:rPr lang="en-US" sz="1200" kern="1200" dirty="0">
                <a:solidFill>
                  <a:schemeClr val="tx1"/>
                </a:solidFill>
                <a:effectLst/>
                <a:latin typeface="+mn-lt"/>
                <a:ea typeface="+mn-ea"/>
                <a:cs typeface="+mn-cs"/>
              </a:rPr>
              <a:t>. Normalized exponential, exp(</a:t>
            </a:r>
            <a:r>
              <a:rPr lang="en-US" sz="1200" i="1" kern="1200" dirty="0" err="1">
                <a:solidFill>
                  <a:schemeClr val="tx1"/>
                </a:solidFill>
                <a:effectLst/>
                <a:latin typeface="+mn-lt"/>
                <a:ea typeface="+mn-ea"/>
                <a:cs typeface="+mn-cs"/>
              </a:rPr>
              <a:t>wp</a:t>
            </a:r>
            <a:r>
              <a:rPr lang="en-US" sz="1200" i="1" kern="1200" baseline="-25000" dirty="0" err="1">
                <a:solidFill>
                  <a:schemeClr val="tx1"/>
                </a:solidFill>
                <a:effectLst/>
                <a:latin typeface="+mn-lt"/>
                <a:ea typeface="+mn-ea"/>
                <a:cs typeface="+mn-cs"/>
              </a:rPr>
              <a:t>i</a:t>
            </a:r>
            <a:r>
              <a:rPr lang="en-US" sz="1200" kern="1200" baseline="-250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probability distributions for different selection intensities calculated from the top-left payoff distribution. The payoff distribution was generated by drawing random values from a uniform distribution in the range [0, 0.5]. The top-right probability distribution is the payoff distribution divided by its sum. The remainder of the distributions are Normalized exponential, exp(</a:t>
            </a:r>
            <a:r>
              <a:rPr lang="en-US" sz="1200" i="1" kern="1200" dirty="0" err="1">
                <a:solidFill>
                  <a:schemeClr val="tx1"/>
                </a:solidFill>
                <a:effectLst/>
                <a:latin typeface="+mn-lt"/>
                <a:ea typeface="+mn-ea"/>
                <a:cs typeface="+mn-cs"/>
              </a:rPr>
              <a:t>wp</a:t>
            </a:r>
            <a:r>
              <a:rPr lang="en-US" sz="1200" i="1" kern="1200" baseline="-25000" dirty="0" err="1">
                <a:solidFill>
                  <a:schemeClr val="tx1"/>
                </a:solidFill>
                <a:effectLst/>
                <a:latin typeface="+mn-lt"/>
                <a:ea typeface="+mn-ea"/>
                <a:cs typeface="+mn-cs"/>
              </a:rPr>
              <a:t>i</a:t>
            </a:r>
            <a:r>
              <a:rPr lang="en-US" sz="1200" kern="1200" baseline="-250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probability distributions.</a:t>
            </a:r>
            <a:r>
              <a:rPr lang="en-US" sz="1800" dirty="0">
                <a:effectLst/>
              </a:rPr>
              <a:t> </a:t>
            </a:r>
          </a:p>
          <a:p>
            <a:pPr marL="457200" marR="0"/>
            <a:endParaRPr lang="en-US" sz="1800" kern="100">
              <a:effectLst/>
              <a:latin typeface="Times New Roman" panose="02020603050405020304" pitchFamily="18" charset="0"/>
              <a:ea typeface="Yu Gothic" panose="020B0400000000000000" pitchFamily="34" charset="-128"/>
              <a:cs typeface="Arial" panose="020B0604020202020204" pitchFamily="34" charset="0"/>
            </a:endParaRPr>
          </a:p>
          <a:p>
            <a:pPr marL="457200" marR="0"/>
            <a:endParaRPr lang="en-US" sz="1800" kern="100" dirty="0">
              <a:effectLst/>
              <a:latin typeface="Times New Roman" panose="02020603050405020304" pitchFamily="18" charset="0"/>
              <a:ea typeface="Yu Gothic" panose="020B0400000000000000" pitchFamily="34" charset="-128"/>
              <a:cs typeface="Arial" panose="020B0604020202020204" pitchFamily="34" charset="0"/>
            </a:endParaRPr>
          </a:p>
          <a:p>
            <a:pPr marL="457200" marR="0"/>
            <a:r>
              <a:rPr lang="en-US" sz="1800" kern="100" dirty="0">
                <a:effectLst/>
                <a:latin typeface="Times New Roman" panose="02020603050405020304" pitchFamily="18" charset="0"/>
                <a:ea typeface="Yu Gothic" panose="020B0400000000000000" pitchFamily="34" charset="-128"/>
                <a:cs typeface="Arial" panose="020B0604020202020204" pitchFamily="34" charset="0"/>
              </a:rPr>
              <a:t>From: Exponential </a:t>
            </a:r>
            <a:r>
              <a:rPr lang="en-US" sz="1800" kern="100" dirty="0" err="1">
                <a:effectLst/>
                <a:latin typeface="Times New Roman" panose="02020603050405020304" pitchFamily="18" charset="0"/>
                <a:ea typeface="Yu Gothic" panose="020B0400000000000000" pitchFamily="34" charset="-128"/>
                <a:cs typeface="Arial" panose="020B0604020202020204" pitchFamily="34" charset="0"/>
              </a:rPr>
              <a:t>Normalization.xlsx</a:t>
            </a:r>
            <a:r>
              <a:rPr lang="en-US" sz="1800" kern="100" dirty="0">
                <a:effectLst/>
                <a:latin typeface="Times New Roman" panose="02020603050405020304" pitchFamily="18" charset="0"/>
                <a:ea typeface="Yu Gothic" panose="020B0400000000000000" pitchFamily="34" charset="-128"/>
                <a:cs typeface="Arial" panose="020B0604020202020204" pitchFamily="34" charset="0"/>
              </a:rPr>
              <a:t> (Fig D)</a:t>
            </a:r>
            <a:endParaRPr lang="en-US" sz="1800" kern="100" dirty="0">
              <a:effectLst/>
              <a:latin typeface="Aptos" panose="020B0004020202020204" pitchFamily="34" charset="0"/>
              <a:ea typeface="Yu Gothic" panose="020B0400000000000000" pitchFamily="34" charset="-128"/>
              <a:cs typeface="Arial" panose="020B0604020202020204" pitchFamily="34" charset="0"/>
            </a:endParaRPr>
          </a:p>
        </p:txBody>
      </p:sp>
      <p:sp>
        <p:nvSpPr>
          <p:cNvPr id="4" name="Slide Number Placeholder 3"/>
          <p:cNvSpPr>
            <a:spLocks noGrp="1"/>
          </p:cNvSpPr>
          <p:nvPr>
            <p:ph type="sldNum" sz="quarter" idx="5"/>
          </p:nvPr>
        </p:nvSpPr>
        <p:spPr/>
        <p:txBody>
          <a:bodyPr/>
          <a:lstStyle/>
          <a:p>
            <a:fld id="{D8C594B4-43BD-AE4E-8E0C-9B6BE5C545EA}" type="slidenum">
              <a:rPr lang="en-US" smtClean="0"/>
              <a:t>19</a:t>
            </a:fld>
            <a:endParaRPr lang="en-US"/>
          </a:p>
        </p:txBody>
      </p:sp>
    </p:spTree>
    <p:extLst>
      <p:ext uri="{BB962C8B-B14F-4D97-AF65-F5344CB8AC3E}">
        <p14:creationId xmlns:p14="http://schemas.microsoft.com/office/powerpoint/2010/main" val="4125745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69022170-04FF-9F46-ACAF-6AB710C9C2DE}"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1121825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022170-04FF-9F46-ACAF-6AB710C9C2DE}"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2288877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022170-04FF-9F46-ACAF-6AB710C9C2DE}"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3133570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022170-04FF-9F46-ACAF-6AB710C9C2DE}"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119050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022170-04FF-9F46-ACAF-6AB710C9C2DE}" type="datetimeFigureOut">
              <a:rPr lang="en-US" smtClean="0"/>
              <a:t>12/9/25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922595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022170-04FF-9F46-ACAF-6AB710C9C2DE}" type="datetimeFigureOut">
              <a:rPr lang="en-US" smtClean="0"/>
              <a:t>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2607309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22170-04FF-9F46-ACAF-6AB710C9C2DE}" type="datetimeFigureOut">
              <a:rPr lang="en-US" smtClean="0"/>
              <a:t>12/9/25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3351025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9022170-04FF-9F46-ACAF-6AB710C9C2DE}"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3194562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9022170-04FF-9F46-ACAF-6AB710C9C2DE}" type="datetimeFigureOut">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2501653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022170-04FF-9F46-ACAF-6AB710C9C2DE}"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924336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022170-04FF-9F46-ACAF-6AB710C9C2DE}" type="datetimeFigureOut">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ED6143-DD3E-BF47-AAF1-5E1164AF9E1A}" type="slidenum">
              <a:rPr lang="en-US" smtClean="0"/>
              <a:t>‹#›</a:t>
            </a:fld>
            <a:endParaRPr lang="en-US"/>
          </a:p>
        </p:txBody>
      </p:sp>
    </p:spTree>
    <p:extLst>
      <p:ext uri="{BB962C8B-B14F-4D97-AF65-F5344CB8AC3E}">
        <p14:creationId xmlns:p14="http://schemas.microsoft.com/office/powerpoint/2010/main" val="599648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69022170-04FF-9F46-ACAF-6AB710C9C2DE}" type="datetimeFigureOut">
              <a:rPr lang="en-US" smtClean="0"/>
              <a:t>12/9/25</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BFED6143-DD3E-BF47-AAF1-5E1164AF9E1A}" type="slidenum">
              <a:rPr lang="en-US" smtClean="0"/>
              <a:t>‹#›</a:t>
            </a:fld>
            <a:endParaRPr lang="en-US"/>
          </a:p>
        </p:txBody>
      </p:sp>
    </p:spTree>
    <p:extLst>
      <p:ext uri="{BB962C8B-B14F-4D97-AF65-F5344CB8AC3E}">
        <p14:creationId xmlns:p14="http://schemas.microsoft.com/office/powerpoint/2010/main" val="18841400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5.emf"/><Relationship Id="rId10" Type="http://schemas.openxmlformats.org/officeDocument/2006/relationships/image" Target="../media/image20.emf"/><Relationship Id="rId4" Type="http://schemas.openxmlformats.org/officeDocument/2006/relationships/image" Target="../media/image14.emf"/><Relationship Id="rId9" Type="http://schemas.openxmlformats.org/officeDocument/2006/relationships/image" Target="../media/image19.emf"/></Relationships>
</file>

<file path=ppt/slides/_rels/slide6.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21.emf"/><Relationship Id="rId7" Type="http://schemas.openxmlformats.org/officeDocument/2006/relationships/image" Target="../media/image25.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7.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image" Target="../media/image27.emf"/><Relationship Id="rId7" Type="http://schemas.openxmlformats.org/officeDocument/2006/relationships/image" Target="../media/image31.emf"/><Relationship Id="rId12" Type="http://schemas.openxmlformats.org/officeDocument/2006/relationships/image" Target="../media/image36.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emf"/><Relationship Id="rId11" Type="http://schemas.openxmlformats.org/officeDocument/2006/relationships/image" Target="../media/image35.emf"/><Relationship Id="rId5" Type="http://schemas.openxmlformats.org/officeDocument/2006/relationships/image" Target="../media/image29.emf"/><Relationship Id="rId10" Type="http://schemas.openxmlformats.org/officeDocument/2006/relationships/image" Target="../media/image34.emf"/><Relationship Id="rId4" Type="http://schemas.openxmlformats.org/officeDocument/2006/relationships/image" Target="../media/image28.emf"/><Relationship Id="rId9" Type="http://schemas.openxmlformats.org/officeDocument/2006/relationships/image" Target="../media/image33.emf"/></Relationships>
</file>

<file path=ppt/slides/_rels/slide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slides/_rels/slide9.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image" Target="../media/image41.emf"/><Relationship Id="rId7" Type="http://schemas.openxmlformats.org/officeDocument/2006/relationships/image" Target="../media/image45.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4.emf"/><Relationship Id="rId5" Type="http://schemas.openxmlformats.org/officeDocument/2006/relationships/image" Target="../media/image43.emf"/><Relationship Id="rId10" Type="http://schemas.openxmlformats.org/officeDocument/2006/relationships/image" Target="../media/image48.emf"/><Relationship Id="rId4" Type="http://schemas.openxmlformats.org/officeDocument/2006/relationships/image" Target="../media/image42.emf"/><Relationship Id="rId9" Type="http://schemas.openxmlformats.org/officeDocument/2006/relationships/image" Target="../media/image47.emf"/></Relationships>
</file>

<file path=ppt/slides/_rels/slide1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1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4.emf"/></Relationships>
</file>

<file path=ppt/slides/_rels/slide12.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image" Target="../media/image57.emf"/><Relationship Id="rId7" Type="http://schemas.openxmlformats.org/officeDocument/2006/relationships/image" Target="../media/image61.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58.emf"/></Relationships>
</file>

<file path=ppt/slides/_rels/slide13.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4.emf"/><Relationship Id="rId7" Type="http://schemas.openxmlformats.org/officeDocument/2006/relationships/image" Target="../media/image68.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7.emf"/><Relationship Id="rId5" Type="http://schemas.openxmlformats.org/officeDocument/2006/relationships/image" Target="../media/image66.emf"/><Relationship Id="rId4" Type="http://schemas.openxmlformats.org/officeDocument/2006/relationships/image" Target="../media/image6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slides/_rels/slide17.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5.emf"/></Relationships>
</file>

<file path=ppt/slides/_rels/slide19.xml.rels><?xml version="1.0" encoding="UTF-8" standalone="yes"?>
<Relationships xmlns="http://schemas.openxmlformats.org/package/2006/relationships"><Relationship Id="rId8" Type="http://schemas.openxmlformats.org/officeDocument/2006/relationships/image" Target="../media/image81.emf"/><Relationship Id="rId3" Type="http://schemas.openxmlformats.org/officeDocument/2006/relationships/image" Target="../media/image76.emf"/><Relationship Id="rId7" Type="http://schemas.openxmlformats.org/officeDocument/2006/relationships/image" Target="../media/image80.e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9.emf"/><Relationship Id="rId5" Type="http://schemas.openxmlformats.org/officeDocument/2006/relationships/image" Target="../media/image78.emf"/><Relationship Id="rId10" Type="http://schemas.openxmlformats.org/officeDocument/2006/relationships/image" Target="../media/image83.emf"/><Relationship Id="rId4" Type="http://schemas.openxmlformats.org/officeDocument/2006/relationships/image" Target="../media/image77.emf"/><Relationship Id="rId9" Type="http://schemas.openxmlformats.org/officeDocument/2006/relationships/image" Target="../media/image8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D4EF49F-5E77-401E-59EA-6489AC057CD8}"/>
              </a:ext>
            </a:extLst>
          </p:cNvPr>
          <p:cNvPicPr>
            <a:picLocks noChangeAspect="1"/>
          </p:cNvPicPr>
          <p:nvPr/>
        </p:nvPicPr>
        <p:blipFill>
          <a:blip r:embed="rId3"/>
          <a:stretch>
            <a:fillRect/>
          </a:stretch>
        </p:blipFill>
        <p:spPr>
          <a:xfrm>
            <a:off x="484340" y="3369915"/>
            <a:ext cx="2743200" cy="1937035"/>
          </a:xfrm>
          <a:prstGeom prst="rect">
            <a:avLst/>
          </a:prstGeom>
        </p:spPr>
      </p:pic>
      <p:pic>
        <p:nvPicPr>
          <p:cNvPr id="8" name="Picture 7">
            <a:extLst>
              <a:ext uri="{FF2B5EF4-FFF2-40B4-BE49-F238E27FC236}">
                <a16:creationId xmlns:a16="http://schemas.microsoft.com/office/drawing/2014/main" id="{043DD020-BDC7-B782-ED95-A9FCA8AA2421}"/>
              </a:ext>
            </a:extLst>
          </p:cNvPr>
          <p:cNvPicPr>
            <a:picLocks noChangeAspect="1"/>
          </p:cNvPicPr>
          <p:nvPr/>
        </p:nvPicPr>
        <p:blipFill>
          <a:blip r:embed="rId4"/>
          <a:stretch>
            <a:fillRect/>
          </a:stretch>
        </p:blipFill>
        <p:spPr>
          <a:xfrm>
            <a:off x="3188300" y="3378473"/>
            <a:ext cx="2743200" cy="1937035"/>
          </a:xfrm>
          <a:prstGeom prst="rect">
            <a:avLst/>
          </a:prstGeom>
        </p:spPr>
      </p:pic>
      <p:pic>
        <p:nvPicPr>
          <p:cNvPr id="4" name="Picture 3">
            <a:extLst>
              <a:ext uri="{FF2B5EF4-FFF2-40B4-BE49-F238E27FC236}">
                <a16:creationId xmlns:a16="http://schemas.microsoft.com/office/drawing/2014/main" id="{C5F4274C-B8B4-4BB6-40A9-D0263649DCD1}"/>
              </a:ext>
            </a:extLst>
          </p:cNvPr>
          <p:cNvPicPr>
            <a:picLocks noChangeAspect="1"/>
          </p:cNvPicPr>
          <p:nvPr/>
        </p:nvPicPr>
        <p:blipFill>
          <a:blip r:embed="rId5"/>
          <a:stretch>
            <a:fillRect/>
          </a:stretch>
        </p:blipFill>
        <p:spPr>
          <a:xfrm>
            <a:off x="3190759" y="1342128"/>
            <a:ext cx="2749208" cy="1975104"/>
          </a:xfrm>
          <a:prstGeom prst="rect">
            <a:avLst/>
          </a:prstGeom>
        </p:spPr>
      </p:pic>
      <p:sp>
        <p:nvSpPr>
          <p:cNvPr id="21" name="TextBox 20">
            <a:extLst>
              <a:ext uri="{FF2B5EF4-FFF2-40B4-BE49-F238E27FC236}">
                <a16:creationId xmlns:a16="http://schemas.microsoft.com/office/drawing/2014/main" id="{3F4A57F5-1F28-5978-83FB-32E45F8B34CC}"/>
              </a:ext>
            </a:extLst>
          </p:cNvPr>
          <p:cNvSpPr txBox="1"/>
          <p:nvPr/>
        </p:nvSpPr>
        <p:spPr>
          <a:xfrm>
            <a:off x="3490275" y="1437029"/>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t>
            </a:r>
          </a:p>
        </p:txBody>
      </p:sp>
      <p:sp>
        <p:nvSpPr>
          <p:cNvPr id="22" name="TextBox 21">
            <a:extLst>
              <a:ext uri="{FF2B5EF4-FFF2-40B4-BE49-F238E27FC236}">
                <a16:creationId xmlns:a16="http://schemas.microsoft.com/office/drawing/2014/main" id="{CCF9BC7D-B9BE-69BC-1919-EFE1DC301795}"/>
              </a:ext>
            </a:extLst>
          </p:cNvPr>
          <p:cNvSpPr txBox="1"/>
          <p:nvPr/>
        </p:nvSpPr>
        <p:spPr>
          <a:xfrm>
            <a:off x="812781" y="3395407"/>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c</a:t>
            </a:r>
          </a:p>
        </p:txBody>
      </p:sp>
      <p:sp>
        <p:nvSpPr>
          <p:cNvPr id="23" name="TextBox 22">
            <a:extLst>
              <a:ext uri="{FF2B5EF4-FFF2-40B4-BE49-F238E27FC236}">
                <a16:creationId xmlns:a16="http://schemas.microsoft.com/office/drawing/2014/main" id="{BADDAD15-049D-2156-684C-B56F62D31726}"/>
              </a:ext>
            </a:extLst>
          </p:cNvPr>
          <p:cNvSpPr txBox="1"/>
          <p:nvPr/>
        </p:nvSpPr>
        <p:spPr>
          <a:xfrm>
            <a:off x="3490275" y="3429275"/>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p>
        </p:txBody>
      </p:sp>
      <p:sp>
        <p:nvSpPr>
          <p:cNvPr id="2" name="Rectangle 1">
            <a:extLst>
              <a:ext uri="{FF2B5EF4-FFF2-40B4-BE49-F238E27FC236}">
                <a16:creationId xmlns:a16="http://schemas.microsoft.com/office/drawing/2014/main" id="{C91200DA-E36A-45EE-7CA2-BF4F2CB85E17}"/>
              </a:ext>
            </a:extLst>
          </p:cNvPr>
          <p:cNvSpPr/>
          <p:nvPr/>
        </p:nvSpPr>
        <p:spPr>
          <a:xfrm>
            <a:off x="4737100" y="3638550"/>
            <a:ext cx="717550" cy="30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C1304DF-1815-F568-FCF9-82BDDCB755B9}"/>
              </a:ext>
            </a:extLst>
          </p:cNvPr>
          <p:cNvSpPr/>
          <p:nvPr/>
        </p:nvSpPr>
        <p:spPr>
          <a:xfrm>
            <a:off x="1447800" y="3149600"/>
            <a:ext cx="1117600" cy="157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38CC437-7F28-2C8D-3DD2-C6011104B86C}"/>
              </a:ext>
            </a:extLst>
          </p:cNvPr>
          <p:cNvPicPr>
            <a:picLocks noChangeAspect="1"/>
          </p:cNvPicPr>
          <p:nvPr/>
        </p:nvPicPr>
        <p:blipFill>
          <a:blip r:embed="rId6"/>
          <a:stretch>
            <a:fillRect/>
          </a:stretch>
        </p:blipFill>
        <p:spPr>
          <a:xfrm>
            <a:off x="484340" y="1380197"/>
            <a:ext cx="2743200" cy="1937035"/>
          </a:xfrm>
          <a:prstGeom prst="rect">
            <a:avLst/>
          </a:prstGeom>
        </p:spPr>
      </p:pic>
      <p:sp>
        <p:nvSpPr>
          <p:cNvPr id="20" name="TextBox 19">
            <a:extLst>
              <a:ext uri="{FF2B5EF4-FFF2-40B4-BE49-F238E27FC236}">
                <a16:creationId xmlns:a16="http://schemas.microsoft.com/office/drawing/2014/main" id="{88D4A059-4CB5-CC69-8C4A-749C0FCF54FE}"/>
              </a:ext>
            </a:extLst>
          </p:cNvPr>
          <p:cNvSpPr txBox="1"/>
          <p:nvPr/>
        </p:nvSpPr>
        <p:spPr>
          <a:xfrm>
            <a:off x="812781" y="1393925"/>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3989821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8BF9A-9681-EFE8-5408-D73CB7004601}"/>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538B470-005B-370D-6E26-E5ADEA4FA1AB}"/>
              </a:ext>
            </a:extLst>
          </p:cNvPr>
          <p:cNvGrpSpPr/>
          <p:nvPr/>
        </p:nvGrpSpPr>
        <p:grpSpPr>
          <a:xfrm>
            <a:off x="1398479" y="6098510"/>
            <a:ext cx="4132580" cy="393700"/>
            <a:chOff x="1728470" y="6003924"/>
            <a:chExt cx="4132580" cy="393700"/>
          </a:xfrm>
        </p:grpSpPr>
        <p:sp>
          <p:nvSpPr>
            <p:cNvPr id="21" name="Rectangle 20">
              <a:extLst>
                <a:ext uri="{FF2B5EF4-FFF2-40B4-BE49-F238E27FC236}">
                  <a16:creationId xmlns:a16="http://schemas.microsoft.com/office/drawing/2014/main" id="{C2FFA342-EB4C-F21E-AB6C-10CC7CA4BEFE}"/>
                </a:ext>
              </a:extLst>
            </p:cNvPr>
            <p:cNvSpPr/>
            <p:nvPr/>
          </p:nvSpPr>
          <p:spPr>
            <a:xfrm>
              <a:off x="1728470" y="6003924"/>
              <a:ext cx="4132580" cy="393700"/>
            </a:xfrm>
            <a:prstGeom prst="rect">
              <a:avLst/>
            </a:prstGeom>
            <a:noFill/>
            <a:ln w="63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5631D1B-42D3-6A51-D018-5D519C650EFD}"/>
                </a:ext>
              </a:extLst>
            </p:cNvPr>
            <p:cNvGrpSpPr/>
            <p:nvPr/>
          </p:nvGrpSpPr>
          <p:grpSpPr>
            <a:xfrm>
              <a:off x="1814195" y="6077664"/>
              <a:ext cx="4046855" cy="246221"/>
              <a:chOff x="1814195" y="6077664"/>
              <a:chExt cx="4046855" cy="246221"/>
            </a:xfrm>
          </p:grpSpPr>
          <p:sp>
            <p:nvSpPr>
              <p:cNvPr id="19" name="TextBox 18">
                <a:extLst>
                  <a:ext uri="{FF2B5EF4-FFF2-40B4-BE49-F238E27FC236}">
                    <a16:creationId xmlns:a16="http://schemas.microsoft.com/office/drawing/2014/main" id="{6EBCF335-843D-633A-2EB2-3CCDC15F3F74}"/>
                  </a:ext>
                </a:extLst>
              </p:cNvPr>
              <p:cNvSpPr txBox="1"/>
              <p:nvPr/>
            </p:nvSpPr>
            <p:spPr>
              <a:xfrm>
                <a:off x="1896744" y="6077664"/>
                <a:ext cx="3964306" cy="246221"/>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 0 &lt;       ≤.1 &lt;      ≤ .2 &lt;      ≤ .3 &lt;     ≤ .4 &lt;     ≤ .5 &lt;      ≤ .6 &lt;      ≤ 1</a:t>
                </a:r>
              </a:p>
            </p:txBody>
          </p:sp>
          <p:sp>
            <p:nvSpPr>
              <p:cNvPr id="7" name="Oval 6">
                <a:extLst>
                  <a:ext uri="{FF2B5EF4-FFF2-40B4-BE49-F238E27FC236}">
                    <a16:creationId xmlns:a16="http://schemas.microsoft.com/office/drawing/2014/main" id="{9380A6F7-E87A-B2DE-F899-5206FBA656BD}"/>
                  </a:ext>
                </a:extLst>
              </p:cNvPr>
              <p:cNvSpPr/>
              <p:nvPr/>
            </p:nvSpPr>
            <p:spPr>
              <a:xfrm>
                <a:off x="1814195" y="6140449"/>
                <a:ext cx="120650" cy="1206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80E754E-A64F-F121-6A06-C60234FF7828}"/>
                  </a:ext>
                </a:extLst>
              </p:cNvPr>
              <p:cNvSpPr/>
              <p:nvPr/>
            </p:nvSpPr>
            <p:spPr>
              <a:xfrm>
                <a:off x="2328545" y="6140449"/>
                <a:ext cx="120650" cy="1206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6B3B685-596C-6526-DEC7-C463EBA0776B}"/>
                  </a:ext>
                </a:extLst>
              </p:cNvPr>
              <p:cNvSpPr/>
              <p:nvPr/>
            </p:nvSpPr>
            <p:spPr>
              <a:xfrm>
                <a:off x="2849245" y="6140449"/>
                <a:ext cx="120650" cy="12065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8EC4175-D5D1-842A-9A84-5690FCF8FA51}"/>
                  </a:ext>
                </a:extLst>
              </p:cNvPr>
              <p:cNvSpPr/>
              <p:nvPr/>
            </p:nvSpPr>
            <p:spPr>
              <a:xfrm>
                <a:off x="3369945" y="6140449"/>
                <a:ext cx="120650" cy="120650"/>
              </a:xfrm>
              <a:prstGeom prst="ellipse">
                <a:avLst/>
              </a:prstGeom>
              <a:solidFill>
                <a:srgbClr val="F73D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8DC02B5-8D55-FF46-2E8A-5D62FD3B75BA}"/>
                  </a:ext>
                </a:extLst>
              </p:cNvPr>
              <p:cNvSpPr/>
              <p:nvPr/>
            </p:nvSpPr>
            <p:spPr>
              <a:xfrm>
                <a:off x="3884295" y="6140449"/>
                <a:ext cx="120650" cy="120650"/>
              </a:xfrm>
              <a:prstGeom prst="ellipse">
                <a:avLst/>
              </a:prstGeom>
              <a:solidFill>
                <a:srgbClr val="00D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3A8490B-3BAC-163C-5479-02652AB4A850}"/>
                  </a:ext>
                </a:extLst>
              </p:cNvPr>
              <p:cNvSpPr/>
              <p:nvPr/>
            </p:nvSpPr>
            <p:spPr>
              <a:xfrm>
                <a:off x="4370070" y="6140449"/>
                <a:ext cx="120650" cy="120650"/>
              </a:xfrm>
              <a:prstGeom prst="ellipse">
                <a:avLst/>
              </a:prstGeom>
              <a:solidFill>
                <a:srgbClr val="005E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7E85B79-D1C6-CBFE-0DE3-5118E72C0C6F}"/>
                  </a:ext>
                </a:extLst>
              </p:cNvPr>
              <p:cNvSpPr/>
              <p:nvPr/>
            </p:nvSpPr>
            <p:spPr>
              <a:xfrm>
                <a:off x="5405120" y="6140449"/>
                <a:ext cx="120650" cy="12065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73ACF4D-32AB-7ADE-53AE-B362F848EB92}"/>
                  </a:ext>
                </a:extLst>
              </p:cNvPr>
              <p:cNvSpPr/>
              <p:nvPr/>
            </p:nvSpPr>
            <p:spPr>
              <a:xfrm>
                <a:off x="4878070" y="6140449"/>
                <a:ext cx="120650" cy="120650"/>
              </a:xfrm>
              <a:prstGeom prst="ellipse">
                <a:avLst/>
              </a:prstGeom>
              <a:solidFill>
                <a:srgbClr val="00D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 name="Group 3">
            <a:extLst>
              <a:ext uri="{FF2B5EF4-FFF2-40B4-BE49-F238E27FC236}">
                <a16:creationId xmlns:a16="http://schemas.microsoft.com/office/drawing/2014/main" id="{01F592A8-0C0D-2C90-463D-38E837C66363}"/>
              </a:ext>
            </a:extLst>
          </p:cNvPr>
          <p:cNvGrpSpPr/>
          <p:nvPr/>
        </p:nvGrpSpPr>
        <p:grpSpPr>
          <a:xfrm>
            <a:off x="1178769" y="1457535"/>
            <a:ext cx="4572000" cy="4572000"/>
            <a:chOff x="1483573" y="1457535"/>
            <a:chExt cx="4572000" cy="4572000"/>
          </a:xfrm>
        </p:grpSpPr>
        <p:pic>
          <p:nvPicPr>
            <p:cNvPr id="3" name="Picture 2" descr="A white background with colorful dots&#10;&#10;Description automatically generated">
              <a:extLst>
                <a:ext uri="{FF2B5EF4-FFF2-40B4-BE49-F238E27FC236}">
                  <a16:creationId xmlns:a16="http://schemas.microsoft.com/office/drawing/2014/main" id="{6D007D58-D09D-1C10-AECE-BC9C6109DF87}"/>
                </a:ext>
              </a:extLst>
            </p:cNvPr>
            <p:cNvPicPr>
              <a:picLocks noChangeAspect="1"/>
            </p:cNvPicPr>
            <p:nvPr/>
          </p:nvPicPr>
          <p:blipFill>
            <a:blip r:embed="rId3"/>
            <a:stretch>
              <a:fillRect/>
            </a:stretch>
          </p:blipFill>
          <p:spPr>
            <a:xfrm>
              <a:off x="1483573" y="1457535"/>
              <a:ext cx="4572000" cy="4572000"/>
            </a:xfrm>
            <a:prstGeom prst="rect">
              <a:avLst/>
            </a:prstGeom>
            <a:ln>
              <a:solidFill>
                <a:schemeClr val="tx1"/>
              </a:solidFill>
            </a:ln>
          </p:spPr>
        </p:pic>
        <p:sp>
          <p:nvSpPr>
            <p:cNvPr id="11" name="Rectangle 10">
              <a:extLst>
                <a:ext uri="{FF2B5EF4-FFF2-40B4-BE49-F238E27FC236}">
                  <a16:creationId xmlns:a16="http://schemas.microsoft.com/office/drawing/2014/main" id="{AEC4A832-9B1E-4822-832C-28F3B1EA6ED6}"/>
                </a:ext>
              </a:extLst>
            </p:cNvPr>
            <p:cNvSpPr>
              <a:spLocks noChangeAspect="1"/>
            </p:cNvSpPr>
            <p:nvPr/>
          </p:nvSpPr>
          <p:spPr>
            <a:xfrm>
              <a:off x="2311187" y="5190066"/>
              <a:ext cx="457200" cy="457200"/>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7912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CF3FF11-79FA-0268-DEB5-FF6B8E81CC6E}"/>
              </a:ext>
            </a:extLst>
          </p:cNvPr>
          <p:cNvGrpSpPr/>
          <p:nvPr/>
        </p:nvGrpSpPr>
        <p:grpSpPr>
          <a:xfrm>
            <a:off x="3094393" y="585422"/>
            <a:ext cx="2961402" cy="2987502"/>
            <a:chOff x="3094393" y="585422"/>
            <a:chExt cx="2961402" cy="2987502"/>
          </a:xfrm>
        </p:grpSpPr>
        <p:sp>
          <p:nvSpPr>
            <p:cNvPr id="6" name="Rectangle 5">
              <a:extLst>
                <a:ext uri="{FF2B5EF4-FFF2-40B4-BE49-F238E27FC236}">
                  <a16:creationId xmlns:a16="http://schemas.microsoft.com/office/drawing/2014/main" id="{FE3A90FF-22CD-E771-6E58-CFBA19FECAE0}"/>
                </a:ext>
              </a:extLst>
            </p:cNvPr>
            <p:cNvSpPr/>
            <p:nvPr/>
          </p:nvSpPr>
          <p:spPr>
            <a:xfrm>
              <a:off x="3094393" y="585422"/>
              <a:ext cx="2961402" cy="2987502"/>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A979B86-BA3E-8DEC-8B7F-7E1784EDBB80}"/>
                </a:ext>
              </a:extLst>
            </p:cNvPr>
            <p:cNvSpPr/>
            <p:nvPr/>
          </p:nvSpPr>
          <p:spPr>
            <a:xfrm>
              <a:off x="4376669" y="1741485"/>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087D3EE-F478-4105-6040-9FC194A6259F}"/>
                </a:ext>
              </a:extLst>
            </p:cNvPr>
            <p:cNvSpPr/>
            <p:nvPr/>
          </p:nvSpPr>
          <p:spPr>
            <a:xfrm>
              <a:off x="4568467" y="1741485"/>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C6C39E2-7639-EEB4-23B1-7617A2CD70BF}"/>
                </a:ext>
              </a:extLst>
            </p:cNvPr>
            <p:cNvSpPr/>
            <p:nvPr/>
          </p:nvSpPr>
          <p:spPr>
            <a:xfrm>
              <a:off x="4468704" y="1833031"/>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04174C4-1458-7AC7-C57E-253288CFB99B}"/>
                </a:ext>
              </a:extLst>
            </p:cNvPr>
            <p:cNvSpPr/>
            <p:nvPr/>
          </p:nvSpPr>
          <p:spPr>
            <a:xfrm>
              <a:off x="4568467" y="1836206"/>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C0B6BF3-43B9-BC44-73ED-602F68085C76}"/>
                </a:ext>
              </a:extLst>
            </p:cNvPr>
            <p:cNvSpPr/>
            <p:nvPr/>
          </p:nvSpPr>
          <p:spPr>
            <a:xfrm>
              <a:off x="4568467" y="1932514"/>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1770493-4691-0788-B21F-E457D4043BF0}"/>
                </a:ext>
              </a:extLst>
            </p:cNvPr>
            <p:cNvSpPr/>
            <p:nvPr/>
          </p:nvSpPr>
          <p:spPr>
            <a:xfrm>
              <a:off x="4674477" y="1932514"/>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F5DC306-56C3-F477-2277-FF2C3215AE3E}"/>
                </a:ext>
              </a:extLst>
            </p:cNvPr>
            <p:cNvSpPr/>
            <p:nvPr/>
          </p:nvSpPr>
          <p:spPr>
            <a:xfrm>
              <a:off x="4754377" y="2212965"/>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7F176FF-CDBA-6DC2-E806-CE297960F6A2}"/>
                </a:ext>
              </a:extLst>
            </p:cNvPr>
            <p:cNvSpPr/>
            <p:nvPr/>
          </p:nvSpPr>
          <p:spPr>
            <a:xfrm>
              <a:off x="4659656" y="2307687"/>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653A3B4-C077-79CF-11D3-678082F48806}"/>
                </a:ext>
              </a:extLst>
            </p:cNvPr>
            <p:cNvSpPr/>
            <p:nvPr/>
          </p:nvSpPr>
          <p:spPr>
            <a:xfrm>
              <a:off x="4754377" y="2307687"/>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93B2117-3954-0D3F-9C72-8C9042B854A4}"/>
                </a:ext>
              </a:extLst>
            </p:cNvPr>
            <p:cNvSpPr/>
            <p:nvPr/>
          </p:nvSpPr>
          <p:spPr>
            <a:xfrm>
              <a:off x="4659655" y="2400290"/>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CB86530-93A6-ABD8-7E6F-EEE516836A22}"/>
                </a:ext>
              </a:extLst>
            </p:cNvPr>
            <p:cNvSpPr/>
            <p:nvPr/>
          </p:nvSpPr>
          <p:spPr>
            <a:xfrm>
              <a:off x="4754377" y="2400290"/>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8949897-9CCC-9787-0F22-C92F29530842}"/>
                </a:ext>
              </a:extLst>
            </p:cNvPr>
            <p:cNvSpPr/>
            <p:nvPr/>
          </p:nvSpPr>
          <p:spPr>
            <a:xfrm>
              <a:off x="4845922" y="2400290"/>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E20A2BC-4921-59F0-96E8-AFE94AAB30DD}"/>
                </a:ext>
              </a:extLst>
            </p:cNvPr>
            <p:cNvSpPr/>
            <p:nvPr/>
          </p:nvSpPr>
          <p:spPr>
            <a:xfrm>
              <a:off x="4554748" y="2880771"/>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F6392E1-D5DB-FC84-1ABC-9EA76DDB1051}"/>
                </a:ext>
              </a:extLst>
            </p:cNvPr>
            <p:cNvSpPr/>
            <p:nvPr/>
          </p:nvSpPr>
          <p:spPr>
            <a:xfrm>
              <a:off x="4652025" y="2880771"/>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BC88AF8-3F01-0912-8691-21728C6DF1D3}"/>
                </a:ext>
              </a:extLst>
            </p:cNvPr>
            <p:cNvSpPr/>
            <p:nvPr/>
          </p:nvSpPr>
          <p:spPr>
            <a:xfrm>
              <a:off x="4856595" y="2880771"/>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FB4057C-5918-4181-0024-2DC3720D3729}"/>
                </a:ext>
              </a:extLst>
            </p:cNvPr>
            <p:cNvSpPr/>
            <p:nvPr/>
          </p:nvSpPr>
          <p:spPr>
            <a:xfrm>
              <a:off x="4652025" y="2971785"/>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2EC5DB0-4B46-6446-E70E-842203996614}"/>
                </a:ext>
              </a:extLst>
            </p:cNvPr>
            <p:cNvSpPr/>
            <p:nvPr/>
          </p:nvSpPr>
          <p:spPr>
            <a:xfrm>
              <a:off x="4753270" y="2976015"/>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8F9F5E8-DF78-ECC0-771E-E4AB2FEE7757}"/>
                </a:ext>
              </a:extLst>
            </p:cNvPr>
            <p:cNvSpPr/>
            <p:nvPr/>
          </p:nvSpPr>
          <p:spPr>
            <a:xfrm>
              <a:off x="4852886" y="2980245"/>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14AE4F8-5F46-ABEF-1C37-EAF402FD004E}"/>
                </a:ext>
              </a:extLst>
            </p:cNvPr>
            <p:cNvSpPr/>
            <p:nvPr/>
          </p:nvSpPr>
          <p:spPr>
            <a:xfrm>
              <a:off x="4652025" y="3064918"/>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352F1D1-D6A4-735A-8461-C203B46AE71B}"/>
                </a:ext>
              </a:extLst>
            </p:cNvPr>
            <p:cNvSpPr/>
            <p:nvPr/>
          </p:nvSpPr>
          <p:spPr>
            <a:xfrm>
              <a:off x="4753270" y="3067920"/>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1A786AB-96DB-8E41-99F8-116415D5365F}"/>
                </a:ext>
              </a:extLst>
            </p:cNvPr>
            <p:cNvSpPr/>
            <p:nvPr/>
          </p:nvSpPr>
          <p:spPr>
            <a:xfrm>
              <a:off x="5713582" y="2235175"/>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2682C47-9C8D-4543-BA07-11E0F0504DDF}"/>
                </a:ext>
              </a:extLst>
            </p:cNvPr>
            <p:cNvSpPr/>
            <p:nvPr/>
          </p:nvSpPr>
          <p:spPr>
            <a:xfrm>
              <a:off x="3237082" y="1278452"/>
              <a:ext cx="93133" cy="93133"/>
            </a:xfrm>
            <a:prstGeom prst="ellipse">
              <a:avLst/>
            </a:prstGeom>
            <a:solidFill>
              <a:srgbClr val="1C4A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AEFA7AD-27F8-734E-E0BD-4E018C6526CC}"/>
                </a:ext>
              </a:extLst>
            </p:cNvPr>
            <p:cNvSpPr/>
            <p:nvPr/>
          </p:nvSpPr>
          <p:spPr>
            <a:xfrm>
              <a:off x="4753270" y="2880771"/>
              <a:ext cx="93133" cy="93133"/>
            </a:xfrm>
            <a:prstGeom prst="ellipse">
              <a:avLst/>
            </a:prstGeom>
            <a:solidFill>
              <a:srgbClr val="00D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681DF153-97BD-6021-7744-246B53F9E182}"/>
                </a:ext>
              </a:extLst>
            </p:cNvPr>
            <p:cNvSpPr/>
            <p:nvPr/>
          </p:nvSpPr>
          <p:spPr>
            <a:xfrm>
              <a:off x="5606335" y="1292210"/>
              <a:ext cx="93133" cy="93133"/>
            </a:xfrm>
            <a:prstGeom prst="ellipse">
              <a:avLst/>
            </a:prstGeom>
            <a:solidFill>
              <a:srgbClr val="F73D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565F3794-308E-3FAA-0449-1A14521429D0}"/>
                </a:ext>
              </a:extLst>
            </p:cNvPr>
            <p:cNvSpPr/>
            <p:nvPr/>
          </p:nvSpPr>
          <p:spPr>
            <a:xfrm>
              <a:off x="5694879" y="1202252"/>
              <a:ext cx="93133" cy="93133"/>
            </a:xfrm>
            <a:prstGeom prst="ellipse">
              <a:avLst/>
            </a:prstGeom>
            <a:solidFill>
              <a:srgbClr val="F73D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9A22D30-AA33-250B-5DB7-3CFD4F43814B}"/>
                </a:ext>
              </a:extLst>
            </p:cNvPr>
            <p:cNvSpPr/>
            <p:nvPr/>
          </p:nvSpPr>
          <p:spPr>
            <a:xfrm>
              <a:off x="5789426" y="1202252"/>
              <a:ext cx="93133" cy="93133"/>
            </a:xfrm>
            <a:prstGeom prst="ellipse">
              <a:avLst/>
            </a:prstGeom>
            <a:solidFill>
              <a:srgbClr val="F73D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0E42947-983B-4EA9-5493-8413DA70ED71}"/>
                </a:ext>
              </a:extLst>
            </p:cNvPr>
            <p:cNvSpPr/>
            <p:nvPr/>
          </p:nvSpPr>
          <p:spPr>
            <a:xfrm>
              <a:off x="5790750" y="1102767"/>
              <a:ext cx="93133" cy="93133"/>
            </a:xfrm>
            <a:prstGeom prst="ellipse">
              <a:avLst/>
            </a:prstGeom>
            <a:solidFill>
              <a:srgbClr val="F73D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DB00326-ED3D-5BC4-7A95-6F8EC99F5833}"/>
                </a:ext>
              </a:extLst>
            </p:cNvPr>
            <p:cNvSpPr/>
            <p:nvPr/>
          </p:nvSpPr>
          <p:spPr>
            <a:xfrm>
              <a:off x="5597182" y="1102767"/>
              <a:ext cx="93133" cy="93133"/>
            </a:xfrm>
            <a:prstGeom prst="ellipse">
              <a:avLst/>
            </a:prstGeom>
            <a:solidFill>
              <a:srgbClr val="00D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603E7EB-DAAE-E3ED-973C-2325E288D6B1}"/>
                </a:ext>
              </a:extLst>
            </p:cNvPr>
            <p:cNvSpPr/>
            <p:nvPr/>
          </p:nvSpPr>
          <p:spPr>
            <a:xfrm>
              <a:off x="5694879" y="1102767"/>
              <a:ext cx="93133" cy="93133"/>
            </a:xfrm>
            <a:prstGeom prst="ellipse">
              <a:avLst/>
            </a:prstGeom>
            <a:solidFill>
              <a:srgbClr val="00D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72FC0A7-01B2-D6BE-71EB-5DCC303FAD84}"/>
                </a:ext>
              </a:extLst>
            </p:cNvPr>
            <p:cNvSpPr/>
            <p:nvPr/>
          </p:nvSpPr>
          <p:spPr>
            <a:xfrm>
              <a:off x="5694879" y="996930"/>
              <a:ext cx="93133" cy="93133"/>
            </a:xfrm>
            <a:prstGeom prst="ellipse">
              <a:avLst/>
            </a:prstGeom>
            <a:solidFill>
              <a:srgbClr val="00D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89B8C9C-FA83-6C72-C831-6EF1FA7D6C8C}"/>
                </a:ext>
              </a:extLst>
            </p:cNvPr>
            <p:cNvSpPr/>
            <p:nvPr/>
          </p:nvSpPr>
          <p:spPr>
            <a:xfrm>
              <a:off x="4094125" y="1739897"/>
              <a:ext cx="93133" cy="9313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9" name="Oval 248">
            <a:extLst>
              <a:ext uri="{FF2B5EF4-FFF2-40B4-BE49-F238E27FC236}">
                <a16:creationId xmlns:a16="http://schemas.microsoft.com/office/drawing/2014/main" id="{FF83E464-D1E0-E4C8-1992-0A521804A234}"/>
              </a:ext>
            </a:extLst>
          </p:cNvPr>
          <p:cNvSpPr>
            <a:spLocks noChangeAspect="1"/>
          </p:cNvSpPr>
          <p:nvPr/>
        </p:nvSpPr>
        <p:spPr>
          <a:xfrm>
            <a:off x="2095628" y="4250848"/>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TextBox 249">
            <a:extLst>
              <a:ext uri="{FF2B5EF4-FFF2-40B4-BE49-F238E27FC236}">
                <a16:creationId xmlns:a16="http://schemas.microsoft.com/office/drawing/2014/main" id="{84276000-ADCD-701A-B839-456D4564D0C9}"/>
              </a:ext>
            </a:extLst>
          </p:cNvPr>
          <p:cNvSpPr txBox="1"/>
          <p:nvPr/>
        </p:nvSpPr>
        <p:spPr>
          <a:xfrm>
            <a:off x="2060216" y="4227418"/>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cxnSp>
        <p:nvCxnSpPr>
          <p:cNvPr id="9" name="Straight Arrow Connector 8">
            <a:extLst>
              <a:ext uri="{FF2B5EF4-FFF2-40B4-BE49-F238E27FC236}">
                <a16:creationId xmlns:a16="http://schemas.microsoft.com/office/drawing/2014/main" id="{AA973201-A0FA-0897-CE63-8C0D6BD98C0A}"/>
              </a:ext>
            </a:extLst>
          </p:cNvPr>
          <p:cNvCxnSpPr>
            <a:cxnSpLocks/>
            <a:stCxn id="87" idx="6"/>
            <a:endCxn id="285" idx="1"/>
          </p:cNvCxnSpPr>
          <p:nvPr/>
        </p:nvCxnSpPr>
        <p:spPr>
          <a:xfrm>
            <a:off x="4399709" y="6054407"/>
            <a:ext cx="664693" cy="1086247"/>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51BD063-2B5D-0FB0-345C-C5981938A0C3}"/>
              </a:ext>
            </a:extLst>
          </p:cNvPr>
          <p:cNvSpPr>
            <a:spLocks noChangeAspect="1"/>
          </p:cNvSpPr>
          <p:nvPr/>
        </p:nvSpPr>
        <p:spPr>
          <a:xfrm>
            <a:off x="866011" y="3213268"/>
            <a:ext cx="1605917" cy="1605917"/>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FD9D7B7-C96A-BE98-C10A-0C5E74F77BA3}"/>
              </a:ext>
            </a:extLst>
          </p:cNvPr>
          <p:cNvSpPr>
            <a:spLocks noChangeAspect="1"/>
          </p:cNvSpPr>
          <p:nvPr/>
        </p:nvSpPr>
        <p:spPr>
          <a:xfrm>
            <a:off x="4701028" y="3758937"/>
            <a:ext cx="274320" cy="27432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D93809D1-BBDD-105B-0336-8746E46C0F25}"/>
              </a:ext>
            </a:extLst>
          </p:cNvPr>
          <p:cNvSpPr txBox="1"/>
          <p:nvPr/>
        </p:nvSpPr>
        <p:spPr>
          <a:xfrm>
            <a:off x="1294332" y="2892198"/>
            <a:ext cx="812800" cy="276999"/>
          </a:xfrm>
          <a:prstGeom prst="rect">
            <a:avLst/>
          </a:prstGeom>
          <a:noFill/>
        </p:spPr>
        <p:txBody>
          <a:bodyPr wrap="square" rtlCol="0">
            <a:spAutoFit/>
          </a:bodyPr>
          <a:lstStyle/>
          <a:p>
            <a:r>
              <a:rPr lang="en-US" sz="1200" b="1">
                <a:latin typeface="Arial" panose="020B0604020202020204" pitchFamily="34" charset="0"/>
                <a:cs typeface="Arial" panose="020B0604020202020204" pitchFamily="34" charset="0"/>
              </a:rPr>
              <a:t>Group</a:t>
            </a:r>
          </a:p>
        </p:txBody>
      </p:sp>
      <p:sp>
        <p:nvSpPr>
          <p:cNvPr id="60" name="TextBox 59">
            <a:extLst>
              <a:ext uri="{FF2B5EF4-FFF2-40B4-BE49-F238E27FC236}">
                <a16:creationId xmlns:a16="http://schemas.microsoft.com/office/drawing/2014/main" id="{AD9EEF10-92AC-6FFC-0BDC-FF3BE475B62E}"/>
              </a:ext>
            </a:extLst>
          </p:cNvPr>
          <p:cNvSpPr txBox="1"/>
          <p:nvPr/>
        </p:nvSpPr>
        <p:spPr>
          <a:xfrm>
            <a:off x="4076719" y="778946"/>
            <a:ext cx="975868" cy="276999"/>
          </a:xfrm>
          <a:prstGeom prst="rect">
            <a:avLst/>
          </a:prstGeom>
          <a:noFill/>
        </p:spPr>
        <p:txBody>
          <a:bodyPr wrap="square" rtlCol="0">
            <a:spAutoFit/>
          </a:bodyPr>
          <a:lstStyle/>
          <a:p>
            <a:r>
              <a:rPr lang="en-US" sz="1200" b="1">
                <a:latin typeface="Arial" panose="020B0604020202020204" pitchFamily="34" charset="0"/>
                <a:cs typeface="Arial" panose="020B0604020202020204" pitchFamily="34" charset="0"/>
              </a:rPr>
              <a:t>Population</a:t>
            </a:r>
          </a:p>
        </p:txBody>
      </p:sp>
      <p:cxnSp>
        <p:nvCxnSpPr>
          <p:cNvPr id="62" name="Straight Connector 61">
            <a:extLst>
              <a:ext uri="{FF2B5EF4-FFF2-40B4-BE49-F238E27FC236}">
                <a16:creationId xmlns:a16="http://schemas.microsoft.com/office/drawing/2014/main" id="{C8AC9B67-FD0A-6398-A612-14AC8290676B}"/>
              </a:ext>
            </a:extLst>
          </p:cNvPr>
          <p:cNvCxnSpPr>
            <a:cxnSpLocks/>
            <a:stCxn id="83" idx="1"/>
            <a:endCxn id="249" idx="2"/>
          </p:cNvCxnSpPr>
          <p:nvPr/>
        </p:nvCxnSpPr>
        <p:spPr>
          <a:xfrm flipV="1">
            <a:off x="1905378" y="4342288"/>
            <a:ext cx="190250" cy="1060168"/>
          </a:xfrm>
          <a:prstGeom prst="line">
            <a:avLst/>
          </a:prstGeom>
          <a:ln w="9525">
            <a:solidFill>
              <a:srgbClr val="1C4AED"/>
            </a:solidFill>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75A908C-E9B1-0D57-4075-6EB865EFAE81}"/>
              </a:ext>
            </a:extLst>
          </p:cNvPr>
          <p:cNvCxnSpPr>
            <a:cxnSpLocks/>
            <a:stCxn id="50" idx="0"/>
            <a:endCxn id="26" idx="1"/>
          </p:cNvCxnSpPr>
          <p:nvPr/>
        </p:nvCxnSpPr>
        <p:spPr>
          <a:xfrm flipV="1">
            <a:off x="1668970" y="3078557"/>
            <a:ext cx="2996694" cy="134711"/>
          </a:xfrm>
          <a:prstGeom prst="line">
            <a:avLst/>
          </a:prstGeom>
          <a:ln w="9525">
            <a:solidFill>
              <a:srgbClr val="1C4AED"/>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2EA3374-F0D5-4294-2273-B4356407950A}"/>
              </a:ext>
            </a:extLst>
          </p:cNvPr>
          <p:cNvCxnSpPr>
            <a:cxnSpLocks/>
            <a:stCxn id="50" idx="5"/>
            <a:endCxn id="26" idx="4"/>
          </p:cNvCxnSpPr>
          <p:nvPr/>
        </p:nvCxnSpPr>
        <p:spPr>
          <a:xfrm flipV="1">
            <a:off x="2236747" y="3158051"/>
            <a:ext cx="2461845" cy="1425953"/>
          </a:xfrm>
          <a:prstGeom prst="line">
            <a:avLst/>
          </a:prstGeom>
          <a:ln w="9525">
            <a:solidFill>
              <a:srgbClr val="1C4AED"/>
            </a:solidFill>
            <a:prstDash val="sysDash"/>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A9719489-A57F-8E97-47ED-BA93AF8189BC}"/>
              </a:ext>
            </a:extLst>
          </p:cNvPr>
          <p:cNvSpPr txBox="1"/>
          <p:nvPr/>
        </p:nvSpPr>
        <p:spPr>
          <a:xfrm>
            <a:off x="642230" y="4844647"/>
            <a:ext cx="1263148" cy="584775"/>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Random pairing of proposers (P) and responders (R) to play the UG</a:t>
            </a:r>
          </a:p>
        </p:txBody>
      </p:sp>
      <p:sp>
        <p:nvSpPr>
          <p:cNvPr id="73" name="TextBox 72">
            <a:extLst>
              <a:ext uri="{FF2B5EF4-FFF2-40B4-BE49-F238E27FC236}">
                <a16:creationId xmlns:a16="http://schemas.microsoft.com/office/drawing/2014/main" id="{EDD640B1-0599-40A5-25F2-4E9E71253231}"/>
              </a:ext>
            </a:extLst>
          </p:cNvPr>
          <p:cNvSpPr txBox="1"/>
          <p:nvPr/>
        </p:nvSpPr>
        <p:spPr>
          <a:xfrm>
            <a:off x="2973538" y="8098606"/>
            <a:ext cx="2468822" cy="276999"/>
          </a:xfrm>
          <a:prstGeom prst="rect">
            <a:avLst/>
          </a:prstGeom>
          <a:noFill/>
        </p:spPr>
        <p:txBody>
          <a:bodyPr wrap="square" rtlCol="0">
            <a:spAutoFit/>
          </a:bodyPr>
          <a:lstStyle/>
          <a:p>
            <a:pPr algn="ctr"/>
            <a:r>
              <a:rPr lang="en-US" sz="1200" b="1">
                <a:latin typeface="Arial" panose="020B0604020202020204" pitchFamily="34" charset="0"/>
                <a:cs typeface="Arial" panose="020B0604020202020204" pitchFamily="34" charset="0"/>
              </a:rPr>
              <a:t>Agent reproductive cycle</a:t>
            </a:r>
          </a:p>
        </p:txBody>
      </p:sp>
      <p:cxnSp>
        <p:nvCxnSpPr>
          <p:cNvPr id="75" name="Straight Connector 74">
            <a:extLst>
              <a:ext uri="{FF2B5EF4-FFF2-40B4-BE49-F238E27FC236}">
                <a16:creationId xmlns:a16="http://schemas.microsoft.com/office/drawing/2014/main" id="{632DB942-70CE-492B-4774-E5189976A783}"/>
              </a:ext>
            </a:extLst>
          </p:cNvPr>
          <p:cNvCxnSpPr>
            <a:cxnSpLocks/>
            <a:stCxn id="83" idx="0"/>
            <a:endCxn id="249" idx="0"/>
          </p:cNvCxnSpPr>
          <p:nvPr/>
        </p:nvCxnSpPr>
        <p:spPr>
          <a:xfrm flipH="1" flipV="1">
            <a:off x="2187068" y="4250848"/>
            <a:ext cx="817493" cy="696311"/>
          </a:xfrm>
          <a:prstGeom prst="line">
            <a:avLst/>
          </a:prstGeom>
          <a:ln w="9525">
            <a:solidFill>
              <a:srgbClr val="1C4AED"/>
            </a:solidFill>
            <a:prstDash val="sysDash"/>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50E2A19-3597-B275-E604-0EFAAC15C724}"/>
              </a:ext>
            </a:extLst>
          </p:cNvPr>
          <p:cNvCxnSpPr>
            <a:cxnSpLocks/>
            <a:stCxn id="78" idx="4"/>
            <a:endCxn id="89" idx="1"/>
          </p:cNvCxnSpPr>
          <p:nvPr/>
        </p:nvCxnSpPr>
        <p:spPr>
          <a:xfrm>
            <a:off x="2259889" y="6741757"/>
            <a:ext cx="304171" cy="16571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C167AD99-6446-DF23-F361-359964B517DE}"/>
              </a:ext>
            </a:extLst>
          </p:cNvPr>
          <p:cNvCxnSpPr>
            <a:cxnSpLocks/>
            <a:stCxn id="89" idx="7"/>
            <a:endCxn id="87" idx="4"/>
          </p:cNvCxnSpPr>
          <p:nvPr/>
        </p:nvCxnSpPr>
        <p:spPr>
          <a:xfrm flipV="1">
            <a:off x="3469270" y="6694487"/>
            <a:ext cx="290359" cy="21298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DAED3300-0A32-2B1B-25FA-CA1A5DBC4A4C}"/>
              </a:ext>
            </a:extLst>
          </p:cNvPr>
          <p:cNvCxnSpPr>
            <a:cxnSpLocks/>
            <a:stCxn id="87" idx="2"/>
            <a:endCxn id="78" idx="6"/>
          </p:cNvCxnSpPr>
          <p:nvPr/>
        </p:nvCxnSpPr>
        <p:spPr>
          <a:xfrm flipH="1">
            <a:off x="2867319" y="6054407"/>
            <a:ext cx="252230" cy="16206"/>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EA4A713C-7FBC-A300-762D-C2CB65824CB1}"/>
              </a:ext>
            </a:extLst>
          </p:cNvPr>
          <p:cNvCxnSpPr>
            <a:cxnSpLocks/>
            <a:stCxn id="58" idx="0"/>
            <a:endCxn id="26" idx="4"/>
          </p:cNvCxnSpPr>
          <p:nvPr/>
        </p:nvCxnSpPr>
        <p:spPr>
          <a:xfrm flipH="1" flipV="1">
            <a:off x="4698592" y="3158051"/>
            <a:ext cx="139596" cy="600886"/>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1311DF3C-0D82-01D8-3F48-1E22742DEB0A}"/>
              </a:ext>
            </a:extLst>
          </p:cNvPr>
          <p:cNvGrpSpPr/>
          <p:nvPr/>
        </p:nvGrpSpPr>
        <p:grpSpPr>
          <a:xfrm>
            <a:off x="621956" y="1465861"/>
            <a:ext cx="2248740" cy="879409"/>
            <a:chOff x="-242118" y="965213"/>
            <a:chExt cx="2248740" cy="879409"/>
          </a:xfrm>
        </p:grpSpPr>
        <p:sp>
          <p:nvSpPr>
            <p:cNvPr id="204" name="Rectangle 203">
              <a:extLst>
                <a:ext uri="{FF2B5EF4-FFF2-40B4-BE49-F238E27FC236}">
                  <a16:creationId xmlns:a16="http://schemas.microsoft.com/office/drawing/2014/main" id="{9FB96A5C-9989-A7CD-3263-3989A1D94CC2}"/>
                </a:ext>
              </a:extLst>
            </p:cNvPr>
            <p:cNvSpPr/>
            <p:nvPr/>
          </p:nvSpPr>
          <p:spPr>
            <a:xfrm>
              <a:off x="-242118" y="965213"/>
              <a:ext cx="2164077" cy="879409"/>
            </a:xfrm>
            <a:prstGeom prst="rect">
              <a:avLst/>
            </a:prstGeom>
            <a:no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TextBox 205">
              <a:extLst>
                <a:ext uri="{FF2B5EF4-FFF2-40B4-BE49-F238E27FC236}">
                  <a16:creationId xmlns:a16="http://schemas.microsoft.com/office/drawing/2014/main" id="{4A7B4519-CC02-6F8C-4312-56A7568A46E6}"/>
                </a:ext>
              </a:extLst>
            </p:cNvPr>
            <p:cNvSpPr txBox="1"/>
            <p:nvPr/>
          </p:nvSpPr>
          <p:spPr>
            <a:xfrm>
              <a:off x="-73844" y="968090"/>
              <a:ext cx="2080466" cy="814005"/>
            </a:xfrm>
            <a:prstGeom prst="rect">
              <a:avLst/>
            </a:prstGeom>
            <a:noFill/>
          </p:spPr>
          <p:txBody>
            <a:bodyPr wrap="square" rtlCol="0">
              <a:spAutoFit/>
            </a:bodyPr>
            <a:lstStyle/>
            <a:p>
              <a:r>
                <a:rPr lang="en-US" sz="1000">
                  <a:latin typeface="Arial" panose="020B0604020202020204" pitchFamily="34" charset="0"/>
                  <a:cs typeface="Arial" panose="020B0604020202020204" pitchFamily="34" charset="0"/>
                </a:rPr>
                <a:t>         Group: Mean Offer</a:t>
              </a:r>
            </a:p>
            <a:p>
              <a:pPr>
                <a:lnSpc>
                  <a:spcPct val="200000"/>
                </a:lnSpc>
              </a:pPr>
              <a:r>
                <a:rPr lang="en-US" sz="1000">
                  <a:latin typeface="Arial" panose="020B0604020202020204" pitchFamily="34" charset="0"/>
                  <a:cs typeface="Arial" panose="020B0604020202020204" pitchFamily="34" charset="0"/>
                </a:rPr>
                <a:t>≤ 0 &lt;       ≤.1 &lt;      ≤ .2 &lt;      ≤ .3 &lt;</a:t>
              </a:r>
            </a:p>
            <a:p>
              <a:pPr>
                <a:lnSpc>
                  <a:spcPct val="200000"/>
                </a:lnSpc>
              </a:pPr>
              <a:r>
                <a:rPr lang="en-US" sz="1000">
                  <a:latin typeface="Arial" panose="020B0604020202020204" pitchFamily="34" charset="0"/>
                  <a:cs typeface="Arial" panose="020B0604020202020204" pitchFamily="34" charset="0"/>
                </a:rPr>
                <a:t>≤ .4 &lt;     ≤ .5 &lt;      ≤ .6 &lt;      ≤ 1</a:t>
              </a:r>
            </a:p>
          </p:txBody>
        </p:sp>
        <p:sp>
          <p:nvSpPr>
            <p:cNvPr id="207" name="Oval 206">
              <a:extLst>
                <a:ext uri="{FF2B5EF4-FFF2-40B4-BE49-F238E27FC236}">
                  <a16:creationId xmlns:a16="http://schemas.microsoft.com/office/drawing/2014/main" id="{DAC07F4B-566B-E172-5858-054039B58E21}"/>
                </a:ext>
              </a:extLst>
            </p:cNvPr>
            <p:cNvSpPr/>
            <p:nvPr/>
          </p:nvSpPr>
          <p:spPr>
            <a:xfrm>
              <a:off x="-156393" y="1284879"/>
              <a:ext cx="120650" cy="1206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a:extLst>
                <a:ext uri="{FF2B5EF4-FFF2-40B4-BE49-F238E27FC236}">
                  <a16:creationId xmlns:a16="http://schemas.microsoft.com/office/drawing/2014/main" id="{ACE32DB7-5059-FEF9-732B-978C04FB141C}"/>
                </a:ext>
              </a:extLst>
            </p:cNvPr>
            <p:cNvSpPr/>
            <p:nvPr/>
          </p:nvSpPr>
          <p:spPr>
            <a:xfrm>
              <a:off x="357957" y="1284879"/>
              <a:ext cx="120650" cy="1206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1BA76D79-DB2E-D5F0-078A-604D11E2BD66}"/>
                </a:ext>
              </a:extLst>
            </p:cNvPr>
            <p:cNvSpPr/>
            <p:nvPr/>
          </p:nvSpPr>
          <p:spPr>
            <a:xfrm>
              <a:off x="878657" y="1284879"/>
              <a:ext cx="120650" cy="12065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a:extLst>
                <a:ext uri="{FF2B5EF4-FFF2-40B4-BE49-F238E27FC236}">
                  <a16:creationId xmlns:a16="http://schemas.microsoft.com/office/drawing/2014/main" id="{C0FB193D-AA9D-6173-607F-FC5D4A793808}"/>
                </a:ext>
              </a:extLst>
            </p:cNvPr>
            <p:cNvSpPr/>
            <p:nvPr/>
          </p:nvSpPr>
          <p:spPr>
            <a:xfrm>
              <a:off x="1399357" y="1284879"/>
              <a:ext cx="120650" cy="120650"/>
            </a:xfrm>
            <a:prstGeom prst="ellipse">
              <a:avLst/>
            </a:prstGeom>
            <a:solidFill>
              <a:srgbClr val="F73D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7638C0D1-7311-8324-6321-9D0E521C3777}"/>
                </a:ext>
              </a:extLst>
            </p:cNvPr>
            <p:cNvSpPr/>
            <p:nvPr/>
          </p:nvSpPr>
          <p:spPr>
            <a:xfrm>
              <a:off x="-152167" y="1598158"/>
              <a:ext cx="120650" cy="120650"/>
            </a:xfrm>
            <a:prstGeom prst="ellipse">
              <a:avLst/>
            </a:prstGeom>
            <a:solidFill>
              <a:srgbClr val="00D1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FF9FACF3-B457-EAE5-6DEE-EA4F257ED9A9}"/>
                </a:ext>
              </a:extLst>
            </p:cNvPr>
            <p:cNvSpPr/>
            <p:nvPr/>
          </p:nvSpPr>
          <p:spPr>
            <a:xfrm>
              <a:off x="359008" y="1589685"/>
              <a:ext cx="120650" cy="120650"/>
            </a:xfrm>
            <a:prstGeom prst="ellipse">
              <a:avLst/>
            </a:prstGeom>
            <a:solidFill>
              <a:srgbClr val="005E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C06045FA-BBF6-F990-35E6-782E2DECCA9C}"/>
                </a:ext>
              </a:extLst>
            </p:cNvPr>
            <p:cNvSpPr/>
            <p:nvPr/>
          </p:nvSpPr>
          <p:spPr>
            <a:xfrm>
              <a:off x="1394060" y="1598152"/>
              <a:ext cx="120650" cy="12065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CDB9DF29-EED2-9F08-BE8A-299E2C832823}"/>
                </a:ext>
              </a:extLst>
            </p:cNvPr>
            <p:cNvSpPr/>
            <p:nvPr/>
          </p:nvSpPr>
          <p:spPr>
            <a:xfrm>
              <a:off x="875474" y="1598151"/>
              <a:ext cx="120650" cy="120650"/>
            </a:xfrm>
            <a:prstGeom prst="ellipse">
              <a:avLst/>
            </a:prstGeom>
            <a:solidFill>
              <a:srgbClr val="00D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6" name="Group 225">
            <a:extLst>
              <a:ext uri="{FF2B5EF4-FFF2-40B4-BE49-F238E27FC236}">
                <a16:creationId xmlns:a16="http://schemas.microsoft.com/office/drawing/2014/main" id="{8AF37B2B-8394-8B5C-1DCD-AEFBB70AA2AB}"/>
              </a:ext>
            </a:extLst>
          </p:cNvPr>
          <p:cNvGrpSpPr/>
          <p:nvPr/>
        </p:nvGrpSpPr>
        <p:grpSpPr>
          <a:xfrm>
            <a:off x="1514474" y="3329842"/>
            <a:ext cx="577441" cy="335048"/>
            <a:chOff x="1514474" y="3329842"/>
            <a:chExt cx="577441" cy="335048"/>
          </a:xfrm>
        </p:grpSpPr>
        <p:grpSp>
          <p:nvGrpSpPr>
            <p:cNvPr id="222" name="Group 221">
              <a:extLst>
                <a:ext uri="{FF2B5EF4-FFF2-40B4-BE49-F238E27FC236}">
                  <a16:creationId xmlns:a16="http://schemas.microsoft.com/office/drawing/2014/main" id="{93879D43-0686-EE5D-1D18-8F0DFC77A9E4}"/>
                </a:ext>
              </a:extLst>
            </p:cNvPr>
            <p:cNvGrpSpPr/>
            <p:nvPr/>
          </p:nvGrpSpPr>
          <p:grpSpPr>
            <a:xfrm>
              <a:off x="1817594" y="3383279"/>
              <a:ext cx="274321" cy="230832"/>
              <a:chOff x="1817594" y="3383279"/>
              <a:chExt cx="274321" cy="230832"/>
            </a:xfrm>
          </p:grpSpPr>
          <p:sp>
            <p:nvSpPr>
              <p:cNvPr id="53" name="Oval 52">
                <a:extLst>
                  <a:ext uri="{FF2B5EF4-FFF2-40B4-BE49-F238E27FC236}">
                    <a16:creationId xmlns:a16="http://schemas.microsoft.com/office/drawing/2014/main" id="{CAE08C03-203B-48EB-7918-47692D5564B4}"/>
                  </a:ext>
                </a:extLst>
              </p:cNvPr>
              <p:cNvSpPr>
                <a:spLocks noChangeAspect="1"/>
              </p:cNvSpPr>
              <p:nvPr/>
            </p:nvSpPr>
            <p:spPr>
              <a:xfrm>
                <a:off x="1853006" y="3406709"/>
                <a:ext cx="182880"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375D6C1F-9A12-CC59-62C6-732497371EA1}"/>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sp>
          <p:nvSpPr>
            <p:cNvPr id="69" name="Oval 68">
              <a:extLst>
                <a:ext uri="{FF2B5EF4-FFF2-40B4-BE49-F238E27FC236}">
                  <a16:creationId xmlns:a16="http://schemas.microsoft.com/office/drawing/2014/main" id="{924F62B5-B292-8E9F-382A-7371501AF25F}"/>
                </a:ext>
              </a:extLst>
            </p:cNvPr>
            <p:cNvSpPr/>
            <p:nvPr/>
          </p:nvSpPr>
          <p:spPr>
            <a:xfrm>
              <a:off x="1514474" y="3329842"/>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3" name="Group 222">
              <a:extLst>
                <a:ext uri="{FF2B5EF4-FFF2-40B4-BE49-F238E27FC236}">
                  <a16:creationId xmlns:a16="http://schemas.microsoft.com/office/drawing/2014/main" id="{3724509A-E1AE-C140-F128-182335B5FECB}"/>
                </a:ext>
              </a:extLst>
            </p:cNvPr>
            <p:cNvGrpSpPr/>
            <p:nvPr/>
          </p:nvGrpSpPr>
          <p:grpSpPr>
            <a:xfrm>
              <a:off x="1549031" y="3386762"/>
              <a:ext cx="274321" cy="230832"/>
              <a:chOff x="1817594" y="3383279"/>
              <a:chExt cx="274321" cy="230832"/>
            </a:xfrm>
          </p:grpSpPr>
          <p:sp>
            <p:nvSpPr>
              <p:cNvPr id="224" name="Oval 223">
                <a:extLst>
                  <a:ext uri="{FF2B5EF4-FFF2-40B4-BE49-F238E27FC236}">
                    <a16:creationId xmlns:a16="http://schemas.microsoft.com/office/drawing/2014/main" id="{475FD542-614C-6763-587C-C59272C03B8A}"/>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TextBox 224">
                <a:extLst>
                  <a:ext uri="{FF2B5EF4-FFF2-40B4-BE49-F238E27FC236}">
                    <a16:creationId xmlns:a16="http://schemas.microsoft.com/office/drawing/2014/main" id="{D25E8B10-8ADD-9C21-FF42-52BFD3C8CD3C}"/>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grpSp>
      <p:grpSp>
        <p:nvGrpSpPr>
          <p:cNvPr id="227" name="Group 226">
            <a:extLst>
              <a:ext uri="{FF2B5EF4-FFF2-40B4-BE49-F238E27FC236}">
                <a16:creationId xmlns:a16="http://schemas.microsoft.com/office/drawing/2014/main" id="{FB0119B6-103A-C78E-6605-C5CAF7D201BA}"/>
              </a:ext>
            </a:extLst>
          </p:cNvPr>
          <p:cNvGrpSpPr/>
          <p:nvPr/>
        </p:nvGrpSpPr>
        <p:grpSpPr>
          <a:xfrm>
            <a:off x="980086" y="3567473"/>
            <a:ext cx="577441" cy="335048"/>
            <a:chOff x="1514474" y="3329842"/>
            <a:chExt cx="577441" cy="335048"/>
          </a:xfrm>
        </p:grpSpPr>
        <p:grpSp>
          <p:nvGrpSpPr>
            <p:cNvPr id="228" name="Group 227">
              <a:extLst>
                <a:ext uri="{FF2B5EF4-FFF2-40B4-BE49-F238E27FC236}">
                  <a16:creationId xmlns:a16="http://schemas.microsoft.com/office/drawing/2014/main" id="{D1D4A2AA-9A23-9002-799F-2C664C43B4CE}"/>
                </a:ext>
              </a:extLst>
            </p:cNvPr>
            <p:cNvGrpSpPr/>
            <p:nvPr/>
          </p:nvGrpSpPr>
          <p:grpSpPr>
            <a:xfrm>
              <a:off x="1817594" y="3383279"/>
              <a:ext cx="274321" cy="230832"/>
              <a:chOff x="1817594" y="3383279"/>
              <a:chExt cx="274321" cy="230832"/>
            </a:xfrm>
          </p:grpSpPr>
          <p:sp>
            <p:nvSpPr>
              <p:cNvPr id="233" name="Oval 232">
                <a:extLst>
                  <a:ext uri="{FF2B5EF4-FFF2-40B4-BE49-F238E27FC236}">
                    <a16:creationId xmlns:a16="http://schemas.microsoft.com/office/drawing/2014/main" id="{35CEDEEB-6030-7D71-7878-BBC3268D9F93}"/>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TextBox 233">
                <a:extLst>
                  <a:ext uri="{FF2B5EF4-FFF2-40B4-BE49-F238E27FC236}">
                    <a16:creationId xmlns:a16="http://schemas.microsoft.com/office/drawing/2014/main" id="{A7E83C2C-73FA-DB7E-8928-DCBB2231C7FE}"/>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sp>
          <p:nvSpPr>
            <p:cNvPr id="229" name="Oval 228">
              <a:extLst>
                <a:ext uri="{FF2B5EF4-FFF2-40B4-BE49-F238E27FC236}">
                  <a16:creationId xmlns:a16="http://schemas.microsoft.com/office/drawing/2014/main" id="{E2808EDC-8DBE-2C51-201F-F3539360FA5A}"/>
                </a:ext>
              </a:extLst>
            </p:cNvPr>
            <p:cNvSpPr/>
            <p:nvPr/>
          </p:nvSpPr>
          <p:spPr>
            <a:xfrm>
              <a:off x="1514474" y="3329842"/>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0" name="Group 229">
              <a:extLst>
                <a:ext uri="{FF2B5EF4-FFF2-40B4-BE49-F238E27FC236}">
                  <a16:creationId xmlns:a16="http://schemas.microsoft.com/office/drawing/2014/main" id="{21F22F6B-2CEF-B74D-C553-46752DF41E61}"/>
                </a:ext>
              </a:extLst>
            </p:cNvPr>
            <p:cNvGrpSpPr/>
            <p:nvPr/>
          </p:nvGrpSpPr>
          <p:grpSpPr>
            <a:xfrm>
              <a:off x="1549031" y="3386762"/>
              <a:ext cx="274321" cy="230832"/>
              <a:chOff x="1817594" y="3383279"/>
              <a:chExt cx="274321" cy="230832"/>
            </a:xfrm>
          </p:grpSpPr>
          <p:sp>
            <p:nvSpPr>
              <p:cNvPr id="231" name="Oval 230">
                <a:extLst>
                  <a:ext uri="{FF2B5EF4-FFF2-40B4-BE49-F238E27FC236}">
                    <a16:creationId xmlns:a16="http://schemas.microsoft.com/office/drawing/2014/main" id="{CE86A632-A910-4341-88AC-26C7DD0279C6}"/>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TextBox 231">
                <a:extLst>
                  <a:ext uri="{FF2B5EF4-FFF2-40B4-BE49-F238E27FC236}">
                    <a16:creationId xmlns:a16="http://schemas.microsoft.com/office/drawing/2014/main" id="{2EEF834A-40CD-920C-73F0-F671DD3526A0}"/>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grpSp>
      <p:sp>
        <p:nvSpPr>
          <p:cNvPr id="241" name="Oval 240">
            <a:extLst>
              <a:ext uri="{FF2B5EF4-FFF2-40B4-BE49-F238E27FC236}">
                <a16:creationId xmlns:a16="http://schemas.microsoft.com/office/drawing/2014/main" id="{6DA11EA3-D90B-D0B4-ADDB-735B3C051B6E}"/>
              </a:ext>
            </a:extLst>
          </p:cNvPr>
          <p:cNvSpPr>
            <a:spLocks noChangeAspect="1"/>
          </p:cNvSpPr>
          <p:nvPr/>
        </p:nvSpPr>
        <p:spPr>
          <a:xfrm>
            <a:off x="2054440" y="3766267"/>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TextBox 241">
            <a:extLst>
              <a:ext uri="{FF2B5EF4-FFF2-40B4-BE49-F238E27FC236}">
                <a16:creationId xmlns:a16="http://schemas.microsoft.com/office/drawing/2014/main" id="{A94C4FFA-1648-E82A-6E5B-167BC4E52ECD}"/>
              </a:ext>
            </a:extLst>
          </p:cNvPr>
          <p:cNvSpPr txBox="1"/>
          <p:nvPr/>
        </p:nvSpPr>
        <p:spPr>
          <a:xfrm>
            <a:off x="2019028" y="3742837"/>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sp>
        <p:nvSpPr>
          <p:cNvPr id="307" name="TextBox 306">
            <a:extLst>
              <a:ext uri="{FF2B5EF4-FFF2-40B4-BE49-F238E27FC236}">
                <a16:creationId xmlns:a16="http://schemas.microsoft.com/office/drawing/2014/main" id="{55727437-59EC-6019-F84C-AB2BEE976BB5}"/>
              </a:ext>
            </a:extLst>
          </p:cNvPr>
          <p:cNvSpPr txBox="1"/>
          <p:nvPr/>
        </p:nvSpPr>
        <p:spPr>
          <a:xfrm>
            <a:off x="4704180" y="3776682"/>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A</a:t>
            </a:r>
          </a:p>
        </p:txBody>
      </p:sp>
      <p:sp>
        <p:nvSpPr>
          <p:cNvPr id="237" name="Oval 236">
            <a:extLst>
              <a:ext uri="{FF2B5EF4-FFF2-40B4-BE49-F238E27FC236}">
                <a16:creationId xmlns:a16="http://schemas.microsoft.com/office/drawing/2014/main" id="{DA474FB5-9109-3239-AA38-B9A0F3EBA2CC}"/>
              </a:ext>
            </a:extLst>
          </p:cNvPr>
          <p:cNvSpPr/>
          <p:nvPr/>
        </p:nvSpPr>
        <p:spPr>
          <a:xfrm>
            <a:off x="1715908" y="3689400"/>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8" name="Group 237">
            <a:extLst>
              <a:ext uri="{FF2B5EF4-FFF2-40B4-BE49-F238E27FC236}">
                <a16:creationId xmlns:a16="http://schemas.microsoft.com/office/drawing/2014/main" id="{A2ED1F6B-2B61-B4B0-AB58-37B59927BBB8}"/>
              </a:ext>
            </a:extLst>
          </p:cNvPr>
          <p:cNvGrpSpPr/>
          <p:nvPr/>
        </p:nvGrpSpPr>
        <p:grpSpPr>
          <a:xfrm>
            <a:off x="1750465" y="3746320"/>
            <a:ext cx="274321" cy="230832"/>
            <a:chOff x="1817594" y="3383279"/>
            <a:chExt cx="274321" cy="230832"/>
          </a:xfrm>
        </p:grpSpPr>
        <p:sp>
          <p:nvSpPr>
            <p:cNvPr id="239" name="Oval 238">
              <a:extLst>
                <a:ext uri="{FF2B5EF4-FFF2-40B4-BE49-F238E27FC236}">
                  <a16:creationId xmlns:a16="http://schemas.microsoft.com/office/drawing/2014/main" id="{9090FC88-9905-7402-4EE0-B792B7696BCB}"/>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TextBox 239">
              <a:extLst>
                <a:ext uri="{FF2B5EF4-FFF2-40B4-BE49-F238E27FC236}">
                  <a16:creationId xmlns:a16="http://schemas.microsoft.com/office/drawing/2014/main" id="{F13F15AA-F65C-94FE-36F0-B6C0D6617B0E}"/>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sp>
        <p:nvSpPr>
          <p:cNvPr id="245" name="Oval 244">
            <a:extLst>
              <a:ext uri="{FF2B5EF4-FFF2-40B4-BE49-F238E27FC236}">
                <a16:creationId xmlns:a16="http://schemas.microsoft.com/office/drawing/2014/main" id="{BA99A809-9E32-2E14-7C5B-104F4D4F14DF}"/>
              </a:ext>
            </a:extLst>
          </p:cNvPr>
          <p:cNvSpPr/>
          <p:nvPr/>
        </p:nvSpPr>
        <p:spPr>
          <a:xfrm>
            <a:off x="1757096" y="4173981"/>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6" name="Group 245">
            <a:extLst>
              <a:ext uri="{FF2B5EF4-FFF2-40B4-BE49-F238E27FC236}">
                <a16:creationId xmlns:a16="http://schemas.microsoft.com/office/drawing/2014/main" id="{4378A1CF-67EC-47D2-BD40-16F0F7C3223B}"/>
              </a:ext>
            </a:extLst>
          </p:cNvPr>
          <p:cNvGrpSpPr/>
          <p:nvPr/>
        </p:nvGrpSpPr>
        <p:grpSpPr>
          <a:xfrm>
            <a:off x="1791653" y="4230901"/>
            <a:ext cx="274321" cy="230832"/>
            <a:chOff x="1817594" y="3383279"/>
            <a:chExt cx="274321" cy="230832"/>
          </a:xfrm>
        </p:grpSpPr>
        <p:sp>
          <p:nvSpPr>
            <p:cNvPr id="247" name="Oval 246">
              <a:extLst>
                <a:ext uri="{FF2B5EF4-FFF2-40B4-BE49-F238E27FC236}">
                  <a16:creationId xmlns:a16="http://schemas.microsoft.com/office/drawing/2014/main" id="{EE867F32-62C4-344C-FC8F-4BF6F556F2D3}"/>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TextBox 247">
              <a:extLst>
                <a:ext uri="{FF2B5EF4-FFF2-40B4-BE49-F238E27FC236}">
                  <a16:creationId xmlns:a16="http://schemas.microsoft.com/office/drawing/2014/main" id="{BEC5B24A-0180-DF19-A3ED-6EC4FB86B4B0}"/>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grpSp>
        <p:nvGrpSpPr>
          <p:cNvPr id="251" name="Group 250">
            <a:extLst>
              <a:ext uri="{FF2B5EF4-FFF2-40B4-BE49-F238E27FC236}">
                <a16:creationId xmlns:a16="http://schemas.microsoft.com/office/drawing/2014/main" id="{4791A1B5-0548-EA46-2CE3-AD697E274E1F}"/>
              </a:ext>
            </a:extLst>
          </p:cNvPr>
          <p:cNvGrpSpPr/>
          <p:nvPr/>
        </p:nvGrpSpPr>
        <p:grpSpPr>
          <a:xfrm>
            <a:off x="1145678" y="3977108"/>
            <a:ext cx="577441" cy="335048"/>
            <a:chOff x="1514474" y="3329842"/>
            <a:chExt cx="577441" cy="335048"/>
          </a:xfrm>
        </p:grpSpPr>
        <p:grpSp>
          <p:nvGrpSpPr>
            <p:cNvPr id="252" name="Group 251">
              <a:extLst>
                <a:ext uri="{FF2B5EF4-FFF2-40B4-BE49-F238E27FC236}">
                  <a16:creationId xmlns:a16="http://schemas.microsoft.com/office/drawing/2014/main" id="{DDF5778C-AB80-CBDB-4018-104E8DA3B267}"/>
                </a:ext>
              </a:extLst>
            </p:cNvPr>
            <p:cNvGrpSpPr/>
            <p:nvPr/>
          </p:nvGrpSpPr>
          <p:grpSpPr>
            <a:xfrm>
              <a:off x="1817594" y="3383279"/>
              <a:ext cx="274321" cy="230832"/>
              <a:chOff x="1817594" y="3383279"/>
              <a:chExt cx="274321" cy="230832"/>
            </a:xfrm>
          </p:grpSpPr>
          <p:sp>
            <p:nvSpPr>
              <p:cNvPr id="257" name="Oval 256">
                <a:extLst>
                  <a:ext uri="{FF2B5EF4-FFF2-40B4-BE49-F238E27FC236}">
                    <a16:creationId xmlns:a16="http://schemas.microsoft.com/office/drawing/2014/main" id="{A86F3C9E-A0FD-F5C2-8C5A-5F3BDFE4F21E}"/>
                  </a:ext>
                </a:extLst>
              </p:cNvPr>
              <p:cNvSpPr>
                <a:spLocks noChangeAspect="1"/>
              </p:cNvSpPr>
              <p:nvPr/>
            </p:nvSpPr>
            <p:spPr>
              <a:xfrm>
                <a:off x="1853006" y="3406709"/>
                <a:ext cx="182880" cy="182880"/>
              </a:xfrm>
              <a:prstGeom prst="ellipse">
                <a:avLst/>
              </a:prstGeom>
              <a:solidFill>
                <a:srgbClr val="F73DEB"/>
              </a:solidFill>
              <a:ln>
                <a:solidFill>
                  <a:srgbClr val="F73D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DB02B12B-EFC5-CB0B-78CB-6082DAF1D39F}"/>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sp>
          <p:nvSpPr>
            <p:cNvPr id="253" name="Oval 252">
              <a:extLst>
                <a:ext uri="{FF2B5EF4-FFF2-40B4-BE49-F238E27FC236}">
                  <a16:creationId xmlns:a16="http://schemas.microsoft.com/office/drawing/2014/main" id="{DF739222-A18F-C7A4-0825-27B4CE119133}"/>
                </a:ext>
              </a:extLst>
            </p:cNvPr>
            <p:cNvSpPr/>
            <p:nvPr/>
          </p:nvSpPr>
          <p:spPr>
            <a:xfrm>
              <a:off x="1514474" y="3329842"/>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4" name="Group 253">
              <a:extLst>
                <a:ext uri="{FF2B5EF4-FFF2-40B4-BE49-F238E27FC236}">
                  <a16:creationId xmlns:a16="http://schemas.microsoft.com/office/drawing/2014/main" id="{03971F7D-DDBD-DA24-EE60-AFA4F8D4FC03}"/>
                </a:ext>
              </a:extLst>
            </p:cNvPr>
            <p:cNvGrpSpPr/>
            <p:nvPr/>
          </p:nvGrpSpPr>
          <p:grpSpPr>
            <a:xfrm>
              <a:off x="1549031" y="3386762"/>
              <a:ext cx="274321" cy="230832"/>
              <a:chOff x="1817594" y="3383279"/>
              <a:chExt cx="274321" cy="230832"/>
            </a:xfrm>
          </p:grpSpPr>
          <p:sp>
            <p:nvSpPr>
              <p:cNvPr id="255" name="Oval 254">
                <a:extLst>
                  <a:ext uri="{FF2B5EF4-FFF2-40B4-BE49-F238E27FC236}">
                    <a16:creationId xmlns:a16="http://schemas.microsoft.com/office/drawing/2014/main" id="{1032FD40-7173-E144-42FE-0CE31667F7C7}"/>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TextBox 255">
                <a:extLst>
                  <a:ext uri="{FF2B5EF4-FFF2-40B4-BE49-F238E27FC236}">
                    <a16:creationId xmlns:a16="http://schemas.microsoft.com/office/drawing/2014/main" id="{38BBC864-25C7-43D2-1A97-FFBBF8252129}"/>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grpSp>
      <p:grpSp>
        <p:nvGrpSpPr>
          <p:cNvPr id="259" name="Group 258">
            <a:extLst>
              <a:ext uri="{FF2B5EF4-FFF2-40B4-BE49-F238E27FC236}">
                <a16:creationId xmlns:a16="http://schemas.microsoft.com/office/drawing/2014/main" id="{5E06CA26-3FE0-D787-90A2-916186FE48EE}"/>
              </a:ext>
            </a:extLst>
          </p:cNvPr>
          <p:cNvGrpSpPr/>
          <p:nvPr/>
        </p:nvGrpSpPr>
        <p:grpSpPr>
          <a:xfrm>
            <a:off x="1069351" y="4320508"/>
            <a:ext cx="577441" cy="335048"/>
            <a:chOff x="1514474" y="3329842"/>
            <a:chExt cx="577441" cy="335048"/>
          </a:xfrm>
        </p:grpSpPr>
        <p:grpSp>
          <p:nvGrpSpPr>
            <p:cNvPr id="260" name="Group 259">
              <a:extLst>
                <a:ext uri="{FF2B5EF4-FFF2-40B4-BE49-F238E27FC236}">
                  <a16:creationId xmlns:a16="http://schemas.microsoft.com/office/drawing/2014/main" id="{DD8D1F48-B5D9-FE8C-623E-90B900D63395}"/>
                </a:ext>
              </a:extLst>
            </p:cNvPr>
            <p:cNvGrpSpPr/>
            <p:nvPr/>
          </p:nvGrpSpPr>
          <p:grpSpPr>
            <a:xfrm>
              <a:off x="1817594" y="3383279"/>
              <a:ext cx="274321" cy="230832"/>
              <a:chOff x="1817594" y="3383279"/>
              <a:chExt cx="274321" cy="230832"/>
            </a:xfrm>
          </p:grpSpPr>
          <p:sp>
            <p:nvSpPr>
              <p:cNvPr id="265" name="Oval 264">
                <a:extLst>
                  <a:ext uri="{FF2B5EF4-FFF2-40B4-BE49-F238E27FC236}">
                    <a16:creationId xmlns:a16="http://schemas.microsoft.com/office/drawing/2014/main" id="{B47F5EFC-8A25-7815-8355-C26641B6F5BD}"/>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TextBox 265">
                <a:extLst>
                  <a:ext uri="{FF2B5EF4-FFF2-40B4-BE49-F238E27FC236}">
                    <a16:creationId xmlns:a16="http://schemas.microsoft.com/office/drawing/2014/main" id="{9C0CB6C2-A7A6-2352-7B8D-460C7FF57F24}"/>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R</a:t>
                </a:r>
              </a:p>
            </p:txBody>
          </p:sp>
        </p:grpSp>
        <p:sp>
          <p:nvSpPr>
            <p:cNvPr id="261" name="Oval 260">
              <a:extLst>
                <a:ext uri="{FF2B5EF4-FFF2-40B4-BE49-F238E27FC236}">
                  <a16:creationId xmlns:a16="http://schemas.microsoft.com/office/drawing/2014/main" id="{D4868550-C8F5-D8A7-5F3D-A2B8579D8A71}"/>
                </a:ext>
              </a:extLst>
            </p:cNvPr>
            <p:cNvSpPr/>
            <p:nvPr/>
          </p:nvSpPr>
          <p:spPr>
            <a:xfrm>
              <a:off x="1514474" y="3329842"/>
              <a:ext cx="577441" cy="335048"/>
            </a:xfrm>
            <a:prstGeom prst="ellipse">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2" name="Group 261">
              <a:extLst>
                <a:ext uri="{FF2B5EF4-FFF2-40B4-BE49-F238E27FC236}">
                  <a16:creationId xmlns:a16="http://schemas.microsoft.com/office/drawing/2014/main" id="{1F37C8E5-8DB6-048A-3427-90F087FF482B}"/>
                </a:ext>
              </a:extLst>
            </p:cNvPr>
            <p:cNvGrpSpPr/>
            <p:nvPr/>
          </p:nvGrpSpPr>
          <p:grpSpPr>
            <a:xfrm>
              <a:off x="1549031" y="3386762"/>
              <a:ext cx="274321" cy="230832"/>
              <a:chOff x="1817594" y="3383279"/>
              <a:chExt cx="274321" cy="230832"/>
            </a:xfrm>
          </p:grpSpPr>
          <p:sp>
            <p:nvSpPr>
              <p:cNvPr id="263" name="Oval 262">
                <a:extLst>
                  <a:ext uri="{FF2B5EF4-FFF2-40B4-BE49-F238E27FC236}">
                    <a16:creationId xmlns:a16="http://schemas.microsoft.com/office/drawing/2014/main" id="{EF659A75-6DAE-63AC-D67E-F7479C504206}"/>
                  </a:ext>
                </a:extLst>
              </p:cNvPr>
              <p:cNvSpPr>
                <a:spLocks noChangeAspect="1"/>
              </p:cNvSpPr>
              <p:nvPr/>
            </p:nvSpPr>
            <p:spPr>
              <a:xfrm>
                <a:off x="1853006" y="3406709"/>
                <a:ext cx="182880" cy="182880"/>
              </a:xfrm>
              <a:prstGeom prst="ellipse">
                <a:avLst/>
              </a:prstGeom>
              <a:solidFill>
                <a:srgbClr val="1C4AED"/>
              </a:solid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D081AD95-7BDA-5BB5-EB23-47385607AEB2}"/>
                  </a:ext>
                </a:extLst>
              </p:cNvPr>
              <p:cNvSpPr txBox="1"/>
              <p:nvPr/>
            </p:nvSpPr>
            <p:spPr>
              <a:xfrm>
                <a:off x="1817594" y="3383279"/>
                <a:ext cx="274321" cy="230832"/>
              </a:xfrm>
              <a:prstGeom prst="rect">
                <a:avLst/>
              </a:prstGeom>
              <a:noFill/>
            </p:spPr>
            <p:txBody>
              <a:bodyPr wrap="square" rtlCol="0">
                <a:spAutoFit/>
              </a:bodyPr>
              <a:lstStyle/>
              <a:p>
                <a:r>
                  <a:rPr lang="en-US" sz="900">
                    <a:solidFill>
                      <a:schemeClr val="bg1"/>
                    </a:solidFill>
                    <a:latin typeface="Arial" panose="020B0604020202020204" pitchFamily="34" charset="0"/>
                    <a:cs typeface="Arial" panose="020B0604020202020204" pitchFamily="34" charset="0"/>
                  </a:rPr>
                  <a:t>P</a:t>
                </a:r>
              </a:p>
            </p:txBody>
          </p:sp>
        </p:grpSp>
      </p:grpSp>
      <p:grpSp>
        <p:nvGrpSpPr>
          <p:cNvPr id="275" name="Group 274">
            <a:extLst>
              <a:ext uri="{FF2B5EF4-FFF2-40B4-BE49-F238E27FC236}">
                <a16:creationId xmlns:a16="http://schemas.microsoft.com/office/drawing/2014/main" id="{34A0FC36-28F7-E789-739C-54CEC63AB05B}"/>
              </a:ext>
            </a:extLst>
          </p:cNvPr>
          <p:cNvGrpSpPr/>
          <p:nvPr/>
        </p:nvGrpSpPr>
        <p:grpSpPr>
          <a:xfrm>
            <a:off x="2376585" y="6719992"/>
            <a:ext cx="1280160" cy="1280160"/>
            <a:chOff x="2918460" y="6474466"/>
            <a:chExt cx="1280160" cy="1280160"/>
          </a:xfrm>
        </p:grpSpPr>
        <p:sp>
          <p:nvSpPr>
            <p:cNvPr id="89" name="Oval 88">
              <a:extLst>
                <a:ext uri="{FF2B5EF4-FFF2-40B4-BE49-F238E27FC236}">
                  <a16:creationId xmlns:a16="http://schemas.microsoft.com/office/drawing/2014/main" id="{90A43FED-3680-8B3D-532E-2BCEB1890994}"/>
                </a:ext>
              </a:extLst>
            </p:cNvPr>
            <p:cNvSpPr>
              <a:spLocks noChangeAspect="1"/>
            </p:cNvSpPr>
            <p:nvPr/>
          </p:nvSpPr>
          <p:spPr>
            <a:xfrm>
              <a:off x="2918460" y="6474466"/>
              <a:ext cx="1280160" cy="1280160"/>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0" name="Picture 89">
              <a:extLst>
                <a:ext uri="{FF2B5EF4-FFF2-40B4-BE49-F238E27FC236}">
                  <a16:creationId xmlns:a16="http://schemas.microsoft.com/office/drawing/2014/main" id="{B27EE6DF-395E-B363-F316-98A3E75FAA5C}"/>
                </a:ext>
              </a:extLst>
            </p:cNvPr>
            <p:cNvPicPr>
              <a:picLocks noChangeAspect="1"/>
            </p:cNvPicPr>
            <p:nvPr/>
          </p:nvPicPr>
          <p:blipFill>
            <a:blip r:embed="rId3"/>
            <a:stretch>
              <a:fillRect/>
            </a:stretch>
          </p:blipFill>
          <p:spPr>
            <a:xfrm>
              <a:off x="2988493" y="6794506"/>
              <a:ext cx="967493" cy="731520"/>
            </a:xfrm>
            <a:prstGeom prst="rect">
              <a:avLst/>
            </a:prstGeom>
          </p:spPr>
        </p:pic>
      </p:grpSp>
      <p:grpSp>
        <p:nvGrpSpPr>
          <p:cNvPr id="277" name="Group 276">
            <a:extLst>
              <a:ext uri="{FF2B5EF4-FFF2-40B4-BE49-F238E27FC236}">
                <a16:creationId xmlns:a16="http://schemas.microsoft.com/office/drawing/2014/main" id="{37A3FFDC-F5DE-A2BF-C680-1FBF79199150}"/>
              </a:ext>
            </a:extLst>
          </p:cNvPr>
          <p:cNvGrpSpPr/>
          <p:nvPr/>
        </p:nvGrpSpPr>
        <p:grpSpPr>
          <a:xfrm>
            <a:off x="3119549" y="5414327"/>
            <a:ext cx="1280160" cy="1280160"/>
            <a:chOff x="3813830" y="4931725"/>
            <a:chExt cx="1280160" cy="1280160"/>
          </a:xfrm>
        </p:grpSpPr>
        <p:sp>
          <p:nvSpPr>
            <p:cNvPr id="87" name="Oval 86">
              <a:extLst>
                <a:ext uri="{FF2B5EF4-FFF2-40B4-BE49-F238E27FC236}">
                  <a16:creationId xmlns:a16="http://schemas.microsoft.com/office/drawing/2014/main" id="{5CF17637-BF74-AD95-6030-D04CEAF6B444}"/>
                </a:ext>
              </a:extLst>
            </p:cNvPr>
            <p:cNvSpPr>
              <a:spLocks noChangeAspect="1"/>
            </p:cNvSpPr>
            <p:nvPr/>
          </p:nvSpPr>
          <p:spPr>
            <a:xfrm>
              <a:off x="3813830" y="4931725"/>
              <a:ext cx="1280160" cy="1280160"/>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Picture 87">
              <a:extLst>
                <a:ext uri="{FF2B5EF4-FFF2-40B4-BE49-F238E27FC236}">
                  <a16:creationId xmlns:a16="http://schemas.microsoft.com/office/drawing/2014/main" id="{C1F5970E-4D8B-68B8-5EDD-CB7BD68DF786}"/>
                </a:ext>
              </a:extLst>
            </p:cNvPr>
            <p:cNvPicPr>
              <a:picLocks noChangeAspect="1"/>
            </p:cNvPicPr>
            <p:nvPr/>
          </p:nvPicPr>
          <p:blipFill>
            <a:blip r:embed="rId4"/>
            <a:stretch>
              <a:fillRect/>
            </a:stretch>
          </p:blipFill>
          <p:spPr>
            <a:xfrm>
              <a:off x="3946836" y="5234518"/>
              <a:ext cx="983227" cy="731520"/>
            </a:xfrm>
            <a:prstGeom prst="rect">
              <a:avLst/>
            </a:prstGeom>
          </p:spPr>
        </p:pic>
      </p:grpSp>
      <p:grpSp>
        <p:nvGrpSpPr>
          <p:cNvPr id="276" name="Group 275">
            <a:extLst>
              <a:ext uri="{FF2B5EF4-FFF2-40B4-BE49-F238E27FC236}">
                <a16:creationId xmlns:a16="http://schemas.microsoft.com/office/drawing/2014/main" id="{2259F101-8919-41E7-0C00-39CAD088F571}"/>
              </a:ext>
            </a:extLst>
          </p:cNvPr>
          <p:cNvGrpSpPr/>
          <p:nvPr/>
        </p:nvGrpSpPr>
        <p:grpSpPr>
          <a:xfrm>
            <a:off x="1587952" y="5462390"/>
            <a:ext cx="1280160" cy="1280160"/>
            <a:chOff x="1994355" y="4979788"/>
            <a:chExt cx="1280160" cy="1280160"/>
          </a:xfrm>
        </p:grpSpPr>
        <p:sp>
          <p:nvSpPr>
            <p:cNvPr id="78" name="Oval 77">
              <a:extLst>
                <a:ext uri="{FF2B5EF4-FFF2-40B4-BE49-F238E27FC236}">
                  <a16:creationId xmlns:a16="http://schemas.microsoft.com/office/drawing/2014/main" id="{C7AF642E-9BD3-4ECA-25D6-2145CFF314EE}"/>
                </a:ext>
              </a:extLst>
            </p:cNvPr>
            <p:cNvSpPr>
              <a:spLocks noChangeAspect="1"/>
            </p:cNvSpPr>
            <p:nvPr/>
          </p:nvSpPr>
          <p:spPr>
            <a:xfrm rot="21428834">
              <a:off x="1994355" y="4979788"/>
              <a:ext cx="1280160" cy="1280160"/>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Picture 78">
              <a:extLst>
                <a:ext uri="{FF2B5EF4-FFF2-40B4-BE49-F238E27FC236}">
                  <a16:creationId xmlns:a16="http://schemas.microsoft.com/office/drawing/2014/main" id="{C65732A4-2377-8B3C-5626-E6949BFA4A8C}"/>
                </a:ext>
              </a:extLst>
            </p:cNvPr>
            <p:cNvPicPr>
              <a:picLocks noChangeAspect="1"/>
            </p:cNvPicPr>
            <p:nvPr/>
          </p:nvPicPr>
          <p:blipFill>
            <a:blip r:embed="rId5"/>
            <a:stretch>
              <a:fillRect/>
            </a:stretch>
          </p:blipFill>
          <p:spPr>
            <a:xfrm>
              <a:off x="2092452" y="5275585"/>
              <a:ext cx="983227" cy="731520"/>
            </a:xfrm>
            <a:prstGeom prst="rect">
              <a:avLst/>
            </a:prstGeom>
          </p:spPr>
        </p:pic>
      </p:grpSp>
      <p:sp>
        <p:nvSpPr>
          <p:cNvPr id="80" name="TextBox 79">
            <a:extLst>
              <a:ext uri="{FF2B5EF4-FFF2-40B4-BE49-F238E27FC236}">
                <a16:creationId xmlns:a16="http://schemas.microsoft.com/office/drawing/2014/main" id="{D892BAAA-41A5-5593-6E0C-9D4309DB5AB5}"/>
              </a:ext>
            </a:extLst>
          </p:cNvPr>
          <p:cNvSpPr txBox="1"/>
          <p:nvPr/>
        </p:nvSpPr>
        <p:spPr>
          <a:xfrm rot="3494200">
            <a:off x="4371651" y="5917017"/>
            <a:ext cx="908928" cy="461665"/>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Sufficient resources &amp; IBI satisfied</a:t>
            </a:r>
          </a:p>
        </p:txBody>
      </p:sp>
      <p:sp>
        <p:nvSpPr>
          <p:cNvPr id="81" name="TextBox 80">
            <a:extLst>
              <a:ext uri="{FF2B5EF4-FFF2-40B4-BE49-F238E27FC236}">
                <a16:creationId xmlns:a16="http://schemas.microsoft.com/office/drawing/2014/main" id="{48A5DC01-E80A-FB71-F52D-A6CA00424A8A}"/>
              </a:ext>
            </a:extLst>
          </p:cNvPr>
          <p:cNvSpPr txBox="1"/>
          <p:nvPr/>
        </p:nvSpPr>
        <p:spPr>
          <a:xfrm>
            <a:off x="1567329" y="6773614"/>
            <a:ext cx="822929" cy="461665"/>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 new repro-</a:t>
            </a:r>
            <a:r>
              <a:rPr lang="en-US" sz="800" err="1">
                <a:latin typeface="Arial" panose="020B0604020202020204" pitchFamily="34" charset="0"/>
                <a:cs typeface="Arial" panose="020B0604020202020204" pitchFamily="34" charset="0"/>
              </a:rPr>
              <a:t>ductive</a:t>
            </a:r>
            <a:r>
              <a:rPr lang="en-US" sz="800">
                <a:latin typeface="Arial" panose="020B0604020202020204" pitchFamily="34" charset="0"/>
                <a:cs typeface="Arial" panose="020B0604020202020204" pitchFamily="34" charset="0"/>
              </a:rPr>
              <a:t> cycle begins</a:t>
            </a:r>
          </a:p>
        </p:txBody>
      </p:sp>
      <p:sp>
        <p:nvSpPr>
          <p:cNvPr id="82" name="TextBox 81">
            <a:extLst>
              <a:ext uri="{FF2B5EF4-FFF2-40B4-BE49-F238E27FC236}">
                <a16:creationId xmlns:a16="http://schemas.microsoft.com/office/drawing/2014/main" id="{5671C88F-8CFF-B081-7392-156C37D98CD5}"/>
              </a:ext>
            </a:extLst>
          </p:cNvPr>
          <p:cNvSpPr txBox="1"/>
          <p:nvPr/>
        </p:nvSpPr>
        <p:spPr>
          <a:xfrm>
            <a:off x="3593956" y="6933670"/>
            <a:ext cx="922512" cy="584775"/>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Neither sufficient resources nor IBI satisfied</a:t>
            </a:r>
          </a:p>
        </p:txBody>
      </p:sp>
      <p:sp>
        <p:nvSpPr>
          <p:cNvPr id="83" name="Oval 82">
            <a:extLst>
              <a:ext uri="{FF2B5EF4-FFF2-40B4-BE49-F238E27FC236}">
                <a16:creationId xmlns:a16="http://schemas.microsoft.com/office/drawing/2014/main" id="{D4DDB627-002B-4CB5-60DF-FBA1BAAA1DC7}"/>
              </a:ext>
            </a:extLst>
          </p:cNvPr>
          <p:cNvSpPr>
            <a:spLocks noChangeAspect="1"/>
          </p:cNvSpPr>
          <p:nvPr/>
        </p:nvSpPr>
        <p:spPr>
          <a:xfrm>
            <a:off x="1450081" y="4947159"/>
            <a:ext cx="3108960" cy="3108960"/>
          </a:xfrm>
          <a:prstGeom prst="ellipse">
            <a:avLst/>
          </a:prstGeom>
          <a:noFill/>
          <a:ln>
            <a:solidFill>
              <a:srgbClr val="1C4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8" name="Group 287">
            <a:extLst>
              <a:ext uri="{FF2B5EF4-FFF2-40B4-BE49-F238E27FC236}">
                <a16:creationId xmlns:a16="http://schemas.microsoft.com/office/drawing/2014/main" id="{0986CB14-86D5-363C-79AF-65003C160EC9}"/>
              </a:ext>
            </a:extLst>
          </p:cNvPr>
          <p:cNvGrpSpPr/>
          <p:nvPr/>
        </p:nvGrpSpPr>
        <p:grpSpPr>
          <a:xfrm>
            <a:off x="5064402" y="6663600"/>
            <a:ext cx="1209696" cy="996595"/>
            <a:chOff x="5090497" y="6612477"/>
            <a:chExt cx="1209696" cy="996595"/>
          </a:xfrm>
        </p:grpSpPr>
        <p:sp>
          <p:nvSpPr>
            <p:cNvPr id="285" name="TextBox 284">
              <a:extLst>
                <a:ext uri="{FF2B5EF4-FFF2-40B4-BE49-F238E27FC236}">
                  <a16:creationId xmlns:a16="http://schemas.microsoft.com/office/drawing/2014/main" id="{076E65D1-8EF0-F230-5137-E638E0DD8D16}"/>
                </a:ext>
              </a:extLst>
            </p:cNvPr>
            <p:cNvSpPr txBox="1"/>
            <p:nvPr/>
          </p:nvSpPr>
          <p:spPr>
            <a:xfrm>
              <a:off x="5090497" y="6612477"/>
              <a:ext cx="1176996" cy="954107"/>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Another agent is randomly selected from the group. The offspring randomly inherits </a:t>
              </a:r>
              <a:r>
                <a:rPr lang="en-US" sz="800" i="1">
                  <a:latin typeface="Arial" panose="020B0604020202020204" pitchFamily="34" charset="0"/>
                  <a:cs typeface="Arial" panose="020B0604020202020204" pitchFamily="34" charset="0"/>
                </a:rPr>
                <a:t>p</a:t>
              </a:r>
              <a:r>
                <a:rPr lang="en-US" sz="800">
                  <a:latin typeface="Arial" panose="020B0604020202020204" pitchFamily="34" charset="0"/>
                  <a:cs typeface="Arial" panose="020B0604020202020204" pitchFamily="34" charset="0"/>
                </a:rPr>
                <a:t> from one parent </a:t>
              </a:r>
              <a:r>
                <a:rPr lang="en-US" sz="800" i="1">
                  <a:latin typeface="Arial" panose="020B0604020202020204" pitchFamily="34" charset="0"/>
                  <a:cs typeface="Arial" panose="020B0604020202020204" pitchFamily="34" charset="0"/>
                </a:rPr>
                <a:t>q </a:t>
              </a:r>
              <a:r>
                <a:rPr lang="en-US" sz="800">
                  <a:latin typeface="Arial" panose="020B0604020202020204" pitchFamily="34" charset="0"/>
                  <a:cs typeface="Arial" panose="020B0604020202020204" pitchFamily="34" charset="0"/>
                </a:rPr>
                <a:t>from the other.</a:t>
              </a:r>
            </a:p>
          </p:txBody>
        </p:sp>
        <p:sp>
          <p:nvSpPr>
            <p:cNvPr id="283" name="Rectangle 282">
              <a:extLst>
                <a:ext uri="{FF2B5EF4-FFF2-40B4-BE49-F238E27FC236}">
                  <a16:creationId xmlns:a16="http://schemas.microsoft.com/office/drawing/2014/main" id="{E20D46FE-2ECD-9BA5-7775-00422DD382BF}"/>
                </a:ext>
              </a:extLst>
            </p:cNvPr>
            <p:cNvSpPr/>
            <p:nvPr/>
          </p:nvSpPr>
          <p:spPr>
            <a:xfrm>
              <a:off x="5123196" y="6627586"/>
              <a:ext cx="1176997" cy="9814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89" name="Group 288">
            <a:extLst>
              <a:ext uri="{FF2B5EF4-FFF2-40B4-BE49-F238E27FC236}">
                <a16:creationId xmlns:a16="http://schemas.microsoft.com/office/drawing/2014/main" id="{B2919053-F4CC-AD8C-4FCB-C8A29D771851}"/>
              </a:ext>
            </a:extLst>
          </p:cNvPr>
          <p:cNvGrpSpPr/>
          <p:nvPr/>
        </p:nvGrpSpPr>
        <p:grpSpPr>
          <a:xfrm>
            <a:off x="5052587" y="5930892"/>
            <a:ext cx="1209696" cy="353566"/>
            <a:chOff x="5090497" y="6612477"/>
            <a:chExt cx="1209696" cy="656815"/>
          </a:xfrm>
        </p:grpSpPr>
        <p:sp>
          <p:nvSpPr>
            <p:cNvPr id="290" name="TextBox 289">
              <a:extLst>
                <a:ext uri="{FF2B5EF4-FFF2-40B4-BE49-F238E27FC236}">
                  <a16:creationId xmlns:a16="http://schemas.microsoft.com/office/drawing/2014/main" id="{DBF3F7C7-FE26-EAE4-C91F-13180905871D}"/>
                </a:ext>
              </a:extLst>
            </p:cNvPr>
            <p:cNvSpPr txBox="1"/>
            <p:nvPr/>
          </p:nvSpPr>
          <p:spPr>
            <a:xfrm>
              <a:off x="5090497" y="6612477"/>
              <a:ext cx="1176996" cy="33855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Both </a:t>
              </a:r>
              <a:r>
                <a:rPr lang="en-US" sz="800" i="1">
                  <a:latin typeface="Arial" panose="020B0604020202020204" pitchFamily="34" charset="0"/>
                  <a:cs typeface="Arial" panose="020B0604020202020204" pitchFamily="34" charset="0"/>
                </a:rPr>
                <a:t>p </a:t>
              </a:r>
              <a:r>
                <a:rPr lang="en-US" sz="800">
                  <a:latin typeface="Arial" panose="020B0604020202020204" pitchFamily="34" charset="0"/>
                  <a:cs typeface="Arial" panose="020B0604020202020204" pitchFamily="34" charset="0"/>
                </a:rPr>
                <a:t>and </a:t>
              </a:r>
              <a:r>
                <a:rPr lang="en-US" sz="800" i="1">
                  <a:latin typeface="Arial" panose="020B0604020202020204" pitchFamily="34" charset="0"/>
                  <a:cs typeface="Arial" panose="020B0604020202020204" pitchFamily="34" charset="0"/>
                </a:rPr>
                <a:t>q</a:t>
              </a:r>
              <a:r>
                <a:rPr lang="en-US" sz="800">
                  <a:latin typeface="Arial" panose="020B0604020202020204" pitchFamily="34" charset="0"/>
                  <a:cs typeface="Arial" panose="020B0604020202020204" pitchFamily="34" charset="0"/>
                </a:rPr>
                <a:t> mutate at rate </a:t>
              </a:r>
              <a:r>
                <a:rPr lang="en-US" sz="800" i="1">
                  <a:latin typeface="Arial" panose="020B0604020202020204" pitchFamily="34" charset="0"/>
                  <a:cs typeface="Arial" panose="020B0604020202020204" pitchFamily="34" charset="0"/>
                </a:rPr>
                <a:t>r</a:t>
              </a:r>
              <a:r>
                <a:rPr lang="en-US" sz="800">
                  <a:latin typeface="Arial" panose="020B0604020202020204" pitchFamily="34" charset="0"/>
                  <a:cs typeface="Arial" panose="020B0604020202020204" pitchFamily="34" charset="0"/>
                </a:rPr>
                <a:t>.</a:t>
              </a:r>
              <a:endParaRPr lang="en-US" sz="800" i="1">
                <a:latin typeface="Arial" panose="020B0604020202020204" pitchFamily="34" charset="0"/>
                <a:cs typeface="Arial" panose="020B0604020202020204" pitchFamily="34" charset="0"/>
              </a:endParaRPr>
            </a:p>
          </p:txBody>
        </p:sp>
        <p:sp>
          <p:nvSpPr>
            <p:cNvPr id="291" name="Rectangle 290">
              <a:extLst>
                <a:ext uri="{FF2B5EF4-FFF2-40B4-BE49-F238E27FC236}">
                  <a16:creationId xmlns:a16="http://schemas.microsoft.com/office/drawing/2014/main" id="{AD605BAF-DCE2-3EBF-EDE2-BEC090568C0E}"/>
                </a:ext>
              </a:extLst>
            </p:cNvPr>
            <p:cNvSpPr/>
            <p:nvPr/>
          </p:nvSpPr>
          <p:spPr>
            <a:xfrm>
              <a:off x="5123196" y="6627585"/>
              <a:ext cx="1176997" cy="6417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292" name="Straight Arrow Connector 291">
            <a:extLst>
              <a:ext uri="{FF2B5EF4-FFF2-40B4-BE49-F238E27FC236}">
                <a16:creationId xmlns:a16="http://schemas.microsoft.com/office/drawing/2014/main" id="{6517F5F5-026F-8137-005B-E270B9E8F8A3}"/>
              </a:ext>
            </a:extLst>
          </p:cNvPr>
          <p:cNvCxnSpPr>
            <a:cxnSpLocks/>
            <a:stCxn id="283" idx="0"/>
            <a:endCxn id="291" idx="2"/>
          </p:cNvCxnSpPr>
          <p:nvPr/>
        </p:nvCxnSpPr>
        <p:spPr>
          <a:xfrm flipH="1" flipV="1">
            <a:off x="5673785" y="6284458"/>
            <a:ext cx="11815" cy="394251"/>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295" name="Group 294">
            <a:extLst>
              <a:ext uri="{FF2B5EF4-FFF2-40B4-BE49-F238E27FC236}">
                <a16:creationId xmlns:a16="http://schemas.microsoft.com/office/drawing/2014/main" id="{9E4C0EE2-3EBE-7265-678D-3B3AFEA3E395}"/>
              </a:ext>
            </a:extLst>
          </p:cNvPr>
          <p:cNvGrpSpPr/>
          <p:nvPr/>
        </p:nvGrpSpPr>
        <p:grpSpPr>
          <a:xfrm>
            <a:off x="5048053" y="4617559"/>
            <a:ext cx="1209696" cy="954107"/>
            <a:chOff x="5090497" y="6612477"/>
            <a:chExt cx="1209696" cy="954107"/>
          </a:xfrm>
        </p:grpSpPr>
        <p:sp>
          <p:nvSpPr>
            <p:cNvPr id="296" name="TextBox 295">
              <a:extLst>
                <a:ext uri="{FF2B5EF4-FFF2-40B4-BE49-F238E27FC236}">
                  <a16:creationId xmlns:a16="http://schemas.microsoft.com/office/drawing/2014/main" id="{C48D4EAB-78AF-C779-0F1A-481AA12E0985}"/>
                </a:ext>
              </a:extLst>
            </p:cNvPr>
            <p:cNvSpPr txBox="1"/>
            <p:nvPr/>
          </p:nvSpPr>
          <p:spPr>
            <a:xfrm>
              <a:off x="5090497" y="6612477"/>
              <a:ext cx="1176996" cy="954107"/>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If the population size is less than </a:t>
              </a:r>
              <a:r>
                <a:rPr lang="en-US" sz="800" i="1" dirty="0" err="1">
                  <a:latin typeface="Arial" panose="020B0604020202020204" pitchFamily="34" charset="0"/>
                  <a:cs typeface="Arial" panose="020B0604020202020204" pitchFamily="34" charset="0"/>
                </a:rPr>
                <a:t>N</a:t>
              </a:r>
              <a:r>
                <a:rPr lang="en-US" sz="800" baseline="-25000" dirty="0" err="1">
                  <a:latin typeface="Arial" panose="020B0604020202020204" pitchFamily="34" charset="0"/>
                  <a:cs typeface="Arial" panose="020B0604020202020204" pitchFamily="34" charset="0"/>
                </a:rPr>
                <a:t>max</a:t>
              </a:r>
              <a:r>
                <a:rPr lang="en-US" sz="800" dirty="0">
                  <a:latin typeface="Arial" panose="020B0604020202020204" pitchFamily="34" charset="0"/>
                  <a:cs typeface="Arial" panose="020B0604020202020204" pitchFamily="34" charset="0"/>
                </a:rPr>
                <a:t>, then the offspring agent, A, enters its parental group or disperses to a neighboring group.</a:t>
              </a:r>
              <a:endParaRPr lang="en-US" sz="800" i="1" dirty="0">
                <a:latin typeface="Arial" panose="020B0604020202020204" pitchFamily="34" charset="0"/>
                <a:cs typeface="Arial" panose="020B0604020202020204" pitchFamily="34" charset="0"/>
              </a:endParaRPr>
            </a:p>
          </p:txBody>
        </p:sp>
        <p:sp>
          <p:nvSpPr>
            <p:cNvPr id="297" name="Rectangle 296">
              <a:extLst>
                <a:ext uri="{FF2B5EF4-FFF2-40B4-BE49-F238E27FC236}">
                  <a16:creationId xmlns:a16="http://schemas.microsoft.com/office/drawing/2014/main" id="{6848A754-38B9-4120-7FDB-ABDEB00952CD}"/>
                </a:ext>
              </a:extLst>
            </p:cNvPr>
            <p:cNvSpPr/>
            <p:nvPr/>
          </p:nvSpPr>
          <p:spPr>
            <a:xfrm>
              <a:off x="5123196" y="6627585"/>
              <a:ext cx="1176997" cy="9376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298" name="Straight Arrow Connector 297">
            <a:extLst>
              <a:ext uri="{FF2B5EF4-FFF2-40B4-BE49-F238E27FC236}">
                <a16:creationId xmlns:a16="http://schemas.microsoft.com/office/drawing/2014/main" id="{CE55C0E7-3AC9-6AAC-340C-C9AB8EAA1C77}"/>
              </a:ext>
            </a:extLst>
          </p:cNvPr>
          <p:cNvCxnSpPr>
            <a:cxnSpLocks/>
            <a:stCxn id="291" idx="0"/>
            <a:endCxn id="297" idx="2"/>
          </p:cNvCxnSpPr>
          <p:nvPr/>
        </p:nvCxnSpPr>
        <p:spPr>
          <a:xfrm flipH="1" flipV="1">
            <a:off x="5669251" y="5570337"/>
            <a:ext cx="4534" cy="368688"/>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04" name="Straight Arrow Connector 303">
            <a:extLst>
              <a:ext uri="{FF2B5EF4-FFF2-40B4-BE49-F238E27FC236}">
                <a16:creationId xmlns:a16="http://schemas.microsoft.com/office/drawing/2014/main" id="{1611EE73-BE66-A77F-DB89-2A07769400CD}"/>
              </a:ext>
            </a:extLst>
          </p:cNvPr>
          <p:cNvCxnSpPr>
            <a:cxnSpLocks/>
            <a:stCxn id="297" idx="0"/>
            <a:endCxn id="58" idx="5"/>
          </p:cNvCxnSpPr>
          <p:nvPr/>
        </p:nvCxnSpPr>
        <p:spPr>
          <a:xfrm flipH="1" flipV="1">
            <a:off x="4935175" y="3993084"/>
            <a:ext cx="734076" cy="639583"/>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25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82AD49E1-C26D-C23A-4C38-6A1C1D47E29C}"/>
              </a:ext>
            </a:extLst>
          </p:cNvPr>
          <p:cNvGrpSpPr/>
          <p:nvPr/>
        </p:nvGrpSpPr>
        <p:grpSpPr>
          <a:xfrm>
            <a:off x="913393" y="3989473"/>
            <a:ext cx="2743200" cy="2009422"/>
            <a:chOff x="913393" y="3989473"/>
            <a:chExt cx="2743200" cy="2009422"/>
          </a:xfrm>
        </p:grpSpPr>
        <p:grpSp>
          <p:nvGrpSpPr>
            <p:cNvPr id="9" name="Group 8">
              <a:extLst>
                <a:ext uri="{FF2B5EF4-FFF2-40B4-BE49-F238E27FC236}">
                  <a16:creationId xmlns:a16="http://schemas.microsoft.com/office/drawing/2014/main" id="{2C2E2F29-B5E4-C70F-3307-7CB89C6E7440}"/>
                </a:ext>
              </a:extLst>
            </p:cNvPr>
            <p:cNvGrpSpPr/>
            <p:nvPr/>
          </p:nvGrpSpPr>
          <p:grpSpPr>
            <a:xfrm>
              <a:off x="913393" y="3989473"/>
              <a:ext cx="2743200" cy="2009422"/>
              <a:chOff x="913393" y="3989473"/>
              <a:chExt cx="2743200" cy="2009422"/>
            </a:xfrm>
          </p:grpSpPr>
          <p:pic>
            <p:nvPicPr>
              <p:cNvPr id="3" name="Picture 2">
                <a:extLst>
                  <a:ext uri="{FF2B5EF4-FFF2-40B4-BE49-F238E27FC236}">
                    <a16:creationId xmlns:a16="http://schemas.microsoft.com/office/drawing/2014/main" id="{B3B9E73D-E9D9-88CA-0FFC-509491737A18}"/>
                  </a:ext>
                </a:extLst>
              </p:cNvPr>
              <p:cNvPicPr>
                <a:picLocks noChangeAspect="1"/>
              </p:cNvPicPr>
              <p:nvPr/>
            </p:nvPicPr>
            <p:blipFill>
              <a:blip r:embed="rId3"/>
              <a:stretch>
                <a:fillRect/>
              </a:stretch>
            </p:blipFill>
            <p:spPr>
              <a:xfrm>
                <a:off x="913393" y="3989473"/>
                <a:ext cx="2743200" cy="2009422"/>
              </a:xfrm>
              <a:prstGeom prst="rect">
                <a:avLst/>
              </a:prstGeom>
            </p:spPr>
          </p:pic>
          <p:sp>
            <p:nvSpPr>
              <p:cNvPr id="6" name="Rectangle 5">
                <a:extLst>
                  <a:ext uri="{FF2B5EF4-FFF2-40B4-BE49-F238E27FC236}">
                    <a16:creationId xmlns:a16="http://schemas.microsoft.com/office/drawing/2014/main" id="{DF843C07-5DEC-7F25-34B2-94BF9CB70E61}"/>
                  </a:ext>
                </a:extLst>
              </p:cNvPr>
              <p:cNvSpPr/>
              <p:nvPr/>
            </p:nvSpPr>
            <p:spPr>
              <a:xfrm>
                <a:off x="996950" y="3989473"/>
                <a:ext cx="222250" cy="1539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3C8B45DE-B54C-1011-5C1B-615A1ACF68B2}"/>
                </a:ext>
              </a:extLst>
            </p:cNvPr>
            <p:cNvSpPr/>
            <p:nvPr/>
          </p:nvSpPr>
          <p:spPr>
            <a:xfrm>
              <a:off x="3400850" y="5722868"/>
              <a:ext cx="252843" cy="2080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Picture 17">
            <a:extLst>
              <a:ext uri="{FF2B5EF4-FFF2-40B4-BE49-F238E27FC236}">
                <a16:creationId xmlns:a16="http://schemas.microsoft.com/office/drawing/2014/main" id="{EB5D24FE-B834-EAD2-FE68-61CE58584DEA}"/>
              </a:ext>
            </a:extLst>
          </p:cNvPr>
          <p:cNvPicPr>
            <a:picLocks noChangeAspect="1"/>
          </p:cNvPicPr>
          <p:nvPr/>
        </p:nvPicPr>
        <p:blipFill>
          <a:blip r:embed="rId4"/>
          <a:srcRect l="11000"/>
          <a:stretch/>
        </p:blipFill>
        <p:spPr>
          <a:xfrm>
            <a:off x="3463501" y="3989473"/>
            <a:ext cx="2441453" cy="2009422"/>
          </a:xfrm>
          <a:prstGeom prst="rect">
            <a:avLst/>
          </a:prstGeom>
        </p:spPr>
      </p:pic>
      <p:pic>
        <p:nvPicPr>
          <p:cNvPr id="15" name="Picture 14">
            <a:extLst>
              <a:ext uri="{FF2B5EF4-FFF2-40B4-BE49-F238E27FC236}">
                <a16:creationId xmlns:a16="http://schemas.microsoft.com/office/drawing/2014/main" id="{7FC4CDDE-7116-3946-0611-D7138BBD4231}"/>
              </a:ext>
            </a:extLst>
          </p:cNvPr>
          <p:cNvPicPr>
            <a:picLocks noChangeAspect="1"/>
          </p:cNvPicPr>
          <p:nvPr/>
        </p:nvPicPr>
        <p:blipFill>
          <a:blip r:embed="rId5"/>
          <a:srcRect l="11000" b="11420"/>
          <a:stretch/>
        </p:blipFill>
        <p:spPr>
          <a:xfrm>
            <a:off x="3464111" y="2363518"/>
            <a:ext cx="2441453" cy="1779949"/>
          </a:xfrm>
          <a:prstGeom prst="rect">
            <a:avLst/>
          </a:prstGeom>
        </p:spPr>
      </p:pic>
      <p:pic>
        <p:nvPicPr>
          <p:cNvPr id="2" name="Picture 1">
            <a:extLst>
              <a:ext uri="{FF2B5EF4-FFF2-40B4-BE49-F238E27FC236}">
                <a16:creationId xmlns:a16="http://schemas.microsoft.com/office/drawing/2014/main" id="{345AD56C-A2A9-802F-D685-C51DD2E06B89}"/>
              </a:ext>
            </a:extLst>
          </p:cNvPr>
          <p:cNvPicPr>
            <a:picLocks noChangeAspect="1"/>
          </p:cNvPicPr>
          <p:nvPr/>
        </p:nvPicPr>
        <p:blipFill>
          <a:blip r:embed="rId6"/>
          <a:srcRect b="11382"/>
          <a:stretch/>
        </p:blipFill>
        <p:spPr>
          <a:xfrm>
            <a:off x="910493" y="2362747"/>
            <a:ext cx="2743200" cy="1780720"/>
          </a:xfrm>
          <a:prstGeom prst="rect">
            <a:avLst/>
          </a:prstGeom>
        </p:spPr>
      </p:pic>
      <p:sp>
        <p:nvSpPr>
          <p:cNvPr id="16" name="TextBox 15">
            <a:extLst>
              <a:ext uri="{FF2B5EF4-FFF2-40B4-BE49-F238E27FC236}">
                <a16:creationId xmlns:a16="http://schemas.microsoft.com/office/drawing/2014/main" id="{6D582F55-6DF4-6A3C-159D-1305C44137FF}"/>
              </a:ext>
            </a:extLst>
          </p:cNvPr>
          <p:cNvSpPr txBox="1"/>
          <p:nvPr/>
        </p:nvSpPr>
        <p:spPr>
          <a:xfrm>
            <a:off x="2360933" y="2186654"/>
            <a:ext cx="667170"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Random</a:t>
            </a:r>
          </a:p>
        </p:txBody>
      </p:sp>
      <p:sp>
        <p:nvSpPr>
          <p:cNvPr id="17" name="TextBox 16">
            <a:extLst>
              <a:ext uri="{FF2B5EF4-FFF2-40B4-BE49-F238E27FC236}">
                <a16:creationId xmlns:a16="http://schemas.microsoft.com/office/drawing/2014/main" id="{8F086E0A-BFE6-5295-F5D4-A19E666AE907}"/>
              </a:ext>
            </a:extLst>
          </p:cNvPr>
          <p:cNvSpPr txBox="1"/>
          <p:nvPr/>
        </p:nvSpPr>
        <p:spPr>
          <a:xfrm>
            <a:off x="4282602" y="2186654"/>
            <a:ext cx="447558"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Zero</a:t>
            </a:r>
          </a:p>
        </p:txBody>
      </p:sp>
      <p:grpSp>
        <p:nvGrpSpPr>
          <p:cNvPr id="14" name="Group 13">
            <a:extLst>
              <a:ext uri="{FF2B5EF4-FFF2-40B4-BE49-F238E27FC236}">
                <a16:creationId xmlns:a16="http://schemas.microsoft.com/office/drawing/2014/main" id="{0A6B9D00-3ED6-57B1-9B5F-CEFC72B9376A}"/>
              </a:ext>
            </a:extLst>
          </p:cNvPr>
          <p:cNvGrpSpPr/>
          <p:nvPr/>
        </p:nvGrpSpPr>
        <p:grpSpPr>
          <a:xfrm>
            <a:off x="2300501" y="2447976"/>
            <a:ext cx="1219349" cy="215444"/>
            <a:chOff x="2951616" y="6899018"/>
            <a:chExt cx="1219349" cy="215444"/>
          </a:xfrm>
        </p:grpSpPr>
        <p:cxnSp>
          <p:nvCxnSpPr>
            <p:cNvPr id="19" name="Straight Connector 18">
              <a:extLst>
                <a:ext uri="{FF2B5EF4-FFF2-40B4-BE49-F238E27FC236}">
                  <a16:creationId xmlns:a16="http://schemas.microsoft.com/office/drawing/2014/main" id="{7354451A-EB3E-79EE-E489-ABBB7DE39C85}"/>
                </a:ext>
              </a:extLst>
            </p:cNvPr>
            <p:cNvCxnSpPr>
              <a:cxnSpLocks/>
            </p:cNvCxnSpPr>
            <p:nvPr/>
          </p:nvCxnSpPr>
          <p:spPr>
            <a:xfrm>
              <a:off x="3047508" y="7012023"/>
              <a:ext cx="1841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545CB6A-56E3-E0A9-5ECD-883D1E0D2576}"/>
                </a:ext>
              </a:extLst>
            </p:cNvPr>
            <p:cNvCxnSpPr>
              <a:cxnSpLocks/>
            </p:cNvCxnSpPr>
            <p:nvPr/>
          </p:nvCxnSpPr>
          <p:spPr>
            <a:xfrm>
              <a:off x="3623236" y="7012023"/>
              <a:ext cx="184150"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52E9A85-F849-DD5F-7984-3C9336D4051D}"/>
                </a:ext>
              </a:extLst>
            </p:cNvPr>
            <p:cNvSpPr/>
            <p:nvPr/>
          </p:nvSpPr>
          <p:spPr>
            <a:xfrm>
              <a:off x="2951616" y="6899019"/>
              <a:ext cx="1219349" cy="212982"/>
            </a:xfrm>
            <a:prstGeom prst="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5" name="TextBox 34">
              <a:extLst>
                <a:ext uri="{FF2B5EF4-FFF2-40B4-BE49-F238E27FC236}">
                  <a16:creationId xmlns:a16="http://schemas.microsoft.com/office/drawing/2014/main" id="{6914CBDD-F480-1C75-80C5-E02481B25D37}"/>
                </a:ext>
              </a:extLst>
            </p:cNvPr>
            <p:cNvSpPr txBox="1"/>
            <p:nvPr/>
          </p:nvSpPr>
          <p:spPr>
            <a:xfrm>
              <a:off x="3217154" y="6899018"/>
              <a:ext cx="413896"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Offer</a:t>
              </a:r>
            </a:p>
          </p:txBody>
        </p:sp>
        <p:sp>
          <p:nvSpPr>
            <p:cNvPr id="36" name="TextBox 35">
              <a:extLst>
                <a:ext uri="{FF2B5EF4-FFF2-40B4-BE49-F238E27FC236}">
                  <a16:creationId xmlns:a16="http://schemas.microsoft.com/office/drawing/2014/main" id="{33709673-EDF4-1395-7B69-30D35D471309}"/>
                </a:ext>
              </a:extLst>
            </p:cNvPr>
            <p:cNvSpPr txBox="1"/>
            <p:nvPr/>
          </p:nvSpPr>
          <p:spPr>
            <a:xfrm>
              <a:off x="3782471" y="6899018"/>
              <a:ext cx="31611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AT</a:t>
              </a:r>
            </a:p>
          </p:txBody>
        </p:sp>
      </p:grpSp>
      <p:sp>
        <p:nvSpPr>
          <p:cNvPr id="21" name="TextBox 20">
            <a:extLst>
              <a:ext uri="{FF2B5EF4-FFF2-40B4-BE49-F238E27FC236}">
                <a16:creationId xmlns:a16="http://schemas.microsoft.com/office/drawing/2014/main" id="{5120F4CB-64D9-CB44-5A21-C76751773D14}"/>
              </a:ext>
            </a:extLst>
          </p:cNvPr>
          <p:cNvSpPr txBox="1"/>
          <p:nvPr/>
        </p:nvSpPr>
        <p:spPr>
          <a:xfrm>
            <a:off x="1268101" y="2375447"/>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a</a:t>
            </a:r>
          </a:p>
        </p:txBody>
      </p:sp>
      <p:sp>
        <p:nvSpPr>
          <p:cNvPr id="22" name="TextBox 21">
            <a:extLst>
              <a:ext uri="{FF2B5EF4-FFF2-40B4-BE49-F238E27FC236}">
                <a16:creationId xmlns:a16="http://schemas.microsoft.com/office/drawing/2014/main" id="{629CA828-4A5F-BA3E-5C2A-20A7EE70D14D}"/>
              </a:ext>
            </a:extLst>
          </p:cNvPr>
          <p:cNvSpPr txBox="1"/>
          <p:nvPr/>
        </p:nvSpPr>
        <p:spPr>
          <a:xfrm>
            <a:off x="3502633" y="2401618"/>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t>
            </a:r>
          </a:p>
        </p:txBody>
      </p:sp>
      <p:sp>
        <p:nvSpPr>
          <p:cNvPr id="27" name="TextBox 26">
            <a:extLst>
              <a:ext uri="{FF2B5EF4-FFF2-40B4-BE49-F238E27FC236}">
                <a16:creationId xmlns:a16="http://schemas.microsoft.com/office/drawing/2014/main" id="{8605E8D0-6121-52F1-65E9-F856FD900BD6}"/>
              </a:ext>
            </a:extLst>
          </p:cNvPr>
          <p:cNvSpPr txBox="1"/>
          <p:nvPr/>
        </p:nvSpPr>
        <p:spPr>
          <a:xfrm>
            <a:off x="1268101" y="4026657"/>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c</a:t>
            </a:r>
          </a:p>
        </p:txBody>
      </p:sp>
      <p:sp>
        <p:nvSpPr>
          <p:cNvPr id="29" name="TextBox 28">
            <a:extLst>
              <a:ext uri="{FF2B5EF4-FFF2-40B4-BE49-F238E27FC236}">
                <a16:creationId xmlns:a16="http://schemas.microsoft.com/office/drawing/2014/main" id="{54CFA03C-79A9-8780-8192-DCFAD635A84E}"/>
              </a:ext>
            </a:extLst>
          </p:cNvPr>
          <p:cNvSpPr txBox="1"/>
          <p:nvPr/>
        </p:nvSpPr>
        <p:spPr>
          <a:xfrm>
            <a:off x="3502633" y="4043592"/>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p>
        </p:txBody>
      </p:sp>
    </p:spTree>
    <p:extLst>
      <p:ext uri="{BB962C8B-B14F-4D97-AF65-F5344CB8AC3E}">
        <p14:creationId xmlns:p14="http://schemas.microsoft.com/office/powerpoint/2010/main" val="1607143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137FB76-0AC5-4CA9-ACE4-CF3415D88DD4}"/>
              </a:ext>
            </a:extLst>
          </p:cNvPr>
          <p:cNvPicPr>
            <a:picLocks noChangeAspect="1"/>
          </p:cNvPicPr>
          <p:nvPr/>
        </p:nvPicPr>
        <p:blipFill>
          <a:blip r:embed="rId3"/>
          <a:stretch>
            <a:fillRect/>
          </a:stretch>
        </p:blipFill>
        <p:spPr>
          <a:xfrm>
            <a:off x="1243085" y="6011901"/>
            <a:ext cx="2286000" cy="1588265"/>
          </a:xfrm>
          <a:prstGeom prst="rect">
            <a:avLst/>
          </a:prstGeom>
        </p:spPr>
      </p:pic>
      <p:pic>
        <p:nvPicPr>
          <p:cNvPr id="11" name="Picture 10">
            <a:extLst>
              <a:ext uri="{FF2B5EF4-FFF2-40B4-BE49-F238E27FC236}">
                <a16:creationId xmlns:a16="http://schemas.microsoft.com/office/drawing/2014/main" id="{540B4622-5795-87DD-C3AB-03696F5E05CA}"/>
              </a:ext>
            </a:extLst>
          </p:cNvPr>
          <p:cNvPicPr>
            <a:picLocks noChangeAspect="1"/>
          </p:cNvPicPr>
          <p:nvPr/>
        </p:nvPicPr>
        <p:blipFill>
          <a:blip r:embed="rId4"/>
          <a:srcRect l="12522"/>
          <a:stretch/>
        </p:blipFill>
        <p:spPr>
          <a:xfrm>
            <a:off x="3437491" y="6008911"/>
            <a:ext cx="1993803" cy="1596060"/>
          </a:xfrm>
          <a:prstGeom prst="rect">
            <a:avLst/>
          </a:prstGeom>
        </p:spPr>
      </p:pic>
      <p:sp>
        <p:nvSpPr>
          <p:cNvPr id="15" name="TextBox 14">
            <a:extLst>
              <a:ext uri="{FF2B5EF4-FFF2-40B4-BE49-F238E27FC236}">
                <a16:creationId xmlns:a16="http://schemas.microsoft.com/office/drawing/2014/main" id="{DCE9383E-90C1-8F5E-596C-C0331E2D1093}"/>
              </a:ext>
            </a:extLst>
          </p:cNvPr>
          <p:cNvSpPr txBox="1"/>
          <p:nvPr/>
        </p:nvSpPr>
        <p:spPr>
          <a:xfrm>
            <a:off x="1496702" y="6014721"/>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g</a:t>
            </a:r>
          </a:p>
        </p:txBody>
      </p:sp>
      <p:sp>
        <p:nvSpPr>
          <p:cNvPr id="26" name="TextBox 25">
            <a:extLst>
              <a:ext uri="{FF2B5EF4-FFF2-40B4-BE49-F238E27FC236}">
                <a16:creationId xmlns:a16="http://schemas.microsoft.com/office/drawing/2014/main" id="{2424B407-8AC9-AF7A-F628-709AD18F12F4}"/>
              </a:ext>
            </a:extLst>
          </p:cNvPr>
          <p:cNvSpPr txBox="1"/>
          <p:nvPr/>
        </p:nvSpPr>
        <p:spPr>
          <a:xfrm>
            <a:off x="3427309" y="6014721"/>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h</a:t>
            </a:r>
          </a:p>
        </p:txBody>
      </p:sp>
      <p:grpSp>
        <p:nvGrpSpPr>
          <p:cNvPr id="27" name="Group 26">
            <a:extLst>
              <a:ext uri="{FF2B5EF4-FFF2-40B4-BE49-F238E27FC236}">
                <a16:creationId xmlns:a16="http://schemas.microsoft.com/office/drawing/2014/main" id="{0DF04AF1-C353-5113-9587-6BA77B3326B7}"/>
              </a:ext>
            </a:extLst>
          </p:cNvPr>
          <p:cNvGrpSpPr/>
          <p:nvPr/>
        </p:nvGrpSpPr>
        <p:grpSpPr>
          <a:xfrm>
            <a:off x="1989919" y="6082808"/>
            <a:ext cx="1551865" cy="307454"/>
            <a:chOff x="2334190" y="7702459"/>
            <a:chExt cx="1551865" cy="307454"/>
          </a:xfrm>
        </p:grpSpPr>
        <p:sp>
          <p:nvSpPr>
            <p:cNvPr id="28" name="TextBox 27">
              <a:extLst>
                <a:ext uri="{FF2B5EF4-FFF2-40B4-BE49-F238E27FC236}">
                  <a16:creationId xmlns:a16="http://schemas.microsoft.com/office/drawing/2014/main" id="{E3F2834A-F6A5-D088-F832-5230D8A30FDC}"/>
                </a:ext>
              </a:extLst>
            </p:cNvPr>
            <p:cNvSpPr txBox="1"/>
            <p:nvPr/>
          </p:nvSpPr>
          <p:spPr>
            <a:xfrm>
              <a:off x="2398574" y="7702460"/>
              <a:ext cx="369836" cy="157400"/>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25</a:t>
              </a:r>
            </a:p>
          </p:txBody>
        </p:sp>
        <p:sp>
          <p:nvSpPr>
            <p:cNvPr id="29" name="Oval 28">
              <a:extLst>
                <a:ext uri="{FF2B5EF4-FFF2-40B4-BE49-F238E27FC236}">
                  <a16:creationId xmlns:a16="http://schemas.microsoft.com/office/drawing/2014/main" id="{A870056A-A157-1906-7CED-A2A1E36FEEBD}"/>
                </a:ext>
              </a:extLst>
            </p:cNvPr>
            <p:cNvSpPr/>
            <p:nvPr/>
          </p:nvSpPr>
          <p:spPr>
            <a:xfrm>
              <a:off x="2768475" y="7773284"/>
              <a:ext cx="62462" cy="640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0" name="Oval 29">
              <a:extLst>
                <a:ext uri="{FF2B5EF4-FFF2-40B4-BE49-F238E27FC236}">
                  <a16:creationId xmlns:a16="http://schemas.microsoft.com/office/drawing/2014/main" id="{BCB27302-A07F-3A4E-DF18-FA586DF75D34}"/>
                </a:ext>
              </a:extLst>
            </p:cNvPr>
            <p:cNvSpPr/>
            <p:nvPr/>
          </p:nvSpPr>
          <p:spPr>
            <a:xfrm>
              <a:off x="2389419" y="7773284"/>
              <a:ext cx="62462" cy="6400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1" name="TextBox 30">
              <a:extLst>
                <a:ext uri="{FF2B5EF4-FFF2-40B4-BE49-F238E27FC236}">
                  <a16:creationId xmlns:a16="http://schemas.microsoft.com/office/drawing/2014/main" id="{A49C55B8-16A4-F0A2-9255-22EF205EF0E1}"/>
                </a:ext>
              </a:extLst>
            </p:cNvPr>
            <p:cNvSpPr txBox="1"/>
            <p:nvPr/>
          </p:nvSpPr>
          <p:spPr>
            <a:xfrm>
              <a:off x="2780670" y="7702497"/>
              <a:ext cx="369836" cy="157400"/>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50</a:t>
              </a:r>
            </a:p>
          </p:txBody>
        </p:sp>
        <p:sp>
          <p:nvSpPr>
            <p:cNvPr id="32" name="Oval 31">
              <a:extLst>
                <a:ext uri="{FF2B5EF4-FFF2-40B4-BE49-F238E27FC236}">
                  <a16:creationId xmlns:a16="http://schemas.microsoft.com/office/drawing/2014/main" id="{2D84343B-C8DB-E213-6259-9F1E4AFE9924}"/>
                </a:ext>
              </a:extLst>
            </p:cNvPr>
            <p:cNvSpPr/>
            <p:nvPr/>
          </p:nvSpPr>
          <p:spPr>
            <a:xfrm>
              <a:off x="3505963" y="7780024"/>
              <a:ext cx="62462" cy="6400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3" name="Oval 32">
              <a:extLst>
                <a:ext uri="{FF2B5EF4-FFF2-40B4-BE49-F238E27FC236}">
                  <a16:creationId xmlns:a16="http://schemas.microsoft.com/office/drawing/2014/main" id="{5BDBA929-A44A-BBAC-AC2D-79BCB805D32B}"/>
                </a:ext>
              </a:extLst>
            </p:cNvPr>
            <p:cNvSpPr/>
            <p:nvPr/>
          </p:nvSpPr>
          <p:spPr>
            <a:xfrm>
              <a:off x="3126904" y="7780024"/>
              <a:ext cx="62462" cy="64008"/>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4" name="TextBox 33">
              <a:extLst>
                <a:ext uri="{FF2B5EF4-FFF2-40B4-BE49-F238E27FC236}">
                  <a16:creationId xmlns:a16="http://schemas.microsoft.com/office/drawing/2014/main" id="{F8AED231-53B8-3BB3-F32D-363A89096406}"/>
                </a:ext>
              </a:extLst>
            </p:cNvPr>
            <p:cNvSpPr txBox="1"/>
            <p:nvPr/>
          </p:nvSpPr>
          <p:spPr>
            <a:xfrm>
              <a:off x="3137905" y="7709200"/>
              <a:ext cx="369836" cy="157398"/>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100</a:t>
              </a:r>
            </a:p>
          </p:txBody>
        </p:sp>
        <p:sp>
          <p:nvSpPr>
            <p:cNvPr id="35" name="TextBox 34">
              <a:extLst>
                <a:ext uri="{FF2B5EF4-FFF2-40B4-BE49-F238E27FC236}">
                  <a16:creationId xmlns:a16="http://schemas.microsoft.com/office/drawing/2014/main" id="{234A267B-A55A-9AFD-12E1-44FFCEF8EDF2}"/>
                </a:ext>
              </a:extLst>
            </p:cNvPr>
            <p:cNvSpPr txBox="1"/>
            <p:nvPr/>
          </p:nvSpPr>
          <p:spPr>
            <a:xfrm>
              <a:off x="3507303" y="7709237"/>
              <a:ext cx="369836" cy="157399"/>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150</a:t>
              </a:r>
            </a:p>
          </p:txBody>
        </p:sp>
        <p:sp>
          <p:nvSpPr>
            <p:cNvPr id="36" name="TextBox 35">
              <a:extLst>
                <a:ext uri="{FF2B5EF4-FFF2-40B4-BE49-F238E27FC236}">
                  <a16:creationId xmlns:a16="http://schemas.microsoft.com/office/drawing/2014/main" id="{AEB2F927-6A38-D3EA-FF28-1FC02E3E518C}"/>
                </a:ext>
              </a:extLst>
            </p:cNvPr>
            <p:cNvSpPr txBox="1"/>
            <p:nvPr/>
          </p:nvSpPr>
          <p:spPr>
            <a:xfrm>
              <a:off x="2407488" y="7830094"/>
              <a:ext cx="369836" cy="157398"/>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200</a:t>
              </a:r>
            </a:p>
          </p:txBody>
        </p:sp>
        <p:sp>
          <p:nvSpPr>
            <p:cNvPr id="37" name="Oval 36">
              <a:extLst>
                <a:ext uri="{FF2B5EF4-FFF2-40B4-BE49-F238E27FC236}">
                  <a16:creationId xmlns:a16="http://schemas.microsoft.com/office/drawing/2014/main" id="{31BC16D1-EF05-1427-B514-E52D367EE854}"/>
                </a:ext>
              </a:extLst>
            </p:cNvPr>
            <p:cNvSpPr/>
            <p:nvPr/>
          </p:nvSpPr>
          <p:spPr>
            <a:xfrm>
              <a:off x="2768473" y="7900918"/>
              <a:ext cx="62462" cy="64008"/>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8" name="Oval 37">
              <a:extLst>
                <a:ext uri="{FF2B5EF4-FFF2-40B4-BE49-F238E27FC236}">
                  <a16:creationId xmlns:a16="http://schemas.microsoft.com/office/drawing/2014/main" id="{D4BEDA78-C1EC-C2C3-F74E-A89AD160249A}"/>
                </a:ext>
              </a:extLst>
            </p:cNvPr>
            <p:cNvSpPr/>
            <p:nvPr/>
          </p:nvSpPr>
          <p:spPr>
            <a:xfrm>
              <a:off x="2389418" y="7900918"/>
              <a:ext cx="62462" cy="64008"/>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9" name="TextBox 38">
              <a:extLst>
                <a:ext uri="{FF2B5EF4-FFF2-40B4-BE49-F238E27FC236}">
                  <a16:creationId xmlns:a16="http://schemas.microsoft.com/office/drawing/2014/main" id="{B6B9E8BA-5547-186D-BF37-86206FBB4CD7}"/>
                </a:ext>
              </a:extLst>
            </p:cNvPr>
            <p:cNvSpPr txBox="1"/>
            <p:nvPr/>
          </p:nvSpPr>
          <p:spPr>
            <a:xfrm>
              <a:off x="2789582" y="7830132"/>
              <a:ext cx="369836" cy="157396"/>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300</a:t>
              </a:r>
            </a:p>
          </p:txBody>
        </p:sp>
        <p:sp>
          <p:nvSpPr>
            <p:cNvPr id="40" name="Oval 39">
              <a:extLst>
                <a:ext uri="{FF2B5EF4-FFF2-40B4-BE49-F238E27FC236}">
                  <a16:creationId xmlns:a16="http://schemas.microsoft.com/office/drawing/2014/main" id="{6E65297E-3751-100E-CC2C-1E095D82CE3A}"/>
                </a:ext>
              </a:extLst>
            </p:cNvPr>
            <p:cNvSpPr/>
            <p:nvPr/>
          </p:nvSpPr>
          <p:spPr>
            <a:xfrm>
              <a:off x="3505965" y="7900905"/>
              <a:ext cx="62463" cy="64008"/>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1" name="Oval 40">
              <a:extLst>
                <a:ext uri="{FF2B5EF4-FFF2-40B4-BE49-F238E27FC236}">
                  <a16:creationId xmlns:a16="http://schemas.microsoft.com/office/drawing/2014/main" id="{C5262F41-8D6A-6B99-7D08-6DB65884C6EA}"/>
                </a:ext>
              </a:extLst>
            </p:cNvPr>
            <p:cNvSpPr/>
            <p:nvPr/>
          </p:nvSpPr>
          <p:spPr>
            <a:xfrm>
              <a:off x="3126905" y="7900905"/>
              <a:ext cx="62462" cy="640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2" name="TextBox 41">
              <a:extLst>
                <a:ext uri="{FF2B5EF4-FFF2-40B4-BE49-F238E27FC236}">
                  <a16:creationId xmlns:a16="http://schemas.microsoft.com/office/drawing/2014/main" id="{A9A6C41E-AABB-F249-63B0-76F85BA02732}"/>
                </a:ext>
              </a:extLst>
            </p:cNvPr>
            <p:cNvSpPr txBox="1"/>
            <p:nvPr/>
          </p:nvSpPr>
          <p:spPr>
            <a:xfrm>
              <a:off x="3146821" y="7830082"/>
              <a:ext cx="369836" cy="157398"/>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400</a:t>
              </a:r>
            </a:p>
          </p:txBody>
        </p:sp>
        <p:sp>
          <p:nvSpPr>
            <p:cNvPr id="43" name="TextBox 42">
              <a:extLst>
                <a:ext uri="{FF2B5EF4-FFF2-40B4-BE49-F238E27FC236}">
                  <a16:creationId xmlns:a16="http://schemas.microsoft.com/office/drawing/2014/main" id="{C6F22523-07B2-18E6-53BA-9EDB3F663278}"/>
                </a:ext>
              </a:extLst>
            </p:cNvPr>
            <p:cNvSpPr txBox="1"/>
            <p:nvPr/>
          </p:nvSpPr>
          <p:spPr>
            <a:xfrm>
              <a:off x="3516219" y="7830128"/>
              <a:ext cx="369836" cy="157397"/>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500</a:t>
              </a:r>
            </a:p>
          </p:txBody>
        </p:sp>
        <p:sp>
          <p:nvSpPr>
            <p:cNvPr id="44" name="Rectangle 43">
              <a:extLst>
                <a:ext uri="{FF2B5EF4-FFF2-40B4-BE49-F238E27FC236}">
                  <a16:creationId xmlns:a16="http://schemas.microsoft.com/office/drawing/2014/main" id="{7F91B55E-007E-1288-5892-814506E18317}"/>
                </a:ext>
              </a:extLst>
            </p:cNvPr>
            <p:cNvSpPr/>
            <p:nvPr/>
          </p:nvSpPr>
          <p:spPr>
            <a:xfrm>
              <a:off x="2334190" y="7702459"/>
              <a:ext cx="1480043" cy="307454"/>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pic>
        <p:nvPicPr>
          <p:cNvPr id="9" name="Picture 8">
            <a:extLst>
              <a:ext uri="{FF2B5EF4-FFF2-40B4-BE49-F238E27FC236}">
                <a16:creationId xmlns:a16="http://schemas.microsoft.com/office/drawing/2014/main" id="{8A163953-131E-640B-6771-5DE26735D9C3}"/>
              </a:ext>
            </a:extLst>
          </p:cNvPr>
          <p:cNvPicPr>
            <a:picLocks noChangeAspect="1"/>
          </p:cNvPicPr>
          <p:nvPr/>
        </p:nvPicPr>
        <p:blipFill>
          <a:blip r:embed="rId5"/>
          <a:srcRect l="13092"/>
          <a:stretch/>
        </p:blipFill>
        <p:spPr>
          <a:xfrm>
            <a:off x="3403267" y="4394630"/>
            <a:ext cx="1986712" cy="1596060"/>
          </a:xfrm>
          <a:prstGeom prst="rect">
            <a:avLst/>
          </a:prstGeom>
        </p:spPr>
      </p:pic>
      <p:pic>
        <p:nvPicPr>
          <p:cNvPr id="3" name="Picture 2">
            <a:extLst>
              <a:ext uri="{FF2B5EF4-FFF2-40B4-BE49-F238E27FC236}">
                <a16:creationId xmlns:a16="http://schemas.microsoft.com/office/drawing/2014/main" id="{30849236-DD94-A8EF-F38A-5F13BE934979}"/>
              </a:ext>
            </a:extLst>
          </p:cNvPr>
          <p:cNvPicPr>
            <a:picLocks noChangeAspect="1"/>
          </p:cNvPicPr>
          <p:nvPr/>
        </p:nvPicPr>
        <p:blipFill>
          <a:blip r:embed="rId6"/>
          <a:stretch>
            <a:fillRect/>
          </a:stretch>
        </p:blipFill>
        <p:spPr>
          <a:xfrm>
            <a:off x="1216366" y="4395069"/>
            <a:ext cx="2286000" cy="1596060"/>
          </a:xfrm>
          <a:prstGeom prst="rect">
            <a:avLst/>
          </a:prstGeom>
        </p:spPr>
      </p:pic>
      <p:pic>
        <p:nvPicPr>
          <p:cNvPr id="14" name="Picture 13">
            <a:extLst>
              <a:ext uri="{FF2B5EF4-FFF2-40B4-BE49-F238E27FC236}">
                <a16:creationId xmlns:a16="http://schemas.microsoft.com/office/drawing/2014/main" id="{FA99F6B2-0A8E-C13D-83CD-2FF86A6357D6}"/>
              </a:ext>
            </a:extLst>
          </p:cNvPr>
          <p:cNvPicPr>
            <a:picLocks noChangeAspect="1"/>
          </p:cNvPicPr>
          <p:nvPr/>
        </p:nvPicPr>
        <p:blipFill>
          <a:blip r:embed="rId7"/>
          <a:stretch>
            <a:fillRect/>
          </a:stretch>
        </p:blipFill>
        <p:spPr>
          <a:xfrm>
            <a:off x="1220185" y="2806470"/>
            <a:ext cx="2286000" cy="1596060"/>
          </a:xfrm>
          <a:prstGeom prst="rect">
            <a:avLst/>
          </a:prstGeom>
        </p:spPr>
      </p:pic>
      <p:pic>
        <p:nvPicPr>
          <p:cNvPr id="13" name="Picture 12">
            <a:extLst>
              <a:ext uri="{FF2B5EF4-FFF2-40B4-BE49-F238E27FC236}">
                <a16:creationId xmlns:a16="http://schemas.microsoft.com/office/drawing/2014/main" id="{65CC97AA-3AA5-C828-5992-BEA4D6F84157}"/>
              </a:ext>
            </a:extLst>
          </p:cNvPr>
          <p:cNvPicPr>
            <a:picLocks noChangeAspect="1"/>
          </p:cNvPicPr>
          <p:nvPr/>
        </p:nvPicPr>
        <p:blipFill>
          <a:blip r:embed="rId8"/>
          <a:srcRect l="12407"/>
          <a:stretch/>
        </p:blipFill>
        <p:spPr>
          <a:xfrm>
            <a:off x="3396377" y="2805792"/>
            <a:ext cx="2002391" cy="1596060"/>
          </a:xfrm>
          <a:prstGeom prst="rect">
            <a:avLst/>
          </a:prstGeom>
        </p:spPr>
      </p:pic>
      <p:pic>
        <p:nvPicPr>
          <p:cNvPr id="12" name="Picture 11">
            <a:extLst>
              <a:ext uri="{FF2B5EF4-FFF2-40B4-BE49-F238E27FC236}">
                <a16:creationId xmlns:a16="http://schemas.microsoft.com/office/drawing/2014/main" id="{FDEEDF09-BA56-FBC8-061E-8EAE47865C05}"/>
              </a:ext>
            </a:extLst>
          </p:cNvPr>
          <p:cNvPicPr>
            <a:picLocks noChangeAspect="1"/>
          </p:cNvPicPr>
          <p:nvPr/>
        </p:nvPicPr>
        <p:blipFill>
          <a:blip r:embed="rId9"/>
          <a:srcRect l="11172"/>
          <a:stretch/>
        </p:blipFill>
        <p:spPr>
          <a:xfrm>
            <a:off x="3398616" y="1205909"/>
            <a:ext cx="2030604" cy="1592855"/>
          </a:xfrm>
          <a:prstGeom prst="rect">
            <a:avLst/>
          </a:prstGeom>
        </p:spPr>
      </p:pic>
      <p:pic>
        <p:nvPicPr>
          <p:cNvPr id="8" name="Picture 7">
            <a:extLst>
              <a:ext uri="{FF2B5EF4-FFF2-40B4-BE49-F238E27FC236}">
                <a16:creationId xmlns:a16="http://schemas.microsoft.com/office/drawing/2014/main" id="{D095F129-8F85-8FDB-6B06-7F4639B98172}"/>
              </a:ext>
            </a:extLst>
          </p:cNvPr>
          <p:cNvPicPr>
            <a:picLocks noChangeAspect="1"/>
          </p:cNvPicPr>
          <p:nvPr/>
        </p:nvPicPr>
        <p:blipFill>
          <a:blip r:embed="rId10"/>
          <a:stretch>
            <a:fillRect/>
          </a:stretch>
        </p:blipFill>
        <p:spPr>
          <a:xfrm>
            <a:off x="1251552" y="1207074"/>
            <a:ext cx="2286000" cy="1589663"/>
          </a:xfrm>
          <a:prstGeom prst="rect">
            <a:avLst/>
          </a:prstGeom>
        </p:spPr>
      </p:pic>
      <p:grpSp>
        <p:nvGrpSpPr>
          <p:cNvPr id="2" name="Group 1">
            <a:extLst>
              <a:ext uri="{FF2B5EF4-FFF2-40B4-BE49-F238E27FC236}">
                <a16:creationId xmlns:a16="http://schemas.microsoft.com/office/drawing/2014/main" id="{CFE4D797-8FAF-843D-A966-6F409855BCA1}"/>
              </a:ext>
            </a:extLst>
          </p:cNvPr>
          <p:cNvGrpSpPr/>
          <p:nvPr/>
        </p:nvGrpSpPr>
        <p:grpSpPr>
          <a:xfrm>
            <a:off x="2080129" y="2832357"/>
            <a:ext cx="1460181" cy="315312"/>
            <a:chOff x="1367949" y="5033249"/>
            <a:chExt cx="1491341" cy="355087"/>
          </a:xfrm>
        </p:grpSpPr>
        <p:grpSp>
          <p:nvGrpSpPr>
            <p:cNvPr id="4" name="Group 3">
              <a:extLst>
                <a:ext uri="{FF2B5EF4-FFF2-40B4-BE49-F238E27FC236}">
                  <a16:creationId xmlns:a16="http://schemas.microsoft.com/office/drawing/2014/main" id="{CF3B1534-EB74-16DB-FE2A-87E6F6CE5E02}"/>
                </a:ext>
              </a:extLst>
            </p:cNvPr>
            <p:cNvGrpSpPr/>
            <p:nvPr/>
          </p:nvGrpSpPr>
          <p:grpSpPr>
            <a:xfrm>
              <a:off x="1367949" y="5033249"/>
              <a:ext cx="1491341" cy="355087"/>
              <a:chOff x="1380071" y="5262976"/>
              <a:chExt cx="1491341" cy="355087"/>
            </a:xfrm>
          </p:grpSpPr>
          <p:sp>
            <p:nvSpPr>
              <p:cNvPr id="19" name="TextBox 18">
                <a:extLst>
                  <a:ext uri="{FF2B5EF4-FFF2-40B4-BE49-F238E27FC236}">
                    <a16:creationId xmlns:a16="http://schemas.microsoft.com/office/drawing/2014/main" id="{B2D85BB1-F6F4-D560-E56F-1A5FC8FC1AE0}"/>
                  </a:ext>
                </a:extLst>
              </p:cNvPr>
              <p:cNvSpPr txBox="1"/>
              <p:nvPr/>
            </p:nvSpPr>
            <p:spPr>
              <a:xfrm>
                <a:off x="2489532" y="5401792"/>
                <a:ext cx="381880"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500</a:t>
                </a:r>
              </a:p>
            </p:txBody>
          </p:sp>
          <p:sp>
            <p:nvSpPr>
              <p:cNvPr id="17" name="TextBox 16">
                <a:extLst>
                  <a:ext uri="{FF2B5EF4-FFF2-40B4-BE49-F238E27FC236}">
                    <a16:creationId xmlns:a16="http://schemas.microsoft.com/office/drawing/2014/main" id="{BA6D02DF-8755-F681-A12D-65B43BA7435A}"/>
                  </a:ext>
                </a:extLst>
              </p:cNvPr>
              <p:cNvSpPr txBox="1"/>
              <p:nvPr/>
            </p:nvSpPr>
            <p:spPr>
              <a:xfrm>
                <a:off x="1380071" y="5401793"/>
                <a:ext cx="542869"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 25</a:t>
                </a:r>
              </a:p>
            </p:txBody>
          </p:sp>
          <p:sp>
            <p:nvSpPr>
              <p:cNvPr id="24" name="TextBox 23">
                <a:extLst>
                  <a:ext uri="{FF2B5EF4-FFF2-40B4-BE49-F238E27FC236}">
                    <a16:creationId xmlns:a16="http://schemas.microsoft.com/office/drawing/2014/main" id="{D692BC41-2503-88DD-B810-0309575F03EF}"/>
                  </a:ext>
                </a:extLst>
              </p:cNvPr>
              <p:cNvSpPr txBox="1"/>
              <p:nvPr/>
            </p:nvSpPr>
            <p:spPr>
              <a:xfrm>
                <a:off x="1471081" y="5262976"/>
                <a:ext cx="1296111" cy="242621"/>
              </a:xfrm>
              <a:prstGeom prst="rect">
                <a:avLst/>
              </a:prstGeom>
              <a:noFill/>
            </p:spPr>
            <p:txBody>
              <a:bodyPr wrap="square" rtlCol="0">
                <a:spAutoFit/>
              </a:bodyPr>
              <a:lstStyle/>
              <a:p>
                <a:pPr algn="ctr"/>
                <a:r>
                  <a:rPr lang="en-US" sz="800" i="1">
                    <a:latin typeface="Arial" panose="020B0604020202020204" pitchFamily="34" charset="0"/>
                    <a:cs typeface="Arial" panose="020B0604020202020204" pitchFamily="34" charset="0"/>
                  </a:rPr>
                  <a:t>m</a:t>
                </a:r>
              </a:p>
            </p:txBody>
          </p:sp>
          <p:sp>
            <p:nvSpPr>
              <p:cNvPr id="53" name="Rectangle 52">
                <a:extLst>
                  <a:ext uri="{FF2B5EF4-FFF2-40B4-BE49-F238E27FC236}">
                    <a16:creationId xmlns:a16="http://schemas.microsoft.com/office/drawing/2014/main" id="{473656EE-469E-07A3-4D72-3E898C04CBB7}"/>
                  </a:ext>
                </a:extLst>
              </p:cNvPr>
              <p:cNvSpPr/>
              <p:nvPr/>
            </p:nvSpPr>
            <p:spPr>
              <a:xfrm>
                <a:off x="1481262" y="5315381"/>
                <a:ext cx="1296111" cy="302682"/>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nvGrpSpPr>
            <p:cNvPr id="6" name="Group 5">
              <a:extLst>
                <a:ext uri="{FF2B5EF4-FFF2-40B4-BE49-F238E27FC236}">
                  <a16:creationId xmlns:a16="http://schemas.microsoft.com/office/drawing/2014/main" id="{D1DE405B-D500-080D-9BFA-A7DA2346C531}"/>
                </a:ext>
              </a:extLst>
            </p:cNvPr>
            <p:cNvGrpSpPr/>
            <p:nvPr/>
          </p:nvGrpSpPr>
          <p:grpSpPr>
            <a:xfrm>
              <a:off x="1608008" y="5216271"/>
              <a:ext cx="927485" cy="133868"/>
              <a:chOff x="1627508" y="5462384"/>
              <a:chExt cx="927485" cy="133868"/>
            </a:xfrm>
          </p:grpSpPr>
          <p:cxnSp>
            <p:nvCxnSpPr>
              <p:cNvPr id="7" name="Straight Connector 6">
                <a:extLst>
                  <a:ext uri="{FF2B5EF4-FFF2-40B4-BE49-F238E27FC236}">
                    <a16:creationId xmlns:a16="http://schemas.microsoft.com/office/drawing/2014/main" id="{3E2AEB61-26FD-8FF1-EC08-5435F51CFE3A}"/>
                  </a:ext>
                </a:extLst>
              </p:cNvPr>
              <p:cNvCxnSpPr>
                <a:cxnSpLocks/>
                <a:endCxn id="16" idx="3"/>
              </p:cNvCxnSpPr>
              <p:nvPr/>
            </p:nvCxnSpPr>
            <p:spPr>
              <a:xfrm flipV="1">
                <a:off x="1627508" y="5529319"/>
                <a:ext cx="927485" cy="1877"/>
              </a:xfrm>
              <a:prstGeom prst="line">
                <a:avLst/>
              </a:prstGeom>
              <a:ln w="123825">
                <a:gradFill flip="none" rotWithShape="1">
                  <a:gsLst>
                    <a:gs pos="0">
                      <a:schemeClr val="bg1"/>
                    </a:gs>
                    <a:gs pos="100000">
                      <a:schemeClr val="accent1">
                        <a:lumMod val="97000"/>
                        <a:lumOff val="3000"/>
                      </a:schemeClr>
                    </a:gs>
                    <a:gs pos="100000">
                      <a:srgbClr val="0070C0"/>
                    </a:gs>
                  </a:gsLst>
                  <a:lin ang="21594000" scaled="0"/>
                  <a:tileRect/>
                </a:gra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132DC1C-A766-81E9-A683-655F22489B52}"/>
                  </a:ext>
                </a:extLst>
              </p:cNvPr>
              <p:cNvSpPr/>
              <p:nvPr/>
            </p:nvSpPr>
            <p:spPr>
              <a:xfrm>
                <a:off x="1658925" y="5462384"/>
                <a:ext cx="896068" cy="133868"/>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sp>
        <p:nvSpPr>
          <p:cNvPr id="65" name="TextBox 64">
            <a:extLst>
              <a:ext uri="{FF2B5EF4-FFF2-40B4-BE49-F238E27FC236}">
                <a16:creationId xmlns:a16="http://schemas.microsoft.com/office/drawing/2014/main" id="{89669A4F-AEA7-A6E5-322E-93B0925014DE}"/>
              </a:ext>
            </a:extLst>
          </p:cNvPr>
          <p:cNvSpPr txBox="1"/>
          <p:nvPr/>
        </p:nvSpPr>
        <p:spPr>
          <a:xfrm>
            <a:off x="2190604" y="1001320"/>
            <a:ext cx="69602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 IBIs</a:t>
            </a:r>
          </a:p>
        </p:txBody>
      </p:sp>
      <p:sp>
        <p:nvSpPr>
          <p:cNvPr id="66" name="TextBox 65">
            <a:extLst>
              <a:ext uri="{FF2B5EF4-FFF2-40B4-BE49-F238E27FC236}">
                <a16:creationId xmlns:a16="http://schemas.microsoft.com/office/drawing/2014/main" id="{93DD0BDA-DF9B-5A24-0F45-340CF8F9B9D5}"/>
              </a:ext>
            </a:extLst>
          </p:cNvPr>
          <p:cNvSpPr txBox="1"/>
          <p:nvPr/>
        </p:nvSpPr>
        <p:spPr>
          <a:xfrm>
            <a:off x="3968837" y="1001320"/>
            <a:ext cx="87235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Without IBIs</a:t>
            </a:r>
          </a:p>
        </p:txBody>
      </p:sp>
      <p:grpSp>
        <p:nvGrpSpPr>
          <p:cNvPr id="91" name="Group 90">
            <a:extLst>
              <a:ext uri="{FF2B5EF4-FFF2-40B4-BE49-F238E27FC236}">
                <a16:creationId xmlns:a16="http://schemas.microsoft.com/office/drawing/2014/main" id="{52E609BD-839B-6419-E7C3-4536FE8F6CC5}"/>
              </a:ext>
            </a:extLst>
          </p:cNvPr>
          <p:cNvGrpSpPr/>
          <p:nvPr/>
        </p:nvGrpSpPr>
        <p:grpSpPr>
          <a:xfrm>
            <a:off x="2447963" y="1266473"/>
            <a:ext cx="1120963" cy="545821"/>
            <a:chOff x="5415605" y="1544871"/>
            <a:chExt cx="1120963" cy="545821"/>
          </a:xfrm>
        </p:grpSpPr>
        <p:sp>
          <p:nvSpPr>
            <p:cNvPr id="58" name="TextBox 57">
              <a:extLst>
                <a:ext uri="{FF2B5EF4-FFF2-40B4-BE49-F238E27FC236}">
                  <a16:creationId xmlns:a16="http://schemas.microsoft.com/office/drawing/2014/main" id="{820FF413-8BF5-5EFD-5C05-EADA6A402481}"/>
                </a:ext>
              </a:extLst>
            </p:cNvPr>
            <p:cNvSpPr txBox="1"/>
            <p:nvPr/>
          </p:nvSpPr>
          <p:spPr>
            <a:xfrm>
              <a:off x="6035088" y="1545188"/>
              <a:ext cx="501480"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IBI</a:t>
              </a:r>
            </a:p>
          </p:txBody>
        </p:sp>
        <p:grpSp>
          <p:nvGrpSpPr>
            <p:cNvPr id="61" name="Group 60">
              <a:extLst>
                <a:ext uri="{FF2B5EF4-FFF2-40B4-BE49-F238E27FC236}">
                  <a16:creationId xmlns:a16="http://schemas.microsoft.com/office/drawing/2014/main" id="{0C6EF780-28F9-B259-6F06-54E4186B1313}"/>
                </a:ext>
              </a:extLst>
            </p:cNvPr>
            <p:cNvGrpSpPr/>
            <p:nvPr/>
          </p:nvGrpSpPr>
          <p:grpSpPr>
            <a:xfrm>
              <a:off x="6036121" y="1726518"/>
              <a:ext cx="276109" cy="68863"/>
              <a:chOff x="4190066" y="6907333"/>
              <a:chExt cx="351691" cy="82151"/>
            </a:xfrm>
          </p:grpSpPr>
          <p:cxnSp>
            <p:nvCxnSpPr>
              <p:cNvPr id="81" name="Straight Connector 80">
                <a:extLst>
                  <a:ext uri="{FF2B5EF4-FFF2-40B4-BE49-F238E27FC236}">
                    <a16:creationId xmlns:a16="http://schemas.microsoft.com/office/drawing/2014/main" id="{AEA1C976-34CA-B904-94BC-D1A6F35316C3}"/>
                  </a:ext>
                </a:extLst>
              </p:cNvPr>
              <p:cNvCxnSpPr>
                <a:cxnSpLocks/>
              </p:cNvCxnSpPr>
              <p:nvPr/>
            </p:nvCxnSpPr>
            <p:spPr>
              <a:xfrm>
                <a:off x="4190066" y="6948408"/>
                <a:ext cx="35169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8DCE55B0-D364-D771-D42F-CEA36B9120D0}"/>
                  </a:ext>
                </a:extLst>
              </p:cNvPr>
              <p:cNvSpPr/>
              <p:nvPr/>
            </p:nvSpPr>
            <p:spPr>
              <a:xfrm>
                <a:off x="4324836" y="6907333"/>
                <a:ext cx="82151" cy="82151"/>
              </a:xfrm>
              <a:prstGeom prst="ellipse">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63" name="Rectangle 62">
              <a:extLst>
                <a:ext uri="{FF2B5EF4-FFF2-40B4-BE49-F238E27FC236}">
                  <a16:creationId xmlns:a16="http://schemas.microsoft.com/office/drawing/2014/main" id="{6117CDF8-056B-4950-20D9-CFFEE499C942}"/>
                </a:ext>
              </a:extLst>
            </p:cNvPr>
            <p:cNvSpPr/>
            <p:nvPr/>
          </p:nvSpPr>
          <p:spPr>
            <a:xfrm>
              <a:off x="5415606" y="1544871"/>
              <a:ext cx="993662" cy="545821"/>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cxnSp>
          <p:nvCxnSpPr>
            <p:cNvPr id="71" name="Straight Connector 70">
              <a:extLst>
                <a:ext uri="{FF2B5EF4-FFF2-40B4-BE49-F238E27FC236}">
                  <a16:creationId xmlns:a16="http://schemas.microsoft.com/office/drawing/2014/main" id="{64F50EED-1B2E-252C-38EC-221B4819FD35}"/>
                </a:ext>
              </a:extLst>
            </p:cNvPr>
            <p:cNvCxnSpPr>
              <a:cxnSpLocks/>
            </p:cNvCxnSpPr>
            <p:nvPr/>
          </p:nvCxnSpPr>
          <p:spPr>
            <a:xfrm>
              <a:off x="6036121" y="1875248"/>
              <a:ext cx="27610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3CFC46A-1AEB-A845-2554-6BDBCE8F22B6}"/>
                </a:ext>
              </a:extLst>
            </p:cNvPr>
            <p:cNvCxnSpPr>
              <a:cxnSpLocks/>
            </p:cNvCxnSpPr>
            <p:nvPr/>
          </p:nvCxnSpPr>
          <p:spPr>
            <a:xfrm>
              <a:off x="6036121" y="1998013"/>
              <a:ext cx="27610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EBBC8FC9-1C7F-22EC-8681-24603DF89646}"/>
                </a:ext>
              </a:extLst>
            </p:cNvPr>
            <p:cNvSpPr txBox="1"/>
            <p:nvPr/>
          </p:nvSpPr>
          <p:spPr>
            <a:xfrm>
              <a:off x="5415605" y="1643290"/>
              <a:ext cx="726363"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Offer</a:t>
              </a:r>
            </a:p>
          </p:txBody>
        </p:sp>
        <p:sp>
          <p:nvSpPr>
            <p:cNvPr id="75" name="TextBox 74">
              <a:extLst>
                <a:ext uri="{FF2B5EF4-FFF2-40B4-BE49-F238E27FC236}">
                  <a16:creationId xmlns:a16="http://schemas.microsoft.com/office/drawing/2014/main" id="{0A72AA87-0FD1-DC62-D235-DC833111EE26}"/>
                </a:ext>
              </a:extLst>
            </p:cNvPr>
            <p:cNvSpPr txBox="1"/>
            <p:nvPr/>
          </p:nvSpPr>
          <p:spPr>
            <a:xfrm>
              <a:off x="5415605" y="1767736"/>
              <a:ext cx="726363"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AT</a:t>
              </a:r>
            </a:p>
          </p:txBody>
        </p:sp>
        <p:sp>
          <p:nvSpPr>
            <p:cNvPr id="76" name="TextBox 75">
              <a:extLst>
                <a:ext uri="{FF2B5EF4-FFF2-40B4-BE49-F238E27FC236}">
                  <a16:creationId xmlns:a16="http://schemas.microsoft.com/office/drawing/2014/main" id="{57488200-59E3-D173-967A-40C12AA5B300}"/>
                </a:ext>
              </a:extLst>
            </p:cNvPr>
            <p:cNvSpPr txBox="1"/>
            <p:nvPr/>
          </p:nvSpPr>
          <p:spPr>
            <a:xfrm>
              <a:off x="5415605" y="1875248"/>
              <a:ext cx="726363"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Rejection</a:t>
              </a:r>
            </a:p>
          </p:txBody>
        </p:sp>
        <p:sp>
          <p:nvSpPr>
            <p:cNvPr id="78" name="Rectangle 77">
              <a:extLst>
                <a:ext uri="{FF2B5EF4-FFF2-40B4-BE49-F238E27FC236}">
                  <a16:creationId xmlns:a16="http://schemas.microsoft.com/office/drawing/2014/main" id="{175FB474-DFCA-8665-1D40-B435496846D1}"/>
                </a:ext>
              </a:extLst>
            </p:cNvPr>
            <p:cNvSpPr/>
            <p:nvPr/>
          </p:nvSpPr>
          <p:spPr>
            <a:xfrm>
              <a:off x="6138536" y="1834801"/>
              <a:ext cx="73152" cy="731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80" name="Triangle 79">
              <a:extLst>
                <a:ext uri="{FF2B5EF4-FFF2-40B4-BE49-F238E27FC236}">
                  <a16:creationId xmlns:a16="http://schemas.microsoft.com/office/drawing/2014/main" id="{00B2F724-E601-0BC0-5174-C2098413B399}"/>
                </a:ext>
              </a:extLst>
            </p:cNvPr>
            <p:cNvSpPr/>
            <p:nvPr/>
          </p:nvSpPr>
          <p:spPr>
            <a:xfrm>
              <a:off x="6137599" y="1947902"/>
              <a:ext cx="82296" cy="8229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5" name="TextBox 4">
            <a:extLst>
              <a:ext uri="{FF2B5EF4-FFF2-40B4-BE49-F238E27FC236}">
                <a16:creationId xmlns:a16="http://schemas.microsoft.com/office/drawing/2014/main" id="{73514C3A-37C8-B9B9-30C0-E8F7DFD1D836}"/>
              </a:ext>
            </a:extLst>
          </p:cNvPr>
          <p:cNvSpPr txBox="1"/>
          <p:nvPr/>
        </p:nvSpPr>
        <p:spPr>
          <a:xfrm>
            <a:off x="1496702" y="1198582"/>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a</a:t>
            </a:r>
          </a:p>
        </p:txBody>
      </p:sp>
      <p:sp>
        <p:nvSpPr>
          <p:cNvPr id="20" name="TextBox 19">
            <a:extLst>
              <a:ext uri="{FF2B5EF4-FFF2-40B4-BE49-F238E27FC236}">
                <a16:creationId xmlns:a16="http://schemas.microsoft.com/office/drawing/2014/main" id="{86ED34F4-A479-2044-976E-0409CC4E3230}"/>
              </a:ext>
            </a:extLst>
          </p:cNvPr>
          <p:cNvSpPr txBox="1"/>
          <p:nvPr/>
        </p:nvSpPr>
        <p:spPr>
          <a:xfrm>
            <a:off x="3401029" y="1207818"/>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t>
            </a:r>
          </a:p>
        </p:txBody>
      </p:sp>
      <p:sp>
        <p:nvSpPr>
          <p:cNvPr id="21" name="TextBox 20">
            <a:extLst>
              <a:ext uri="{FF2B5EF4-FFF2-40B4-BE49-F238E27FC236}">
                <a16:creationId xmlns:a16="http://schemas.microsoft.com/office/drawing/2014/main" id="{51FE3088-964E-41B8-E0F0-1D4A9EFA5550}"/>
              </a:ext>
            </a:extLst>
          </p:cNvPr>
          <p:cNvSpPr txBox="1"/>
          <p:nvPr/>
        </p:nvSpPr>
        <p:spPr>
          <a:xfrm>
            <a:off x="1496702" y="2815924"/>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c</a:t>
            </a:r>
          </a:p>
        </p:txBody>
      </p:sp>
      <p:sp>
        <p:nvSpPr>
          <p:cNvPr id="22" name="TextBox 21">
            <a:extLst>
              <a:ext uri="{FF2B5EF4-FFF2-40B4-BE49-F238E27FC236}">
                <a16:creationId xmlns:a16="http://schemas.microsoft.com/office/drawing/2014/main" id="{9C152471-422C-0F50-D380-F7FF04306FD5}"/>
              </a:ext>
            </a:extLst>
          </p:cNvPr>
          <p:cNvSpPr txBox="1"/>
          <p:nvPr/>
        </p:nvSpPr>
        <p:spPr>
          <a:xfrm>
            <a:off x="3401029" y="2815924"/>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p>
        </p:txBody>
      </p:sp>
      <p:sp>
        <p:nvSpPr>
          <p:cNvPr id="89" name="TextBox 88">
            <a:extLst>
              <a:ext uri="{FF2B5EF4-FFF2-40B4-BE49-F238E27FC236}">
                <a16:creationId xmlns:a16="http://schemas.microsoft.com/office/drawing/2014/main" id="{D5605703-9DCF-5327-D18C-678F2EF8406B}"/>
              </a:ext>
            </a:extLst>
          </p:cNvPr>
          <p:cNvSpPr txBox="1"/>
          <p:nvPr/>
        </p:nvSpPr>
        <p:spPr>
          <a:xfrm>
            <a:off x="1498940" y="4416036"/>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e</a:t>
            </a:r>
          </a:p>
        </p:txBody>
      </p:sp>
      <p:sp>
        <p:nvSpPr>
          <p:cNvPr id="90" name="TextBox 89">
            <a:extLst>
              <a:ext uri="{FF2B5EF4-FFF2-40B4-BE49-F238E27FC236}">
                <a16:creationId xmlns:a16="http://schemas.microsoft.com/office/drawing/2014/main" id="{02DAA50A-AE31-79C3-623F-41198E939DAC}"/>
              </a:ext>
            </a:extLst>
          </p:cNvPr>
          <p:cNvSpPr txBox="1"/>
          <p:nvPr/>
        </p:nvSpPr>
        <p:spPr>
          <a:xfrm>
            <a:off x="3403267" y="4416036"/>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f</a:t>
            </a:r>
          </a:p>
        </p:txBody>
      </p:sp>
      <p:sp>
        <p:nvSpPr>
          <p:cNvPr id="45" name="Rectangle 44">
            <a:extLst>
              <a:ext uri="{FF2B5EF4-FFF2-40B4-BE49-F238E27FC236}">
                <a16:creationId xmlns:a16="http://schemas.microsoft.com/office/drawing/2014/main" id="{792797D9-8BAD-172B-ED55-FB18407F5E3A}"/>
              </a:ext>
            </a:extLst>
          </p:cNvPr>
          <p:cNvSpPr/>
          <p:nvPr/>
        </p:nvSpPr>
        <p:spPr>
          <a:xfrm>
            <a:off x="2647950" y="2998053"/>
            <a:ext cx="45719" cy="10972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47966AB-44B3-D39C-81D7-12F2DA2465A3}"/>
              </a:ext>
            </a:extLst>
          </p:cNvPr>
          <p:cNvSpPr/>
          <p:nvPr/>
        </p:nvSpPr>
        <p:spPr>
          <a:xfrm>
            <a:off x="2349499" y="2998053"/>
            <a:ext cx="45720" cy="1097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0036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109EDD27-D9DA-1E35-51DA-951DC134C041}"/>
              </a:ext>
            </a:extLst>
          </p:cNvPr>
          <p:cNvGrpSpPr/>
          <p:nvPr/>
        </p:nvGrpSpPr>
        <p:grpSpPr>
          <a:xfrm>
            <a:off x="836236" y="3924387"/>
            <a:ext cx="2743200" cy="2019604"/>
            <a:chOff x="836236" y="3924387"/>
            <a:chExt cx="2743200" cy="2019604"/>
          </a:xfrm>
        </p:grpSpPr>
        <p:grpSp>
          <p:nvGrpSpPr>
            <p:cNvPr id="30" name="Group 29">
              <a:extLst>
                <a:ext uri="{FF2B5EF4-FFF2-40B4-BE49-F238E27FC236}">
                  <a16:creationId xmlns:a16="http://schemas.microsoft.com/office/drawing/2014/main" id="{2560275D-B79E-CA16-A9DC-9C7EF519B13F}"/>
                </a:ext>
              </a:extLst>
            </p:cNvPr>
            <p:cNvGrpSpPr/>
            <p:nvPr/>
          </p:nvGrpSpPr>
          <p:grpSpPr>
            <a:xfrm>
              <a:off x="836236" y="3924387"/>
              <a:ext cx="2743200" cy="2019604"/>
              <a:chOff x="836236" y="3924387"/>
              <a:chExt cx="2743200" cy="2019604"/>
            </a:xfrm>
          </p:grpSpPr>
          <p:pic>
            <p:nvPicPr>
              <p:cNvPr id="23" name="Picture 22">
                <a:extLst>
                  <a:ext uri="{FF2B5EF4-FFF2-40B4-BE49-F238E27FC236}">
                    <a16:creationId xmlns:a16="http://schemas.microsoft.com/office/drawing/2014/main" id="{EA576DF0-A5AA-C629-226A-43143B5BC028}"/>
                  </a:ext>
                </a:extLst>
              </p:cNvPr>
              <p:cNvPicPr>
                <a:picLocks noChangeAspect="1"/>
              </p:cNvPicPr>
              <p:nvPr/>
            </p:nvPicPr>
            <p:blipFill>
              <a:blip r:embed="rId3"/>
              <a:stretch>
                <a:fillRect/>
              </a:stretch>
            </p:blipFill>
            <p:spPr>
              <a:xfrm>
                <a:off x="836236" y="3934569"/>
                <a:ext cx="2743200" cy="2009422"/>
              </a:xfrm>
              <a:prstGeom prst="rect">
                <a:avLst/>
              </a:prstGeom>
            </p:spPr>
          </p:pic>
          <p:sp>
            <p:nvSpPr>
              <p:cNvPr id="29" name="Rectangle 28">
                <a:extLst>
                  <a:ext uri="{FF2B5EF4-FFF2-40B4-BE49-F238E27FC236}">
                    <a16:creationId xmlns:a16="http://schemas.microsoft.com/office/drawing/2014/main" id="{21883C9C-02AA-CE53-1F9D-408455600F9D}"/>
                  </a:ext>
                </a:extLst>
              </p:cNvPr>
              <p:cNvSpPr/>
              <p:nvPr/>
            </p:nvSpPr>
            <p:spPr>
              <a:xfrm>
                <a:off x="927100" y="3924387"/>
                <a:ext cx="222157" cy="1713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F7803DD6-46CF-06BD-138B-51933DBE80F9}"/>
                </a:ext>
              </a:extLst>
            </p:cNvPr>
            <p:cNvSpPr/>
            <p:nvPr/>
          </p:nvSpPr>
          <p:spPr>
            <a:xfrm>
              <a:off x="3333434" y="5677815"/>
              <a:ext cx="244657" cy="1451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8122274-16CF-DE00-ADFA-2BA435D616E9}"/>
              </a:ext>
            </a:extLst>
          </p:cNvPr>
          <p:cNvGrpSpPr/>
          <p:nvPr/>
        </p:nvGrpSpPr>
        <p:grpSpPr>
          <a:xfrm>
            <a:off x="834891" y="2305259"/>
            <a:ext cx="2743200" cy="1746479"/>
            <a:chOff x="834891" y="2305259"/>
            <a:chExt cx="2743200" cy="1746479"/>
          </a:xfrm>
        </p:grpSpPr>
        <p:pic>
          <p:nvPicPr>
            <p:cNvPr id="9" name="Picture 8">
              <a:extLst>
                <a:ext uri="{FF2B5EF4-FFF2-40B4-BE49-F238E27FC236}">
                  <a16:creationId xmlns:a16="http://schemas.microsoft.com/office/drawing/2014/main" id="{DDFBDA5A-5C07-FE3E-585C-07333C4F0462}"/>
                </a:ext>
              </a:extLst>
            </p:cNvPr>
            <p:cNvPicPr>
              <a:picLocks noChangeAspect="1"/>
            </p:cNvPicPr>
            <p:nvPr/>
          </p:nvPicPr>
          <p:blipFill>
            <a:blip r:embed="rId4"/>
            <a:srcRect b="13086"/>
            <a:stretch/>
          </p:blipFill>
          <p:spPr>
            <a:xfrm>
              <a:off x="834891" y="2305259"/>
              <a:ext cx="2743200" cy="1746479"/>
            </a:xfrm>
            <a:prstGeom prst="rect">
              <a:avLst/>
            </a:prstGeom>
          </p:spPr>
        </p:pic>
        <p:sp>
          <p:nvSpPr>
            <p:cNvPr id="27" name="Rectangle 26">
              <a:extLst>
                <a:ext uri="{FF2B5EF4-FFF2-40B4-BE49-F238E27FC236}">
                  <a16:creationId xmlns:a16="http://schemas.microsoft.com/office/drawing/2014/main" id="{DDE6DF28-43C9-474F-CDA0-BDDC2ECD3268}"/>
                </a:ext>
              </a:extLst>
            </p:cNvPr>
            <p:cNvSpPr/>
            <p:nvPr/>
          </p:nvSpPr>
          <p:spPr>
            <a:xfrm>
              <a:off x="927100" y="2318477"/>
              <a:ext cx="222157" cy="1860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a:extLst>
              <a:ext uri="{FF2B5EF4-FFF2-40B4-BE49-F238E27FC236}">
                <a16:creationId xmlns:a16="http://schemas.microsoft.com/office/drawing/2014/main" id="{38BCFC8A-8B7A-A9B9-2AC7-3C13399CAC65}"/>
              </a:ext>
            </a:extLst>
          </p:cNvPr>
          <p:cNvPicPr>
            <a:picLocks noChangeAspect="1"/>
          </p:cNvPicPr>
          <p:nvPr/>
        </p:nvPicPr>
        <p:blipFill>
          <a:blip r:embed="rId5"/>
          <a:srcRect l="10702" b="12291"/>
          <a:stretch/>
        </p:blipFill>
        <p:spPr>
          <a:xfrm>
            <a:off x="3383343" y="2305259"/>
            <a:ext cx="2449635" cy="1762442"/>
          </a:xfrm>
          <a:prstGeom prst="rect">
            <a:avLst/>
          </a:prstGeom>
        </p:spPr>
      </p:pic>
      <p:pic>
        <p:nvPicPr>
          <p:cNvPr id="2" name="Picture 1">
            <a:extLst>
              <a:ext uri="{FF2B5EF4-FFF2-40B4-BE49-F238E27FC236}">
                <a16:creationId xmlns:a16="http://schemas.microsoft.com/office/drawing/2014/main" id="{DBE15438-5753-1E1E-9B13-70C812E2636C}"/>
              </a:ext>
            </a:extLst>
          </p:cNvPr>
          <p:cNvPicPr>
            <a:picLocks noChangeAspect="1"/>
          </p:cNvPicPr>
          <p:nvPr/>
        </p:nvPicPr>
        <p:blipFill>
          <a:blip r:embed="rId6"/>
          <a:srcRect b="11827"/>
          <a:stretch/>
        </p:blipFill>
        <p:spPr>
          <a:xfrm>
            <a:off x="836236" y="679182"/>
            <a:ext cx="2743200" cy="1771758"/>
          </a:xfrm>
          <a:prstGeom prst="rect">
            <a:avLst/>
          </a:prstGeom>
        </p:spPr>
      </p:pic>
      <p:sp>
        <p:nvSpPr>
          <p:cNvPr id="16" name="TextBox 15">
            <a:extLst>
              <a:ext uri="{FF2B5EF4-FFF2-40B4-BE49-F238E27FC236}">
                <a16:creationId xmlns:a16="http://schemas.microsoft.com/office/drawing/2014/main" id="{6D582F55-6DF4-6A3C-159D-1305C44137FF}"/>
              </a:ext>
            </a:extLst>
          </p:cNvPr>
          <p:cNvSpPr txBox="1"/>
          <p:nvPr/>
        </p:nvSpPr>
        <p:spPr>
          <a:xfrm>
            <a:off x="2360933" y="518718"/>
            <a:ext cx="667170"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Random</a:t>
            </a:r>
          </a:p>
        </p:txBody>
      </p:sp>
      <p:sp>
        <p:nvSpPr>
          <p:cNvPr id="17" name="TextBox 16">
            <a:extLst>
              <a:ext uri="{FF2B5EF4-FFF2-40B4-BE49-F238E27FC236}">
                <a16:creationId xmlns:a16="http://schemas.microsoft.com/office/drawing/2014/main" id="{8F086E0A-BFE6-5295-F5D4-A19E666AE907}"/>
              </a:ext>
            </a:extLst>
          </p:cNvPr>
          <p:cNvSpPr txBox="1"/>
          <p:nvPr/>
        </p:nvSpPr>
        <p:spPr>
          <a:xfrm>
            <a:off x="4282602" y="518718"/>
            <a:ext cx="447558"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Zero</a:t>
            </a:r>
          </a:p>
        </p:txBody>
      </p:sp>
      <p:sp>
        <p:nvSpPr>
          <p:cNvPr id="4" name="TextBox 3">
            <a:extLst>
              <a:ext uri="{FF2B5EF4-FFF2-40B4-BE49-F238E27FC236}">
                <a16:creationId xmlns:a16="http://schemas.microsoft.com/office/drawing/2014/main" id="{98252F81-83BD-6824-0948-F558B6B31153}"/>
              </a:ext>
            </a:extLst>
          </p:cNvPr>
          <p:cNvSpPr txBox="1"/>
          <p:nvPr/>
        </p:nvSpPr>
        <p:spPr>
          <a:xfrm>
            <a:off x="1220145" y="72222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5" name="TextBox 4">
            <a:extLst>
              <a:ext uri="{FF2B5EF4-FFF2-40B4-BE49-F238E27FC236}">
                <a16:creationId xmlns:a16="http://schemas.microsoft.com/office/drawing/2014/main" id="{50355D6B-7B52-DD0A-91AB-7314EC99CE30}"/>
              </a:ext>
            </a:extLst>
          </p:cNvPr>
          <p:cNvSpPr txBox="1"/>
          <p:nvPr/>
        </p:nvSpPr>
        <p:spPr>
          <a:xfrm>
            <a:off x="3454674" y="734662"/>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b</a:t>
            </a:r>
          </a:p>
        </p:txBody>
      </p:sp>
      <p:sp>
        <p:nvSpPr>
          <p:cNvPr id="6" name="TextBox 5">
            <a:extLst>
              <a:ext uri="{FF2B5EF4-FFF2-40B4-BE49-F238E27FC236}">
                <a16:creationId xmlns:a16="http://schemas.microsoft.com/office/drawing/2014/main" id="{2B0DDEE1-FFDF-CAA7-3FE2-6BF40A603F24}"/>
              </a:ext>
            </a:extLst>
          </p:cNvPr>
          <p:cNvSpPr txBox="1"/>
          <p:nvPr/>
        </p:nvSpPr>
        <p:spPr>
          <a:xfrm>
            <a:off x="1220145" y="2373105"/>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c</a:t>
            </a:r>
          </a:p>
        </p:txBody>
      </p:sp>
      <p:sp>
        <p:nvSpPr>
          <p:cNvPr id="7" name="TextBox 6">
            <a:extLst>
              <a:ext uri="{FF2B5EF4-FFF2-40B4-BE49-F238E27FC236}">
                <a16:creationId xmlns:a16="http://schemas.microsoft.com/office/drawing/2014/main" id="{EC15C909-31E8-0ED6-CAF7-7A699D83BC10}"/>
              </a:ext>
            </a:extLst>
          </p:cNvPr>
          <p:cNvSpPr txBox="1"/>
          <p:nvPr/>
        </p:nvSpPr>
        <p:spPr>
          <a:xfrm>
            <a:off x="3454674" y="2373105"/>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p>
        </p:txBody>
      </p:sp>
      <p:sp>
        <p:nvSpPr>
          <p:cNvPr id="8" name="TextBox 7">
            <a:extLst>
              <a:ext uri="{FF2B5EF4-FFF2-40B4-BE49-F238E27FC236}">
                <a16:creationId xmlns:a16="http://schemas.microsoft.com/office/drawing/2014/main" id="{A7985B4D-FEEC-5521-731D-CB835BDB54D6}"/>
              </a:ext>
            </a:extLst>
          </p:cNvPr>
          <p:cNvSpPr txBox="1"/>
          <p:nvPr/>
        </p:nvSpPr>
        <p:spPr>
          <a:xfrm>
            <a:off x="1220145" y="4057879"/>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e</a:t>
            </a:r>
          </a:p>
        </p:txBody>
      </p:sp>
      <p:sp>
        <p:nvSpPr>
          <p:cNvPr id="10" name="TextBox 9">
            <a:extLst>
              <a:ext uri="{FF2B5EF4-FFF2-40B4-BE49-F238E27FC236}">
                <a16:creationId xmlns:a16="http://schemas.microsoft.com/office/drawing/2014/main" id="{9ADE7252-7D76-1CF9-C2B9-ECF956BABAFA}"/>
              </a:ext>
            </a:extLst>
          </p:cNvPr>
          <p:cNvSpPr txBox="1"/>
          <p:nvPr/>
        </p:nvSpPr>
        <p:spPr>
          <a:xfrm>
            <a:off x="3480954" y="4057879"/>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f</a:t>
            </a:r>
          </a:p>
        </p:txBody>
      </p:sp>
      <p:grpSp>
        <p:nvGrpSpPr>
          <p:cNvPr id="31" name="Group 30">
            <a:extLst>
              <a:ext uri="{FF2B5EF4-FFF2-40B4-BE49-F238E27FC236}">
                <a16:creationId xmlns:a16="http://schemas.microsoft.com/office/drawing/2014/main" id="{A7557337-5474-E760-83BF-23341F868EAD}"/>
              </a:ext>
            </a:extLst>
          </p:cNvPr>
          <p:cNvGrpSpPr/>
          <p:nvPr/>
        </p:nvGrpSpPr>
        <p:grpSpPr>
          <a:xfrm>
            <a:off x="1691991" y="2050492"/>
            <a:ext cx="1219349" cy="215444"/>
            <a:chOff x="2951616" y="6899018"/>
            <a:chExt cx="1219349" cy="215444"/>
          </a:xfrm>
        </p:grpSpPr>
        <p:cxnSp>
          <p:nvCxnSpPr>
            <p:cNvPr id="32" name="Straight Connector 31">
              <a:extLst>
                <a:ext uri="{FF2B5EF4-FFF2-40B4-BE49-F238E27FC236}">
                  <a16:creationId xmlns:a16="http://schemas.microsoft.com/office/drawing/2014/main" id="{F4DE2891-F016-2DFE-F35D-DA2083364C07}"/>
                </a:ext>
              </a:extLst>
            </p:cNvPr>
            <p:cNvCxnSpPr>
              <a:cxnSpLocks/>
            </p:cNvCxnSpPr>
            <p:nvPr/>
          </p:nvCxnSpPr>
          <p:spPr>
            <a:xfrm>
              <a:off x="3047508" y="7012023"/>
              <a:ext cx="1841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DF6A57-3510-ED7A-F904-A5A8E42B7C3E}"/>
                </a:ext>
              </a:extLst>
            </p:cNvPr>
            <p:cNvCxnSpPr>
              <a:cxnSpLocks/>
            </p:cNvCxnSpPr>
            <p:nvPr/>
          </p:nvCxnSpPr>
          <p:spPr>
            <a:xfrm>
              <a:off x="3623236" y="7012023"/>
              <a:ext cx="184150"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EA800BB5-ACB9-5C65-0F5C-9F327B032DE0}"/>
                </a:ext>
              </a:extLst>
            </p:cNvPr>
            <p:cNvSpPr/>
            <p:nvPr/>
          </p:nvSpPr>
          <p:spPr>
            <a:xfrm>
              <a:off x="2951616" y="6899019"/>
              <a:ext cx="1219349" cy="212982"/>
            </a:xfrm>
            <a:prstGeom prst="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1" name="TextBox 40">
              <a:extLst>
                <a:ext uri="{FF2B5EF4-FFF2-40B4-BE49-F238E27FC236}">
                  <a16:creationId xmlns:a16="http://schemas.microsoft.com/office/drawing/2014/main" id="{4FEFD0DD-ADC4-1546-A5AB-6EE9CB6D8BC4}"/>
                </a:ext>
              </a:extLst>
            </p:cNvPr>
            <p:cNvSpPr txBox="1"/>
            <p:nvPr/>
          </p:nvSpPr>
          <p:spPr>
            <a:xfrm>
              <a:off x="3217154" y="6899018"/>
              <a:ext cx="413896"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Offer</a:t>
              </a:r>
            </a:p>
          </p:txBody>
        </p:sp>
        <p:sp>
          <p:nvSpPr>
            <p:cNvPr id="42" name="TextBox 41">
              <a:extLst>
                <a:ext uri="{FF2B5EF4-FFF2-40B4-BE49-F238E27FC236}">
                  <a16:creationId xmlns:a16="http://schemas.microsoft.com/office/drawing/2014/main" id="{23D47CA7-EEFE-DFF2-F66D-FC4138098AB3}"/>
                </a:ext>
              </a:extLst>
            </p:cNvPr>
            <p:cNvSpPr txBox="1"/>
            <p:nvPr/>
          </p:nvSpPr>
          <p:spPr>
            <a:xfrm>
              <a:off x="3782471" y="6899018"/>
              <a:ext cx="316112" cy="215444"/>
            </a:xfrm>
            <a:prstGeom prst="rect">
              <a:avLst/>
            </a:prstGeom>
            <a:noFill/>
          </p:spPr>
          <p:txBody>
            <a:bodyPr wrap="none" rtlCol="0">
              <a:spAutoFit/>
            </a:bodyPr>
            <a:lstStyle/>
            <a:p>
              <a:r>
                <a:rPr lang="en-US" sz="800">
                  <a:latin typeface="Arial" panose="020B0604020202020204" pitchFamily="34" charset="0"/>
                  <a:cs typeface="Arial" panose="020B0604020202020204" pitchFamily="34" charset="0"/>
                </a:rPr>
                <a:t>AT</a:t>
              </a:r>
            </a:p>
          </p:txBody>
        </p:sp>
      </p:grpSp>
      <p:pic>
        <p:nvPicPr>
          <p:cNvPr id="18" name="Picture 17">
            <a:extLst>
              <a:ext uri="{FF2B5EF4-FFF2-40B4-BE49-F238E27FC236}">
                <a16:creationId xmlns:a16="http://schemas.microsoft.com/office/drawing/2014/main" id="{C7D71435-FE30-A401-868B-70F92FECFF8D}"/>
              </a:ext>
            </a:extLst>
          </p:cNvPr>
          <p:cNvPicPr>
            <a:picLocks noChangeAspect="1"/>
          </p:cNvPicPr>
          <p:nvPr/>
        </p:nvPicPr>
        <p:blipFill>
          <a:blip r:embed="rId7"/>
          <a:srcRect l="10702" b="11827"/>
          <a:stretch/>
        </p:blipFill>
        <p:spPr>
          <a:xfrm>
            <a:off x="3380502" y="678144"/>
            <a:ext cx="2449636" cy="1771758"/>
          </a:xfrm>
          <a:prstGeom prst="rect">
            <a:avLst/>
          </a:prstGeom>
        </p:spPr>
      </p:pic>
      <p:pic>
        <p:nvPicPr>
          <p:cNvPr id="26" name="Picture 25">
            <a:extLst>
              <a:ext uri="{FF2B5EF4-FFF2-40B4-BE49-F238E27FC236}">
                <a16:creationId xmlns:a16="http://schemas.microsoft.com/office/drawing/2014/main" id="{7C478940-97AC-37B6-2D4D-F656BB7B296B}"/>
              </a:ext>
            </a:extLst>
          </p:cNvPr>
          <p:cNvPicPr>
            <a:picLocks noChangeAspect="1"/>
          </p:cNvPicPr>
          <p:nvPr/>
        </p:nvPicPr>
        <p:blipFill>
          <a:blip r:embed="rId8"/>
          <a:srcRect l="10702"/>
          <a:stretch/>
        </p:blipFill>
        <p:spPr>
          <a:xfrm>
            <a:off x="3382340" y="3931775"/>
            <a:ext cx="2449636" cy="2009422"/>
          </a:xfrm>
          <a:prstGeom prst="rect">
            <a:avLst/>
          </a:prstGeom>
        </p:spPr>
      </p:pic>
    </p:spTree>
    <p:extLst>
      <p:ext uri="{BB962C8B-B14F-4D97-AF65-F5344CB8AC3E}">
        <p14:creationId xmlns:p14="http://schemas.microsoft.com/office/powerpoint/2010/main" val="182474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73">
            <a:extLst>
              <a:ext uri="{FF2B5EF4-FFF2-40B4-BE49-F238E27FC236}">
                <a16:creationId xmlns:a16="http://schemas.microsoft.com/office/drawing/2014/main" id="{9002B4AB-4F6B-272B-40E3-A776885635C8}"/>
              </a:ext>
            </a:extLst>
          </p:cNvPr>
          <p:cNvPicPr>
            <a:picLocks noChangeAspect="1"/>
          </p:cNvPicPr>
          <p:nvPr/>
        </p:nvPicPr>
        <p:blipFill>
          <a:blip r:embed="rId3"/>
          <a:srcRect l="10850" b="12542"/>
          <a:stretch/>
        </p:blipFill>
        <p:spPr>
          <a:xfrm>
            <a:off x="3308310" y="5022610"/>
            <a:ext cx="2037967" cy="1381973"/>
          </a:xfrm>
          <a:prstGeom prst="rect">
            <a:avLst/>
          </a:prstGeom>
        </p:spPr>
      </p:pic>
      <p:pic>
        <p:nvPicPr>
          <p:cNvPr id="31" name="Picture 30">
            <a:extLst>
              <a:ext uri="{FF2B5EF4-FFF2-40B4-BE49-F238E27FC236}">
                <a16:creationId xmlns:a16="http://schemas.microsoft.com/office/drawing/2014/main" id="{396C0F28-7C4E-7952-EFF8-9D41D77B5A1A}"/>
              </a:ext>
            </a:extLst>
          </p:cNvPr>
          <p:cNvPicPr>
            <a:picLocks noChangeAspect="1"/>
          </p:cNvPicPr>
          <p:nvPr/>
        </p:nvPicPr>
        <p:blipFill>
          <a:blip r:embed="rId4"/>
          <a:srcRect l="11002" b="12202"/>
          <a:stretch/>
        </p:blipFill>
        <p:spPr>
          <a:xfrm>
            <a:off x="3309471" y="2465457"/>
            <a:ext cx="2034483" cy="1387342"/>
          </a:xfrm>
          <a:prstGeom prst="rect">
            <a:avLst/>
          </a:prstGeom>
        </p:spPr>
      </p:pic>
      <p:pic>
        <p:nvPicPr>
          <p:cNvPr id="14" name="Picture 13">
            <a:extLst>
              <a:ext uri="{FF2B5EF4-FFF2-40B4-BE49-F238E27FC236}">
                <a16:creationId xmlns:a16="http://schemas.microsoft.com/office/drawing/2014/main" id="{8B86C6F5-C26F-F298-835D-94E176F3EC86}"/>
              </a:ext>
            </a:extLst>
          </p:cNvPr>
          <p:cNvPicPr>
            <a:picLocks noChangeAspect="1"/>
          </p:cNvPicPr>
          <p:nvPr/>
        </p:nvPicPr>
        <p:blipFill>
          <a:blip r:embed="rId5"/>
          <a:srcRect l="11685" b="12202"/>
          <a:stretch/>
        </p:blipFill>
        <p:spPr>
          <a:xfrm>
            <a:off x="3321050" y="1180595"/>
            <a:ext cx="2018876" cy="1387342"/>
          </a:xfrm>
          <a:prstGeom prst="rect">
            <a:avLst/>
          </a:prstGeom>
        </p:spPr>
      </p:pic>
      <p:sp>
        <p:nvSpPr>
          <p:cNvPr id="17" name="TextBox 16">
            <a:extLst>
              <a:ext uri="{FF2B5EF4-FFF2-40B4-BE49-F238E27FC236}">
                <a16:creationId xmlns:a16="http://schemas.microsoft.com/office/drawing/2014/main" id="{BF628C00-8FD1-1F47-2236-3C894791A003}"/>
              </a:ext>
            </a:extLst>
          </p:cNvPr>
          <p:cNvSpPr txBox="1"/>
          <p:nvPr/>
        </p:nvSpPr>
        <p:spPr>
          <a:xfrm>
            <a:off x="1465728" y="1174346"/>
            <a:ext cx="295563" cy="276999"/>
          </a:xfrm>
          <a:prstGeom prst="rect">
            <a:avLst/>
          </a:prstGeom>
          <a:noFill/>
        </p:spPr>
        <p:txBody>
          <a:bodyPr wrap="square" rtlCol="0">
            <a:spAutoFit/>
          </a:bodyPr>
          <a:lstStyle/>
          <a:p>
            <a:r>
              <a:rPr lang="en-US" sz="1200">
                <a:latin typeface="Arial" panose="020B0604020202020204" pitchFamily="34" charset="0"/>
                <a:cs typeface="Arial" panose="020B0604020202020204" pitchFamily="34" charset="0"/>
              </a:rPr>
              <a:t>a</a:t>
            </a:r>
          </a:p>
        </p:txBody>
      </p:sp>
      <p:sp>
        <p:nvSpPr>
          <p:cNvPr id="18" name="TextBox 17">
            <a:extLst>
              <a:ext uri="{FF2B5EF4-FFF2-40B4-BE49-F238E27FC236}">
                <a16:creationId xmlns:a16="http://schemas.microsoft.com/office/drawing/2014/main" id="{2F965AF5-B758-9A93-EAD0-2806E2CEC19D}"/>
              </a:ext>
            </a:extLst>
          </p:cNvPr>
          <p:cNvSpPr txBox="1"/>
          <p:nvPr/>
        </p:nvSpPr>
        <p:spPr>
          <a:xfrm>
            <a:off x="3358074" y="1174346"/>
            <a:ext cx="295563" cy="276999"/>
          </a:xfrm>
          <a:prstGeom prst="rect">
            <a:avLst/>
          </a:prstGeom>
          <a:noFill/>
        </p:spPr>
        <p:txBody>
          <a:bodyPr wrap="square" rtlCol="0">
            <a:spAutoFit/>
          </a:bodyPr>
          <a:lstStyle/>
          <a:p>
            <a:r>
              <a:rPr lang="en-US" sz="1200">
                <a:latin typeface="Arial" panose="020B0604020202020204" pitchFamily="34" charset="0"/>
                <a:cs typeface="Arial" panose="020B0604020202020204" pitchFamily="34" charset="0"/>
              </a:rPr>
              <a:t>b</a:t>
            </a:r>
          </a:p>
        </p:txBody>
      </p:sp>
      <p:sp>
        <p:nvSpPr>
          <p:cNvPr id="19" name="TextBox 18">
            <a:extLst>
              <a:ext uri="{FF2B5EF4-FFF2-40B4-BE49-F238E27FC236}">
                <a16:creationId xmlns:a16="http://schemas.microsoft.com/office/drawing/2014/main" id="{61CFFE83-E29D-70CC-9A72-0CEB3431AF75}"/>
              </a:ext>
            </a:extLst>
          </p:cNvPr>
          <p:cNvSpPr txBox="1"/>
          <p:nvPr/>
        </p:nvSpPr>
        <p:spPr>
          <a:xfrm>
            <a:off x="1442534" y="2467632"/>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c</a:t>
            </a:r>
          </a:p>
        </p:txBody>
      </p:sp>
      <p:sp>
        <p:nvSpPr>
          <p:cNvPr id="6" name="TextBox 5">
            <a:extLst>
              <a:ext uri="{FF2B5EF4-FFF2-40B4-BE49-F238E27FC236}">
                <a16:creationId xmlns:a16="http://schemas.microsoft.com/office/drawing/2014/main" id="{D46DDB9A-A699-CEFC-9AB5-FD6E5AB59992}"/>
              </a:ext>
            </a:extLst>
          </p:cNvPr>
          <p:cNvSpPr txBox="1"/>
          <p:nvPr/>
        </p:nvSpPr>
        <p:spPr>
          <a:xfrm>
            <a:off x="3332629" y="2487870"/>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d</a:t>
            </a:r>
          </a:p>
        </p:txBody>
      </p:sp>
      <p:sp>
        <p:nvSpPr>
          <p:cNvPr id="55" name="TextBox 54">
            <a:extLst>
              <a:ext uri="{FF2B5EF4-FFF2-40B4-BE49-F238E27FC236}">
                <a16:creationId xmlns:a16="http://schemas.microsoft.com/office/drawing/2014/main" id="{8DD5C190-2C2D-D9B8-67AA-60DAEC763ED3}"/>
              </a:ext>
            </a:extLst>
          </p:cNvPr>
          <p:cNvSpPr txBox="1"/>
          <p:nvPr/>
        </p:nvSpPr>
        <p:spPr>
          <a:xfrm>
            <a:off x="1430955" y="5018117"/>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g</a:t>
            </a:r>
          </a:p>
        </p:txBody>
      </p:sp>
      <p:sp>
        <p:nvSpPr>
          <p:cNvPr id="56" name="TextBox 55">
            <a:extLst>
              <a:ext uri="{FF2B5EF4-FFF2-40B4-BE49-F238E27FC236}">
                <a16:creationId xmlns:a16="http://schemas.microsoft.com/office/drawing/2014/main" id="{21A8AF9B-1DA9-F52D-B61C-69EFFF4F6D50}"/>
              </a:ext>
            </a:extLst>
          </p:cNvPr>
          <p:cNvSpPr txBox="1"/>
          <p:nvPr/>
        </p:nvSpPr>
        <p:spPr>
          <a:xfrm>
            <a:off x="3324683" y="5046787"/>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h</a:t>
            </a:r>
          </a:p>
        </p:txBody>
      </p:sp>
      <p:sp>
        <p:nvSpPr>
          <p:cNvPr id="57" name="TextBox 56">
            <a:extLst>
              <a:ext uri="{FF2B5EF4-FFF2-40B4-BE49-F238E27FC236}">
                <a16:creationId xmlns:a16="http://schemas.microsoft.com/office/drawing/2014/main" id="{4BF58232-A2E6-9C48-9672-FB7F285E510A}"/>
              </a:ext>
            </a:extLst>
          </p:cNvPr>
          <p:cNvSpPr txBox="1"/>
          <p:nvPr/>
        </p:nvSpPr>
        <p:spPr>
          <a:xfrm>
            <a:off x="2022264" y="984390"/>
            <a:ext cx="69602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 IBIs</a:t>
            </a:r>
          </a:p>
        </p:txBody>
      </p:sp>
      <p:sp>
        <p:nvSpPr>
          <p:cNvPr id="58" name="TextBox 57">
            <a:extLst>
              <a:ext uri="{FF2B5EF4-FFF2-40B4-BE49-F238E27FC236}">
                <a16:creationId xmlns:a16="http://schemas.microsoft.com/office/drawing/2014/main" id="{9DB2AE33-67EA-25F6-4AA8-7DAA397AA9C9}"/>
              </a:ext>
            </a:extLst>
          </p:cNvPr>
          <p:cNvSpPr txBox="1"/>
          <p:nvPr/>
        </p:nvSpPr>
        <p:spPr>
          <a:xfrm>
            <a:off x="3943933" y="984390"/>
            <a:ext cx="87235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Without IBIs</a:t>
            </a:r>
          </a:p>
        </p:txBody>
      </p:sp>
      <p:sp>
        <p:nvSpPr>
          <p:cNvPr id="106" name="TextBox 105">
            <a:extLst>
              <a:ext uri="{FF2B5EF4-FFF2-40B4-BE49-F238E27FC236}">
                <a16:creationId xmlns:a16="http://schemas.microsoft.com/office/drawing/2014/main" id="{CF05F18B-F7EB-39A6-9729-82E13885DDAE}"/>
              </a:ext>
            </a:extLst>
          </p:cNvPr>
          <p:cNvSpPr txBox="1"/>
          <p:nvPr/>
        </p:nvSpPr>
        <p:spPr>
          <a:xfrm>
            <a:off x="1441981" y="3755258"/>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e</a:t>
            </a:r>
          </a:p>
        </p:txBody>
      </p:sp>
      <p:sp>
        <p:nvSpPr>
          <p:cNvPr id="107" name="TextBox 106">
            <a:extLst>
              <a:ext uri="{FF2B5EF4-FFF2-40B4-BE49-F238E27FC236}">
                <a16:creationId xmlns:a16="http://schemas.microsoft.com/office/drawing/2014/main" id="{8FB801BD-29FB-E07B-2A1A-A634376530C4}"/>
              </a:ext>
            </a:extLst>
          </p:cNvPr>
          <p:cNvSpPr txBox="1"/>
          <p:nvPr/>
        </p:nvSpPr>
        <p:spPr>
          <a:xfrm>
            <a:off x="3324684" y="3770960"/>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f</a:t>
            </a:r>
          </a:p>
        </p:txBody>
      </p:sp>
      <p:pic>
        <p:nvPicPr>
          <p:cNvPr id="13" name="Picture 12">
            <a:extLst>
              <a:ext uri="{FF2B5EF4-FFF2-40B4-BE49-F238E27FC236}">
                <a16:creationId xmlns:a16="http://schemas.microsoft.com/office/drawing/2014/main" id="{A1B1D11B-62BD-8E53-1445-A7F53F8BDFAB}"/>
              </a:ext>
            </a:extLst>
          </p:cNvPr>
          <p:cNvPicPr>
            <a:picLocks noChangeAspect="1"/>
          </p:cNvPicPr>
          <p:nvPr/>
        </p:nvPicPr>
        <p:blipFill>
          <a:blip r:embed="rId6"/>
          <a:srcRect b="12202"/>
          <a:stretch/>
        </p:blipFill>
        <p:spPr>
          <a:xfrm>
            <a:off x="1163666" y="1180596"/>
            <a:ext cx="2286000" cy="1387342"/>
          </a:xfrm>
          <a:prstGeom prst="rect">
            <a:avLst/>
          </a:prstGeom>
        </p:spPr>
      </p:pic>
      <p:pic>
        <p:nvPicPr>
          <p:cNvPr id="35" name="Picture 34">
            <a:extLst>
              <a:ext uri="{FF2B5EF4-FFF2-40B4-BE49-F238E27FC236}">
                <a16:creationId xmlns:a16="http://schemas.microsoft.com/office/drawing/2014/main" id="{7C640590-5207-1165-B025-E3DE1C3D1DC3}"/>
              </a:ext>
            </a:extLst>
          </p:cNvPr>
          <p:cNvPicPr>
            <a:picLocks noChangeAspect="1"/>
          </p:cNvPicPr>
          <p:nvPr/>
        </p:nvPicPr>
        <p:blipFill>
          <a:blip r:embed="rId7"/>
          <a:srcRect l="10850" b="12202"/>
          <a:stretch/>
        </p:blipFill>
        <p:spPr>
          <a:xfrm>
            <a:off x="3308310" y="3742962"/>
            <a:ext cx="2037966" cy="1387342"/>
          </a:xfrm>
          <a:prstGeom prst="rect">
            <a:avLst/>
          </a:prstGeom>
        </p:spPr>
      </p:pic>
      <p:grpSp>
        <p:nvGrpSpPr>
          <p:cNvPr id="49" name="Group 48">
            <a:extLst>
              <a:ext uri="{FF2B5EF4-FFF2-40B4-BE49-F238E27FC236}">
                <a16:creationId xmlns:a16="http://schemas.microsoft.com/office/drawing/2014/main" id="{476578B4-145F-A281-1DDA-B040E88F49F4}"/>
              </a:ext>
            </a:extLst>
          </p:cNvPr>
          <p:cNvGrpSpPr/>
          <p:nvPr/>
        </p:nvGrpSpPr>
        <p:grpSpPr>
          <a:xfrm>
            <a:off x="1170091" y="3736611"/>
            <a:ext cx="2286000" cy="1387343"/>
            <a:chOff x="1024041" y="3736611"/>
            <a:chExt cx="2286000" cy="1387343"/>
          </a:xfrm>
        </p:grpSpPr>
        <p:pic>
          <p:nvPicPr>
            <p:cNvPr id="44" name="Picture 43">
              <a:extLst>
                <a:ext uri="{FF2B5EF4-FFF2-40B4-BE49-F238E27FC236}">
                  <a16:creationId xmlns:a16="http://schemas.microsoft.com/office/drawing/2014/main" id="{B802080E-3F78-95B1-122A-1AFE06561D0F}"/>
                </a:ext>
              </a:extLst>
            </p:cNvPr>
            <p:cNvPicPr>
              <a:picLocks noChangeAspect="1"/>
            </p:cNvPicPr>
            <p:nvPr/>
          </p:nvPicPr>
          <p:blipFill>
            <a:blip r:embed="rId8"/>
            <a:srcRect b="12542"/>
            <a:stretch/>
          </p:blipFill>
          <p:spPr>
            <a:xfrm>
              <a:off x="1024041" y="3741982"/>
              <a:ext cx="2286000" cy="1381972"/>
            </a:xfrm>
            <a:prstGeom prst="rect">
              <a:avLst/>
            </a:prstGeom>
          </p:spPr>
        </p:pic>
        <p:sp>
          <p:nvSpPr>
            <p:cNvPr id="47" name="Rectangle 46">
              <a:extLst>
                <a:ext uri="{FF2B5EF4-FFF2-40B4-BE49-F238E27FC236}">
                  <a16:creationId xmlns:a16="http://schemas.microsoft.com/office/drawing/2014/main" id="{EA3F3862-12CE-8314-461C-FA998FC4A803}"/>
                </a:ext>
              </a:extLst>
            </p:cNvPr>
            <p:cNvSpPr/>
            <p:nvPr/>
          </p:nvSpPr>
          <p:spPr>
            <a:xfrm>
              <a:off x="1081163" y="3736611"/>
              <a:ext cx="203742" cy="1576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03DD5D9D-8F41-80D6-17F9-EABB3703B55B}"/>
              </a:ext>
            </a:extLst>
          </p:cNvPr>
          <p:cNvGrpSpPr/>
          <p:nvPr/>
        </p:nvGrpSpPr>
        <p:grpSpPr>
          <a:xfrm>
            <a:off x="1163666" y="2449336"/>
            <a:ext cx="2286000" cy="1399549"/>
            <a:chOff x="1017616" y="2449336"/>
            <a:chExt cx="2286000" cy="1399549"/>
          </a:xfrm>
        </p:grpSpPr>
        <p:pic>
          <p:nvPicPr>
            <p:cNvPr id="22" name="Picture 21">
              <a:extLst>
                <a:ext uri="{FF2B5EF4-FFF2-40B4-BE49-F238E27FC236}">
                  <a16:creationId xmlns:a16="http://schemas.microsoft.com/office/drawing/2014/main" id="{5711E84A-31F3-B0C5-E8FC-0D216A36AA63}"/>
                </a:ext>
              </a:extLst>
            </p:cNvPr>
            <p:cNvPicPr>
              <a:picLocks noChangeAspect="1"/>
            </p:cNvPicPr>
            <p:nvPr/>
          </p:nvPicPr>
          <p:blipFill>
            <a:blip r:embed="rId9"/>
            <a:srcRect b="12202"/>
            <a:stretch/>
          </p:blipFill>
          <p:spPr>
            <a:xfrm>
              <a:off x="1017616" y="2461542"/>
              <a:ext cx="2286000" cy="1387343"/>
            </a:xfrm>
            <a:prstGeom prst="rect">
              <a:avLst/>
            </a:prstGeom>
          </p:spPr>
        </p:pic>
        <p:sp>
          <p:nvSpPr>
            <p:cNvPr id="24" name="Rectangle 23">
              <a:extLst>
                <a:ext uri="{FF2B5EF4-FFF2-40B4-BE49-F238E27FC236}">
                  <a16:creationId xmlns:a16="http://schemas.microsoft.com/office/drawing/2014/main" id="{1F8A9CB5-4FEA-6BF7-4C7E-D2EC1462C157}"/>
                </a:ext>
              </a:extLst>
            </p:cNvPr>
            <p:cNvSpPr/>
            <p:nvPr/>
          </p:nvSpPr>
          <p:spPr>
            <a:xfrm>
              <a:off x="1098550" y="2449336"/>
              <a:ext cx="186355" cy="1762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3BE23A29-8E67-9D5E-B812-0B15A003380D}"/>
              </a:ext>
            </a:extLst>
          </p:cNvPr>
          <p:cNvGrpSpPr/>
          <p:nvPr/>
        </p:nvGrpSpPr>
        <p:grpSpPr>
          <a:xfrm>
            <a:off x="1175015" y="6267287"/>
            <a:ext cx="2286000" cy="1616114"/>
            <a:chOff x="1028965" y="6267287"/>
            <a:chExt cx="2286000" cy="1616114"/>
          </a:xfrm>
        </p:grpSpPr>
        <p:pic>
          <p:nvPicPr>
            <p:cNvPr id="71" name="Picture 70">
              <a:extLst>
                <a:ext uri="{FF2B5EF4-FFF2-40B4-BE49-F238E27FC236}">
                  <a16:creationId xmlns:a16="http://schemas.microsoft.com/office/drawing/2014/main" id="{2A504554-838C-0260-E797-46CE02E98588}"/>
                </a:ext>
              </a:extLst>
            </p:cNvPr>
            <p:cNvPicPr>
              <a:picLocks noChangeAspect="1"/>
            </p:cNvPicPr>
            <p:nvPr/>
          </p:nvPicPr>
          <p:blipFill>
            <a:blip r:embed="rId10"/>
            <a:stretch>
              <a:fillRect/>
            </a:stretch>
          </p:blipFill>
          <p:spPr>
            <a:xfrm>
              <a:off x="1028965" y="6303238"/>
              <a:ext cx="2286000" cy="1580163"/>
            </a:xfrm>
            <a:prstGeom prst="rect">
              <a:avLst/>
            </a:prstGeom>
          </p:spPr>
        </p:pic>
        <p:sp>
          <p:nvSpPr>
            <p:cNvPr id="72" name="Rectangle 71">
              <a:extLst>
                <a:ext uri="{FF2B5EF4-FFF2-40B4-BE49-F238E27FC236}">
                  <a16:creationId xmlns:a16="http://schemas.microsoft.com/office/drawing/2014/main" id="{F887BB32-6B7F-980E-F567-385F3FAD4B80}"/>
                </a:ext>
              </a:extLst>
            </p:cNvPr>
            <p:cNvSpPr/>
            <p:nvPr/>
          </p:nvSpPr>
          <p:spPr>
            <a:xfrm>
              <a:off x="1098550" y="6267287"/>
              <a:ext cx="186355" cy="1920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5" name="Picture 74">
            <a:extLst>
              <a:ext uri="{FF2B5EF4-FFF2-40B4-BE49-F238E27FC236}">
                <a16:creationId xmlns:a16="http://schemas.microsoft.com/office/drawing/2014/main" id="{F61B20E9-659F-5F49-0383-583826EE4E9F}"/>
              </a:ext>
            </a:extLst>
          </p:cNvPr>
          <p:cNvPicPr>
            <a:picLocks noChangeAspect="1"/>
          </p:cNvPicPr>
          <p:nvPr/>
        </p:nvPicPr>
        <p:blipFill>
          <a:blip r:embed="rId11"/>
          <a:srcRect l="11685"/>
          <a:stretch/>
        </p:blipFill>
        <p:spPr>
          <a:xfrm>
            <a:off x="3331154" y="6301879"/>
            <a:ext cx="2018877" cy="1580163"/>
          </a:xfrm>
          <a:prstGeom prst="rect">
            <a:avLst/>
          </a:prstGeom>
        </p:spPr>
      </p:pic>
      <p:sp>
        <p:nvSpPr>
          <p:cNvPr id="83" name="TextBox 82">
            <a:extLst>
              <a:ext uri="{FF2B5EF4-FFF2-40B4-BE49-F238E27FC236}">
                <a16:creationId xmlns:a16="http://schemas.microsoft.com/office/drawing/2014/main" id="{4BDA1D00-215A-AFB0-B1CA-143666416FB0}"/>
              </a:ext>
            </a:extLst>
          </p:cNvPr>
          <p:cNvSpPr txBox="1"/>
          <p:nvPr/>
        </p:nvSpPr>
        <p:spPr>
          <a:xfrm>
            <a:off x="796252" y="984390"/>
            <a:ext cx="445956"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sp>
        <p:nvSpPr>
          <p:cNvPr id="85" name="TextBox 84">
            <a:extLst>
              <a:ext uri="{FF2B5EF4-FFF2-40B4-BE49-F238E27FC236}">
                <a16:creationId xmlns:a16="http://schemas.microsoft.com/office/drawing/2014/main" id="{39E1D16F-7FD3-4B67-8997-9710862E0169}"/>
              </a:ext>
            </a:extLst>
          </p:cNvPr>
          <p:cNvSpPr txBox="1"/>
          <p:nvPr/>
        </p:nvSpPr>
        <p:spPr>
          <a:xfrm>
            <a:off x="796252" y="1715436"/>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20</a:t>
            </a:r>
          </a:p>
        </p:txBody>
      </p:sp>
      <p:sp>
        <p:nvSpPr>
          <p:cNvPr id="86" name="TextBox 85">
            <a:extLst>
              <a:ext uri="{FF2B5EF4-FFF2-40B4-BE49-F238E27FC236}">
                <a16:creationId xmlns:a16="http://schemas.microsoft.com/office/drawing/2014/main" id="{7029C392-8A0A-37C8-D0A7-A107ED610E89}"/>
              </a:ext>
            </a:extLst>
          </p:cNvPr>
          <p:cNvSpPr txBox="1"/>
          <p:nvPr/>
        </p:nvSpPr>
        <p:spPr>
          <a:xfrm>
            <a:off x="796252" y="3012310"/>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40</a:t>
            </a:r>
          </a:p>
        </p:txBody>
      </p:sp>
      <p:sp>
        <p:nvSpPr>
          <p:cNvPr id="87" name="TextBox 86">
            <a:extLst>
              <a:ext uri="{FF2B5EF4-FFF2-40B4-BE49-F238E27FC236}">
                <a16:creationId xmlns:a16="http://schemas.microsoft.com/office/drawing/2014/main" id="{57A37C4B-B03A-5D68-1E97-A71CEB476586}"/>
              </a:ext>
            </a:extLst>
          </p:cNvPr>
          <p:cNvSpPr txBox="1"/>
          <p:nvPr/>
        </p:nvSpPr>
        <p:spPr>
          <a:xfrm>
            <a:off x="796252" y="4309184"/>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60</a:t>
            </a:r>
          </a:p>
        </p:txBody>
      </p:sp>
      <p:sp>
        <p:nvSpPr>
          <p:cNvPr id="88" name="TextBox 87">
            <a:extLst>
              <a:ext uri="{FF2B5EF4-FFF2-40B4-BE49-F238E27FC236}">
                <a16:creationId xmlns:a16="http://schemas.microsoft.com/office/drawing/2014/main" id="{90E17D55-53B8-B487-40DB-2D65932A14DC}"/>
              </a:ext>
            </a:extLst>
          </p:cNvPr>
          <p:cNvSpPr txBox="1"/>
          <p:nvPr/>
        </p:nvSpPr>
        <p:spPr>
          <a:xfrm>
            <a:off x="796252" y="5606058"/>
            <a:ext cx="389079"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80</a:t>
            </a:r>
          </a:p>
        </p:txBody>
      </p:sp>
      <p:sp>
        <p:nvSpPr>
          <p:cNvPr id="89" name="TextBox 88">
            <a:extLst>
              <a:ext uri="{FF2B5EF4-FFF2-40B4-BE49-F238E27FC236}">
                <a16:creationId xmlns:a16="http://schemas.microsoft.com/office/drawing/2014/main" id="{DE51A854-B1F7-5919-2D73-15F20B85FF62}"/>
              </a:ext>
            </a:extLst>
          </p:cNvPr>
          <p:cNvSpPr txBox="1"/>
          <p:nvPr/>
        </p:nvSpPr>
        <p:spPr>
          <a:xfrm>
            <a:off x="796252" y="6902932"/>
            <a:ext cx="445956"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100</a:t>
            </a:r>
          </a:p>
        </p:txBody>
      </p:sp>
      <p:sp>
        <p:nvSpPr>
          <p:cNvPr id="90" name="TextBox 89">
            <a:extLst>
              <a:ext uri="{FF2B5EF4-FFF2-40B4-BE49-F238E27FC236}">
                <a16:creationId xmlns:a16="http://schemas.microsoft.com/office/drawing/2014/main" id="{19222551-68CF-DF97-21EA-A39FEF3CBF3B}"/>
              </a:ext>
            </a:extLst>
          </p:cNvPr>
          <p:cNvSpPr txBox="1"/>
          <p:nvPr/>
        </p:nvSpPr>
        <p:spPr>
          <a:xfrm>
            <a:off x="1424605" y="6314167"/>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i</a:t>
            </a:r>
          </a:p>
        </p:txBody>
      </p:sp>
      <p:sp>
        <p:nvSpPr>
          <p:cNvPr id="91" name="TextBox 90">
            <a:extLst>
              <a:ext uri="{FF2B5EF4-FFF2-40B4-BE49-F238E27FC236}">
                <a16:creationId xmlns:a16="http://schemas.microsoft.com/office/drawing/2014/main" id="{39A32220-BA93-21FB-6642-FD9896B2D636}"/>
              </a:ext>
            </a:extLst>
          </p:cNvPr>
          <p:cNvSpPr txBox="1"/>
          <p:nvPr/>
        </p:nvSpPr>
        <p:spPr>
          <a:xfrm>
            <a:off x="3318333" y="6342837"/>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j</a:t>
            </a:r>
          </a:p>
        </p:txBody>
      </p:sp>
      <p:grpSp>
        <p:nvGrpSpPr>
          <p:cNvPr id="61" name="Group 60">
            <a:extLst>
              <a:ext uri="{FF2B5EF4-FFF2-40B4-BE49-F238E27FC236}">
                <a16:creationId xmlns:a16="http://schemas.microsoft.com/office/drawing/2014/main" id="{C0356250-BAAA-81DD-186E-F459FCB30374}"/>
              </a:ext>
            </a:extLst>
          </p:cNvPr>
          <p:cNvGrpSpPr/>
          <p:nvPr/>
        </p:nvGrpSpPr>
        <p:grpSpPr>
          <a:xfrm>
            <a:off x="1175191" y="4965301"/>
            <a:ext cx="2286000" cy="1437980"/>
            <a:chOff x="1029141" y="4965301"/>
            <a:chExt cx="2286000" cy="1437980"/>
          </a:xfrm>
        </p:grpSpPr>
        <p:pic>
          <p:nvPicPr>
            <p:cNvPr id="51" name="Picture 50">
              <a:extLst>
                <a:ext uri="{FF2B5EF4-FFF2-40B4-BE49-F238E27FC236}">
                  <a16:creationId xmlns:a16="http://schemas.microsoft.com/office/drawing/2014/main" id="{D930DC63-A6F9-91CC-D450-A20B6A369FD4}"/>
                </a:ext>
              </a:extLst>
            </p:cNvPr>
            <p:cNvPicPr>
              <a:picLocks noChangeAspect="1"/>
            </p:cNvPicPr>
            <p:nvPr/>
          </p:nvPicPr>
          <p:blipFill>
            <a:blip r:embed="rId12"/>
            <a:srcRect b="12542"/>
            <a:stretch/>
          </p:blipFill>
          <p:spPr>
            <a:xfrm>
              <a:off x="1029141" y="5021309"/>
              <a:ext cx="2286000" cy="1381972"/>
            </a:xfrm>
            <a:prstGeom prst="rect">
              <a:avLst/>
            </a:prstGeom>
          </p:spPr>
        </p:pic>
        <p:sp>
          <p:nvSpPr>
            <p:cNvPr id="60" name="Rectangle 59">
              <a:extLst>
                <a:ext uri="{FF2B5EF4-FFF2-40B4-BE49-F238E27FC236}">
                  <a16:creationId xmlns:a16="http://schemas.microsoft.com/office/drawing/2014/main" id="{3BEAB03D-A625-160A-4042-903A13AC523A}"/>
                </a:ext>
              </a:extLst>
            </p:cNvPr>
            <p:cNvSpPr/>
            <p:nvPr/>
          </p:nvSpPr>
          <p:spPr>
            <a:xfrm>
              <a:off x="1098550" y="4965301"/>
              <a:ext cx="186355" cy="2065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508A0173-9B64-1BA8-8951-2860DF4B432F}"/>
              </a:ext>
            </a:extLst>
          </p:cNvPr>
          <p:cNvGrpSpPr/>
          <p:nvPr/>
        </p:nvGrpSpPr>
        <p:grpSpPr>
          <a:xfrm>
            <a:off x="3555764" y="1210359"/>
            <a:ext cx="1761443" cy="537911"/>
            <a:chOff x="4643662" y="8058742"/>
            <a:chExt cx="1761443" cy="537911"/>
          </a:xfrm>
        </p:grpSpPr>
        <p:sp>
          <p:nvSpPr>
            <p:cNvPr id="39" name="TextBox 38">
              <a:extLst>
                <a:ext uri="{FF2B5EF4-FFF2-40B4-BE49-F238E27FC236}">
                  <a16:creationId xmlns:a16="http://schemas.microsoft.com/office/drawing/2014/main" id="{8C6E7FBB-D1A7-2390-0E76-7DEA94620055}"/>
                </a:ext>
              </a:extLst>
            </p:cNvPr>
            <p:cNvSpPr txBox="1"/>
            <p:nvPr/>
          </p:nvSpPr>
          <p:spPr>
            <a:xfrm>
              <a:off x="4822097" y="8080190"/>
              <a:ext cx="437804" cy="215444"/>
            </a:xfrm>
            <a:prstGeom prst="rect">
              <a:avLst/>
            </a:prstGeom>
            <a:noFill/>
          </p:spPr>
          <p:txBody>
            <a:bodyPr wrap="square" rtlCol="0">
              <a:spAutoFit/>
            </a:bodyPr>
            <a:lstStyle/>
            <a:p>
              <a:r>
                <a:rPr lang="en-US" sz="800" kern="100" dirty="0">
                  <a:effectLst/>
                  <a:latin typeface="Arial" panose="020B0604020202020204" pitchFamily="34" charset="0"/>
                  <a:ea typeface="Yu Gothic" panose="020B0400000000000000" pitchFamily="34" charset="-128"/>
                  <a:cs typeface="Arial" panose="020B0604020202020204" pitchFamily="34" charset="0"/>
                  <a:sym typeface="Symbol" pitchFamily="2" charset="2"/>
                </a:rPr>
                <a:t>0.0</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i="1" dirty="0">
                <a:latin typeface="+mj-lt"/>
                <a:cs typeface="Arial" panose="020B0604020202020204" pitchFamily="34" charset="0"/>
              </a:endParaRPr>
            </a:p>
          </p:txBody>
        </p:sp>
        <p:cxnSp>
          <p:nvCxnSpPr>
            <p:cNvPr id="40" name="Straight Connector 39">
              <a:extLst>
                <a:ext uri="{FF2B5EF4-FFF2-40B4-BE49-F238E27FC236}">
                  <a16:creationId xmlns:a16="http://schemas.microsoft.com/office/drawing/2014/main" id="{A40146D6-03E3-D64C-F56F-A9E693B21425}"/>
                </a:ext>
              </a:extLst>
            </p:cNvPr>
            <p:cNvCxnSpPr>
              <a:cxnSpLocks/>
            </p:cNvCxnSpPr>
            <p:nvPr/>
          </p:nvCxnSpPr>
          <p:spPr>
            <a:xfrm>
              <a:off x="4699166" y="8189837"/>
              <a:ext cx="182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17BFAE8-E30B-2CED-3CAA-272BBB5F635D}"/>
                </a:ext>
              </a:extLst>
            </p:cNvPr>
            <p:cNvCxnSpPr>
              <a:cxnSpLocks/>
            </p:cNvCxnSpPr>
            <p:nvPr/>
          </p:nvCxnSpPr>
          <p:spPr>
            <a:xfrm>
              <a:off x="4699166" y="8332712"/>
              <a:ext cx="182880"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C7D0C26-619F-3E8B-8C9B-7D61E53CEA43}"/>
                </a:ext>
              </a:extLst>
            </p:cNvPr>
            <p:cNvSpPr txBox="1"/>
            <p:nvPr/>
          </p:nvSpPr>
          <p:spPr>
            <a:xfrm>
              <a:off x="4829607" y="8223065"/>
              <a:ext cx="42278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0.1</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FD13E19B-7359-AC8A-76EF-5D60A5EFBFFC}"/>
                </a:ext>
              </a:extLst>
            </p:cNvPr>
            <p:cNvSpPr txBox="1"/>
            <p:nvPr/>
          </p:nvSpPr>
          <p:spPr>
            <a:xfrm>
              <a:off x="5306818" y="8090685"/>
              <a:ext cx="447888"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0.5</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dirty="0">
                <a:latin typeface="Arial" panose="020B0604020202020204" pitchFamily="34" charset="0"/>
                <a:cs typeface="Arial" panose="020B0604020202020204" pitchFamily="34" charset="0"/>
              </a:endParaRPr>
            </a:p>
          </p:txBody>
        </p:sp>
        <p:cxnSp>
          <p:nvCxnSpPr>
            <p:cNvPr id="34" name="Straight Connector 33">
              <a:extLst>
                <a:ext uri="{FF2B5EF4-FFF2-40B4-BE49-F238E27FC236}">
                  <a16:creationId xmlns:a16="http://schemas.microsoft.com/office/drawing/2014/main" id="{BDCA9F62-A22C-42B6-CEC1-2034A06D0D0A}"/>
                </a:ext>
              </a:extLst>
            </p:cNvPr>
            <p:cNvCxnSpPr>
              <a:cxnSpLocks/>
            </p:cNvCxnSpPr>
            <p:nvPr/>
          </p:nvCxnSpPr>
          <p:spPr>
            <a:xfrm>
              <a:off x="5183149" y="8200332"/>
              <a:ext cx="18288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07CB14-3147-EF48-B11D-611C1BBC0FAC}"/>
                </a:ext>
              </a:extLst>
            </p:cNvPr>
            <p:cNvCxnSpPr>
              <a:cxnSpLocks/>
            </p:cNvCxnSpPr>
            <p:nvPr/>
          </p:nvCxnSpPr>
          <p:spPr>
            <a:xfrm>
              <a:off x="5183149" y="8348235"/>
              <a:ext cx="18288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1C97B1D-E3AE-7F6A-DCC6-43632C50405A}"/>
                </a:ext>
              </a:extLst>
            </p:cNvPr>
            <p:cNvSpPr txBox="1"/>
            <p:nvPr/>
          </p:nvSpPr>
          <p:spPr>
            <a:xfrm>
              <a:off x="5314326" y="8238588"/>
              <a:ext cx="489023"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0.75</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62E77BD7-4C33-2B0A-EA72-486FE5B5C9A5}"/>
                </a:ext>
              </a:extLst>
            </p:cNvPr>
            <p:cNvCxnSpPr>
              <a:cxnSpLocks/>
            </p:cNvCxnSpPr>
            <p:nvPr/>
          </p:nvCxnSpPr>
          <p:spPr>
            <a:xfrm>
              <a:off x="4699166" y="8475587"/>
              <a:ext cx="182880"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28AD996-7508-DDBB-3798-A0F42F49A536}"/>
                </a:ext>
              </a:extLst>
            </p:cNvPr>
            <p:cNvSpPr txBox="1"/>
            <p:nvPr/>
          </p:nvSpPr>
          <p:spPr>
            <a:xfrm>
              <a:off x="4837116" y="8365940"/>
              <a:ext cx="44661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0.25</a:t>
              </a:r>
              <a:r>
                <a:rPr lang="en-US" sz="800" i="1" kern="100" dirty="0">
                  <a:effectLst/>
                  <a:latin typeface="+mj-lt"/>
                  <a:ea typeface="Yu Gothic" panose="020B0400000000000000" pitchFamily="34" charset="-128"/>
                  <a:cs typeface="Arial" panose="020B0604020202020204" pitchFamily="34" charset="0"/>
                  <a:sym typeface="Symbol" pitchFamily="2" charset="2"/>
                </a:rPr>
                <a:t></a:t>
              </a:r>
              <a:r>
                <a:rPr lang="en-US" sz="800" i="1" dirty="0">
                  <a:effectLst/>
                  <a:latin typeface="+mj-lt"/>
                  <a:cs typeface="Arial" panose="020B0604020202020204" pitchFamily="34" charset="0"/>
                </a:rPr>
                <a:t> </a:t>
              </a:r>
              <a:endParaRPr lang="en-US" sz="8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74DD5213-85BB-0DEB-03F4-2A05ADA0036E}"/>
                </a:ext>
              </a:extLst>
            </p:cNvPr>
            <p:cNvSpPr/>
            <p:nvPr/>
          </p:nvSpPr>
          <p:spPr>
            <a:xfrm>
              <a:off x="4643662" y="8090684"/>
              <a:ext cx="1693713" cy="490699"/>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extBox 1">
              <a:extLst>
                <a:ext uri="{FF2B5EF4-FFF2-40B4-BE49-F238E27FC236}">
                  <a16:creationId xmlns:a16="http://schemas.microsoft.com/office/drawing/2014/main" id="{CB4F9D90-4B01-4D4A-E115-2CB88D8E186B}"/>
                </a:ext>
              </a:extLst>
            </p:cNvPr>
            <p:cNvSpPr txBox="1"/>
            <p:nvPr/>
          </p:nvSpPr>
          <p:spPr>
            <a:xfrm>
              <a:off x="5763531" y="8058742"/>
              <a:ext cx="64157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Offer</a:t>
              </a:r>
            </a:p>
          </p:txBody>
        </p:sp>
        <p:sp>
          <p:nvSpPr>
            <p:cNvPr id="3" name="TextBox 2">
              <a:extLst>
                <a:ext uri="{FF2B5EF4-FFF2-40B4-BE49-F238E27FC236}">
                  <a16:creationId xmlns:a16="http://schemas.microsoft.com/office/drawing/2014/main" id="{35C44BCF-147B-E462-5426-878946E21194}"/>
                </a:ext>
              </a:extLst>
            </p:cNvPr>
            <p:cNvSpPr txBox="1"/>
            <p:nvPr/>
          </p:nvSpPr>
          <p:spPr>
            <a:xfrm>
              <a:off x="5774685" y="8235621"/>
              <a:ext cx="620217"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AT</a:t>
              </a:r>
            </a:p>
          </p:txBody>
        </p:sp>
        <p:sp>
          <p:nvSpPr>
            <p:cNvPr id="4" name="TextBox 3">
              <a:extLst>
                <a:ext uri="{FF2B5EF4-FFF2-40B4-BE49-F238E27FC236}">
                  <a16:creationId xmlns:a16="http://schemas.microsoft.com/office/drawing/2014/main" id="{F85E3494-874B-1308-1B9E-787617944944}"/>
                </a:ext>
              </a:extLst>
            </p:cNvPr>
            <p:cNvSpPr txBox="1"/>
            <p:nvPr/>
          </p:nvSpPr>
          <p:spPr>
            <a:xfrm>
              <a:off x="5763531" y="8381209"/>
              <a:ext cx="64157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Rejection</a:t>
              </a:r>
            </a:p>
          </p:txBody>
        </p:sp>
        <p:sp>
          <p:nvSpPr>
            <p:cNvPr id="5" name="Oval 4">
              <a:extLst>
                <a:ext uri="{FF2B5EF4-FFF2-40B4-BE49-F238E27FC236}">
                  <a16:creationId xmlns:a16="http://schemas.microsoft.com/office/drawing/2014/main" id="{4B6616FB-6D5D-8339-6573-F3AD4D569E7E}"/>
                </a:ext>
              </a:extLst>
            </p:cNvPr>
            <p:cNvSpPr/>
            <p:nvPr/>
          </p:nvSpPr>
          <p:spPr>
            <a:xfrm>
              <a:off x="5703596" y="8143210"/>
              <a:ext cx="64496" cy="6886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 name="Rectangle 6">
              <a:extLst>
                <a:ext uri="{FF2B5EF4-FFF2-40B4-BE49-F238E27FC236}">
                  <a16:creationId xmlns:a16="http://schemas.microsoft.com/office/drawing/2014/main" id="{5C8BA4EE-A008-9E52-FE50-12BD7E01662A}"/>
                </a:ext>
              </a:extLst>
            </p:cNvPr>
            <p:cNvSpPr/>
            <p:nvPr/>
          </p:nvSpPr>
          <p:spPr>
            <a:xfrm>
              <a:off x="5703595" y="8312286"/>
              <a:ext cx="73152" cy="731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C65B9416-731F-00B7-5C18-842CD59B578D}"/>
                </a:ext>
              </a:extLst>
            </p:cNvPr>
            <p:cNvSpPr/>
            <p:nvPr/>
          </p:nvSpPr>
          <p:spPr>
            <a:xfrm>
              <a:off x="5703594" y="8457534"/>
              <a:ext cx="73152" cy="73152"/>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0964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FD4E8-663B-1B49-B20E-0CFE19058C1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B359C32-8984-AFA9-5669-E71082A8FD8D}"/>
              </a:ext>
            </a:extLst>
          </p:cNvPr>
          <p:cNvPicPr>
            <a:picLocks noChangeAspect="1"/>
          </p:cNvPicPr>
          <p:nvPr/>
        </p:nvPicPr>
        <p:blipFill>
          <a:blip r:embed="rId3"/>
          <a:stretch>
            <a:fillRect/>
          </a:stretch>
        </p:blipFill>
        <p:spPr>
          <a:xfrm>
            <a:off x="779313" y="2134221"/>
            <a:ext cx="2743200" cy="1909753"/>
          </a:xfrm>
          <a:prstGeom prst="rect">
            <a:avLst/>
          </a:prstGeom>
        </p:spPr>
      </p:pic>
      <p:pic>
        <p:nvPicPr>
          <p:cNvPr id="3" name="Picture 2">
            <a:extLst>
              <a:ext uri="{FF2B5EF4-FFF2-40B4-BE49-F238E27FC236}">
                <a16:creationId xmlns:a16="http://schemas.microsoft.com/office/drawing/2014/main" id="{24FB4F7C-8568-69CB-01A5-870DD864945A}"/>
              </a:ext>
            </a:extLst>
          </p:cNvPr>
          <p:cNvPicPr>
            <a:picLocks noChangeAspect="1"/>
          </p:cNvPicPr>
          <p:nvPr/>
        </p:nvPicPr>
        <p:blipFill>
          <a:blip r:embed="rId4"/>
          <a:stretch>
            <a:fillRect/>
          </a:stretch>
        </p:blipFill>
        <p:spPr>
          <a:xfrm>
            <a:off x="3440202" y="2115358"/>
            <a:ext cx="2743200" cy="1911427"/>
          </a:xfrm>
          <a:prstGeom prst="rect">
            <a:avLst/>
          </a:prstGeom>
        </p:spPr>
      </p:pic>
      <p:sp>
        <p:nvSpPr>
          <p:cNvPr id="6" name="TextBox 5">
            <a:extLst>
              <a:ext uri="{FF2B5EF4-FFF2-40B4-BE49-F238E27FC236}">
                <a16:creationId xmlns:a16="http://schemas.microsoft.com/office/drawing/2014/main" id="{239B252E-0610-BD73-7F09-610053382BB9}"/>
              </a:ext>
            </a:extLst>
          </p:cNvPr>
          <p:cNvSpPr txBox="1"/>
          <p:nvPr/>
        </p:nvSpPr>
        <p:spPr>
          <a:xfrm>
            <a:off x="1195759" y="210769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9" name="TextBox 8">
            <a:extLst>
              <a:ext uri="{FF2B5EF4-FFF2-40B4-BE49-F238E27FC236}">
                <a16:creationId xmlns:a16="http://schemas.microsoft.com/office/drawing/2014/main" id="{03354364-1C77-9D4F-BE9F-539971C8A7DD}"/>
              </a:ext>
            </a:extLst>
          </p:cNvPr>
          <p:cNvSpPr txBox="1"/>
          <p:nvPr/>
        </p:nvSpPr>
        <p:spPr>
          <a:xfrm>
            <a:off x="3858938" y="215080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pic>
        <p:nvPicPr>
          <p:cNvPr id="4" name="Picture 3">
            <a:extLst>
              <a:ext uri="{FF2B5EF4-FFF2-40B4-BE49-F238E27FC236}">
                <a16:creationId xmlns:a16="http://schemas.microsoft.com/office/drawing/2014/main" id="{08B6A6C8-C994-E861-3F12-DE1B1EE3D15D}"/>
              </a:ext>
            </a:extLst>
          </p:cNvPr>
          <p:cNvPicPr>
            <a:picLocks noChangeAspect="1"/>
          </p:cNvPicPr>
          <p:nvPr/>
        </p:nvPicPr>
        <p:blipFill>
          <a:blip r:embed="rId5"/>
          <a:stretch>
            <a:fillRect/>
          </a:stretch>
        </p:blipFill>
        <p:spPr>
          <a:xfrm>
            <a:off x="779313" y="4097248"/>
            <a:ext cx="2743200" cy="1905918"/>
          </a:xfrm>
          <a:prstGeom prst="rect">
            <a:avLst/>
          </a:prstGeom>
        </p:spPr>
      </p:pic>
      <p:pic>
        <p:nvPicPr>
          <p:cNvPr id="5" name="Picture 4">
            <a:extLst>
              <a:ext uri="{FF2B5EF4-FFF2-40B4-BE49-F238E27FC236}">
                <a16:creationId xmlns:a16="http://schemas.microsoft.com/office/drawing/2014/main" id="{37345B99-1400-001F-9161-9E5208D096FE}"/>
              </a:ext>
            </a:extLst>
          </p:cNvPr>
          <p:cNvPicPr>
            <a:picLocks noChangeAspect="1"/>
          </p:cNvPicPr>
          <p:nvPr/>
        </p:nvPicPr>
        <p:blipFill>
          <a:blip r:embed="rId6"/>
          <a:stretch>
            <a:fillRect/>
          </a:stretch>
        </p:blipFill>
        <p:spPr>
          <a:xfrm>
            <a:off x="3440202" y="4097248"/>
            <a:ext cx="2743200" cy="1905918"/>
          </a:xfrm>
          <a:prstGeom prst="rect">
            <a:avLst/>
          </a:prstGeom>
        </p:spPr>
      </p:pic>
      <p:sp>
        <p:nvSpPr>
          <p:cNvPr id="7" name="TextBox 6">
            <a:extLst>
              <a:ext uri="{FF2B5EF4-FFF2-40B4-BE49-F238E27FC236}">
                <a16:creationId xmlns:a16="http://schemas.microsoft.com/office/drawing/2014/main" id="{4763D4A2-BF9F-C15B-7892-7E8547D6EC7A}"/>
              </a:ext>
            </a:extLst>
          </p:cNvPr>
          <p:cNvSpPr txBox="1"/>
          <p:nvPr/>
        </p:nvSpPr>
        <p:spPr>
          <a:xfrm>
            <a:off x="1195759" y="409724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8" name="TextBox 7">
            <a:extLst>
              <a:ext uri="{FF2B5EF4-FFF2-40B4-BE49-F238E27FC236}">
                <a16:creationId xmlns:a16="http://schemas.microsoft.com/office/drawing/2014/main" id="{CCF67BC9-83F6-0EA4-9CEC-2EF989837E4D}"/>
              </a:ext>
            </a:extLst>
          </p:cNvPr>
          <p:cNvSpPr txBox="1"/>
          <p:nvPr/>
        </p:nvSpPr>
        <p:spPr>
          <a:xfrm>
            <a:off x="3856648" y="4097248"/>
            <a:ext cx="295563" cy="307777"/>
          </a:xfrm>
          <a:prstGeom prst="rect">
            <a:avLst/>
          </a:prstGeom>
          <a:noFill/>
        </p:spPr>
        <p:txBody>
          <a:bodyPr wrap="square" rtlCol="0">
            <a:spAutoFit/>
          </a:bodyPr>
          <a:lstStyle/>
          <a:p>
            <a:r>
              <a:rPr lang="en-US" sz="1400">
                <a:latin typeface="Arial" panose="020B0604020202020204" pitchFamily="34" charset="0"/>
                <a:cs typeface="Arial" panose="020B0604020202020204" pitchFamily="34" charset="0"/>
              </a:rPr>
              <a:t>d</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7680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A4298-089F-29BE-52D9-4A6D17A4737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860B4D0-2800-BA18-F16F-7B011C5594FB}"/>
              </a:ext>
            </a:extLst>
          </p:cNvPr>
          <p:cNvPicPr>
            <a:picLocks noChangeAspect="1"/>
          </p:cNvPicPr>
          <p:nvPr/>
        </p:nvPicPr>
        <p:blipFill>
          <a:blip r:embed="rId3"/>
          <a:stretch>
            <a:fillRect/>
          </a:stretch>
        </p:blipFill>
        <p:spPr>
          <a:xfrm>
            <a:off x="3366214" y="6536141"/>
            <a:ext cx="2743200" cy="1905918"/>
          </a:xfrm>
          <a:prstGeom prst="rect">
            <a:avLst/>
          </a:prstGeom>
        </p:spPr>
      </p:pic>
      <p:pic>
        <p:nvPicPr>
          <p:cNvPr id="8" name="Picture 7">
            <a:extLst>
              <a:ext uri="{FF2B5EF4-FFF2-40B4-BE49-F238E27FC236}">
                <a16:creationId xmlns:a16="http://schemas.microsoft.com/office/drawing/2014/main" id="{947EC276-1BD5-07BE-2279-8E74A1535132}"/>
              </a:ext>
            </a:extLst>
          </p:cNvPr>
          <p:cNvPicPr>
            <a:picLocks noChangeAspect="1"/>
          </p:cNvPicPr>
          <p:nvPr/>
        </p:nvPicPr>
        <p:blipFill>
          <a:blip r:embed="rId4"/>
          <a:stretch>
            <a:fillRect/>
          </a:stretch>
        </p:blipFill>
        <p:spPr>
          <a:xfrm>
            <a:off x="580698" y="6526563"/>
            <a:ext cx="2743200" cy="1911427"/>
          </a:xfrm>
          <a:prstGeom prst="rect">
            <a:avLst/>
          </a:prstGeom>
        </p:spPr>
      </p:pic>
      <p:pic>
        <p:nvPicPr>
          <p:cNvPr id="5" name="Picture 4">
            <a:extLst>
              <a:ext uri="{FF2B5EF4-FFF2-40B4-BE49-F238E27FC236}">
                <a16:creationId xmlns:a16="http://schemas.microsoft.com/office/drawing/2014/main" id="{C25A811D-4F51-8481-2FC1-F1C5223BB46D}"/>
              </a:ext>
            </a:extLst>
          </p:cNvPr>
          <p:cNvPicPr>
            <a:picLocks noChangeAspect="1"/>
          </p:cNvPicPr>
          <p:nvPr/>
        </p:nvPicPr>
        <p:blipFill>
          <a:blip r:embed="rId5"/>
          <a:stretch>
            <a:fillRect/>
          </a:stretch>
        </p:blipFill>
        <p:spPr>
          <a:xfrm>
            <a:off x="597324" y="4704363"/>
            <a:ext cx="2743200" cy="1911427"/>
          </a:xfrm>
          <a:prstGeom prst="rect">
            <a:avLst/>
          </a:prstGeom>
        </p:spPr>
      </p:pic>
      <p:pic>
        <p:nvPicPr>
          <p:cNvPr id="24" name="Picture 23">
            <a:extLst>
              <a:ext uri="{FF2B5EF4-FFF2-40B4-BE49-F238E27FC236}">
                <a16:creationId xmlns:a16="http://schemas.microsoft.com/office/drawing/2014/main" id="{9A473243-3CDB-3D9A-FCB6-4CAB2B6E5BF5}"/>
              </a:ext>
            </a:extLst>
          </p:cNvPr>
          <p:cNvPicPr>
            <a:picLocks noChangeAspect="1"/>
          </p:cNvPicPr>
          <p:nvPr/>
        </p:nvPicPr>
        <p:blipFill>
          <a:blip r:embed="rId6"/>
          <a:stretch>
            <a:fillRect/>
          </a:stretch>
        </p:blipFill>
        <p:spPr>
          <a:xfrm>
            <a:off x="3357150" y="2530636"/>
            <a:ext cx="2743200" cy="1905918"/>
          </a:xfrm>
          <a:prstGeom prst="rect">
            <a:avLst/>
          </a:prstGeom>
        </p:spPr>
      </p:pic>
      <p:pic>
        <p:nvPicPr>
          <p:cNvPr id="17" name="Picture 16">
            <a:extLst>
              <a:ext uri="{FF2B5EF4-FFF2-40B4-BE49-F238E27FC236}">
                <a16:creationId xmlns:a16="http://schemas.microsoft.com/office/drawing/2014/main" id="{8CEF3424-E241-4527-93AF-522BC8597127}"/>
              </a:ext>
            </a:extLst>
          </p:cNvPr>
          <p:cNvPicPr>
            <a:picLocks noChangeAspect="1"/>
          </p:cNvPicPr>
          <p:nvPr/>
        </p:nvPicPr>
        <p:blipFill>
          <a:blip r:embed="rId7"/>
          <a:stretch>
            <a:fillRect/>
          </a:stretch>
        </p:blipFill>
        <p:spPr>
          <a:xfrm>
            <a:off x="572385" y="2525517"/>
            <a:ext cx="2743200" cy="1909753"/>
          </a:xfrm>
          <a:prstGeom prst="rect">
            <a:avLst/>
          </a:prstGeom>
        </p:spPr>
      </p:pic>
      <p:pic>
        <p:nvPicPr>
          <p:cNvPr id="14" name="Picture 13">
            <a:extLst>
              <a:ext uri="{FF2B5EF4-FFF2-40B4-BE49-F238E27FC236}">
                <a16:creationId xmlns:a16="http://schemas.microsoft.com/office/drawing/2014/main" id="{5B3BE737-B8C9-FD5D-2977-8A8609C92505}"/>
              </a:ext>
            </a:extLst>
          </p:cNvPr>
          <p:cNvPicPr>
            <a:picLocks noChangeAspect="1"/>
          </p:cNvPicPr>
          <p:nvPr/>
        </p:nvPicPr>
        <p:blipFill>
          <a:blip r:embed="rId8"/>
          <a:stretch>
            <a:fillRect/>
          </a:stretch>
        </p:blipFill>
        <p:spPr>
          <a:xfrm>
            <a:off x="3340524" y="693689"/>
            <a:ext cx="2743200" cy="1909753"/>
          </a:xfrm>
          <a:prstGeom prst="rect">
            <a:avLst/>
          </a:prstGeom>
        </p:spPr>
      </p:pic>
      <p:pic>
        <p:nvPicPr>
          <p:cNvPr id="6" name="Picture 5">
            <a:extLst>
              <a:ext uri="{FF2B5EF4-FFF2-40B4-BE49-F238E27FC236}">
                <a16:creationId xmlns:a16="http://schemas.microsoft.com/office/drawing/2014/main" id="{CBBA442E-F8E6-C934-1F46-F8C9A6E68269}"/>
              </a:ext>
            </a:extLst>
          </p:cNvPr>
          <p:cNvPicPr>
            <a:picLocks noChangeAspect="1"/>
          </p:cNvPicPr>
          <p:nvPr/>
        </p:nvPicPr>
        <p:blipFill>
          <a:blip r:embed="rId9"/>
          <a:stretch>
            <a:fillRect/>
          </a:stretch>
        </p:blipFill>
        <p:spPr>
          <a:xfrm>
            <a:off x="605637" y="693689"/>
            <a:ext cx="2743200" cy="1909753"/>
          </a:xfrm>
          <a:prstGeom prst="rect">
            <a:avLst/>
          </a:prstGeom>
        </p:spPr>
      </p:pic>
      <p:pic>
        <p:nvPicPr>
          <p:cNvPr id="32" name="Picture 31">
            <a:extLst>
              <a:ext uri="{FF2B5EF4-FFF2-40B4-BE49-F238E27FC236}">
                <a16:creationId xmlns:a16="http://schemas.microsoft.com/office/drawing/2014/main" id="{2AC9D693-A378-AAC7-404F-827A8A963826}"/>
              </a:ext>
            </a:extLst>
          </p:cNvPr>
          <p:cNvPicPr>
            <a:picLocks noChangeAspect="1"/>
          </p:cNvPicPr>
          <p:nvPr/>
        </p:nvPicPr>
        <p:blipFill>
          <a:blip r:embed="rId10"/>
          <a:stretch>
            <a:fillRect/>
          </a:stretch>
        </p:blipFill>
        <p:spPr>
          <a:xfrm>
            <a:off x="3332211" y="4687944"/>
            <a:ext cx="2743200" cy="1911426"/>
          </a:xfrm>
          <a:prstGeom prst="rect">
            <a:avLst/>
          </a:prstGeom>
        </p:spPr>
      </p:pic>
      <p:sp>
        <p:nvSpPr>
          <p:cNvPr id="20" name="TextBox 19">
            <a:extLst>
              <a:ext uri="{FF2B5EF4-FFF2-40B4-BE49-F238E27FC236}">
                <a16:creationId xmlns:a16="http://schemas.microsoft.com/office/drawing/2014/main" id="{C700F52E-6832-A4CA-1160-07276F58D519}"/>
              </a:ext>
            </a:extLst>
          </p:cNvPr>
          <p:cNvSpPr txBox="1"/>
          <p:nvPr/>
        </p:nvSpPr>
        <p:spPr>
          <a:xfrm>
            <a:off x="936471" y="68822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23" name="TextBox 22">
            <a:extLst>
              <a:ext uri="{FF2B5EF4-FFF2-40B4-BE49-F238E27FC236}">
                <a16:creationId xmlns:a16="http://schemas.microsoft.com/office/drawing/2014/main" id="{D70337EB-01C4-6CCE-FC72-CB94F5FA1608}"/>
              </a:ext>
            </a:extLst>
          </p:cNvPr>
          <p:cNvSpPr txBox="1"/>
          <p:nvPr/>
        </p:nvSpPr>
        <p:spPr>
          <a:xfrm>
            <a:off x="3693207" y="260616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sp>
        <p:nvSpPr>
          <p:cNvPr id="21" name="TextBox 20">
            <a:extLst>
              <a:ext uri="{FF2B5EF4-FFF2-40B4-BE49-F238E27FC236}">
                <a16:creationId xmlns:a16="http://schemas.microsoft.com/office/drawing/2014/main" id="{A5BAFFD5-4DFB-7B3D-0F05-4ADADC21032C}"/>
              </a:ext>
            </a:extLst>
          </p:cNvPr>
          <p:cNvSpPr txBox="1"/>
          <p:nvPr/>
        </p:nvSpPr>
        <p:spPr>
          <a:xfrm>
            <a:off x="3718144" y="72301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22" name="TextBox 21">
            <a:extLst>
              <a:ext uri="{FF2B5EF4-FFF2-40B4-BE49-F238E27FC236}">
                <a16:creationId xmlns:a16="http://schemas.microsoft.com/office/drawing/2014/main" id="{18B658C1-B7E3-05F2-9723-0F7707AC6648}"/>
              </a:ext>
            </a:extLst>
          </p:cNvPr>
          <p:cNvSpPr txBox="1"/>
          <p:nvPr/>
        </p:nvSpPr>
        <p:spPr>
          <a:xfrm>
            <a:off x="936471" y="2554124"/>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4" name="TextBox 3">
            <a:extLst>
              <a:ext uri="{FF2B5EF4-FFF2-40B4-BE49-F238E27FC236}">
                <a16:creationId xmlns:a16="http://schemas.microsoft.com/office/drawing/2014/main" id="{012FECC9-6736-34C7-F895-D96F2F150B36}"/>
              </a:ext>
            </a:extLst>
          </p:cNvPr>
          <p:cNvSpPr txBox="1"/>
          <p:nvPr/>
        </p:nvSpPr>
        <p:spPr>
          <a:xfrm>
            <a:off x="959756" y="466109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a:t>
            </a:r>
          </a:p>
        </p:txBody>
      </p:sp>
      <p:sp>
        <p:nvSpPr>
          <p:cNvPr id="7" name="TextBox 6">
            <a:extLst>
              <a:ext uri="{FF2B5EF4-FFF2-40B4-BE49-F238E27FC236}">
                <a16:creationId xmlns:a16="http://schemas.microsoft.com/office/drawing/2014/main" id="{A403A4CA-E306-D33C-F147-9A9070072C10}"/>
              </a:ext>
            </a:extLst>
          </p:cNvPr>
          <p:cNvSpPr txBox="1"/>
          <p:nvPr/>
        </p:nvSpPr>
        <p:spPr>
          <a:xfrm>
            <a:off x="3666617" y="658720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h</a:t>
            </a:r>
          </a:p>
        </p:txBody>
      </p:sp>
      <p:sp>
        <p:nvSpPr>
          <p:cNvPr id="12" name="TextBox 11">
            <a:extLst>
              <a:ext uri="{FF2B5EF4-FFF2-40B4-BE49-F238E27FC236}">
                <a16:creationId xmlns:a16="http://schemas.microsoft.com/office/drawing/2014/main" id="{C99186EF-A72F-F5E4-B319-6DA5BA53EAA0}"/>
              </a:ext>
            </a:extLst>
          </p:cNvPr>
          <p:cNvSpPr txBox="1"/>
          <p:nvPr/>
        </p:nvSpPr>
        <p:spPr>
          <a:xfrm>
            <a:off x="3724803" y="472476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a:t>
            </a:r>
          </a:p>
        </p:txBody>
      </p:sp>
      <p:sp>
        <p:nvSpPr>
          <p:cNvPr id="13" name="TextBox 12">
            <a:extLst>
              <a:ext uri="{FF2B5EF4-FFF2-40B4-BE49-F238E27FC236}">
                <a16:creationId xmlns:a16="http://schemas.microsoft.com/office/drawing/2014/main" id="{D470DCEC-19E1-AA35-79A5-41557E0B91C4}"/>
              </a:ext>
            </a:extLst>
          </p:cNvPr>
          <p:cNvSpPr txBox="1"/>
          <p:nvPr/>
        </p:nvSpPr>
        <p:spPr>
          <a:xfrm>
            <a:off x="936471" y="653530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g</a:t>
            </a:r>
          </a:p>
        </p:txBody>
      </p:sp>
      <p:cxnSp>
        <p:nvCxnSpPr>
          <p:cNvPr id="34" name="Straight Connector 33">
            <a:extLst>
              <a:ext uri="{FF2B5EF4-FFF2-40B4-BE49-F238E27FC236}">
                <a16:creationId xmlns:a16="http://schemas.microsoft.com/office/drawing/2014/main" id="{5A7E7DFB-4B3E-001E-B50B-ED05E27CC101}"/>
              </a:ext>
            </a:extLst>
          </p:cNvPr>
          <p:cNvCxnSpPr>
            <a:cxnSpLocks/>
          </p:cNvCxnSpPr>
          <p:nvPr/>
        </p:nvCxnSpPr>
        <p:spPr>
          <a:xfrm>
            <a:off x="2099" y="520901"/>
            <a:ext cx="0" cy="708984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A19D78E-603D-8C6A-58CD-725C08B5348E}"/>
              </a:ext>
            </a:extLst>
          </p:cNvPr>
          <p:cNvSpPr txBox="1"/>
          <p:nvPr/>
        </p:nvSpPr>
        <p:spPr>
          <a:xfrm>
            <a:off x="3074618" y="481573"/>
            <a:ext cx="696024"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 IBIs</a:t>
            </a:r>
          </a:p>
        </p:txBody>
      </p:sp>
      <p:sp>
        <p:nvSpPr>
          <p:cNvPr id="3" name="TextBox 2">
            <a:extLst>
              <a:ext uri="{FF2B5EF4-FFF2-40B4-BE49-F238E27FC236}">
                <a16:creationId xmlns:a16="http://schemas.microsoft.com/office/drawing/2014/main" id="{1C813F2B-D29B-320E-5B51-885C7F3B607A}"/>
              </a:ext>
            </a:extLst>
          </p:cNvPr>
          <p:cNvSpPr txBox="1"/>
          <p:nvPr/>
        </p:nvSpPr>
        <p:spPr>
          <a:xfrm>
            <a:off x="2997798" y="4416311"/>
            <a:ext cx="87235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Without IBIs</a:t>
            </a:r>
          </a:p>
        </p:txBody>
      </p:sp>
    </p:spTree>
    <p:extLst>
      <p:ext uri="{BB962C8B-B14F-4D97-AF65-F5344CB8AC3E}">
        <p14:creationId xmlns:p14="http://schemas.microsoft.com/office/powerpoint/2010/main" val="3343111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E9F4-18EF-A56B-625C-FA1F392E68AB}"/>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9FEFD3C9-A9CA-8F5E-4E28-34793D36683C}"/>
              </a:ext>
            </a:extLst>
          </p:cNvPr>
          <p:cNvGrpSpPr/>
          <p:nvPr/>
        </p:nvGrpSpPr>
        <p:grpSpPr>
          <a:xfrm>
            <a:off x="1888600" y="4816232"/>
            <a:ext cx="2311073" cy="1615525"/>
            <a:chOff x="1885425" y="4813057"/>
            <a:chExt cx="2311073" cy="1615525"/>
          </a:xfrm>
        </p:grpSpPr>
        <p:pic>
          <p:nvPicPr>
            <p:cNvPr id="11" name="Picture 10">
              <a:extLst>
                <a:ext uri="{FF2B5EF4-FFF2-40B4-BE49-F238E27FC236}">
                  <a16:creationId xmlns:a16="http://schemas.microsoft.com/office/drawing/2014/main" id="{33BB9834-3613-97C9-73C5-F84C085160C4}"/>
                </a:ext>
              </a:extLst>
            </p:cNvPr>
            <p:cNvPicPr>
              <a:picLocks noChangeAspect="1"/>
            </p:cNvPicPr>
            <p:nvPr/>
          </p:nvPicPr>
          <p:blipFill>
            <a:blip r:embed="rId3"/>
            <a:stretch>
              <a:fillRect/>
            </a:stretch>
          </p:blipFill>
          <p:spPr>
            <a:xfrm>
              <a:off x="1910498" y="4838919"/>
              <a:ext cx="2286000" cy="1589663"/>
            </a:xfrm>
            <a:prstGeom prst="rect">
              <a:avLst/>
            </a:prstGeom>
          </p:spPr>
        </p:pic>
        <p:sp>
          <p:nvSpPr>
            <p:cNvPr id="13" name="Rectangle 12">
              <a:extLst>
                <a:ext uri="{FF2B5EF4-FFF2-40B4-BE49-F238E27FC236}">
                  <a16:creationId xmlns:a16="http://schemas.microsoft.com/office/drawing/2014/main" id="{15940AA5-80C6-3CB1-42F7-9C51EA55531D}"/>
                </a:ext>
              </a:extLst>
            </p:cNvPr>
            <p:cNvSpPr/>
            <p:nvPr/>
          </p:nvSpPr>
          <p:spPr>
            <a:xfrm>
              <a:off x="1885425" y="4813057"/>
              <a:ext cx="273852" cy="1608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1A00E1BE-A8A0-78FF-7290-4F70DE2871EE}"/>
              </a:ext>
            </a:extLst>
          </p:cNvPr>
          <p:cNvGrpSpPr/>
          <p:nvPr/>
        </p:nvGrpSpPr>
        <p:grpSpPr>
          <a:xfrm>
            <a:off x="1884919" y="3524909"/>
            <a:ext cx="2310961" cy="1403511"/>
            <a:chOff x="2613025" y="3709320"/>
            <a:chExt cx="2310961" cy="1403511"/>
          </a:xfrm>
        </p:grpSpPr>
        <p:pic>
          <p:nvPicPr>
            <p:cNvPr id="36" name="Picture 35">
              <a:extLst>
                <a:ext uri="{FF2B5EF4-FFF2-40B4-BE49-F238E27FC236}">
                  <a16:creationId xmlns:a16="http://schemas.microsoft.com/office/drawing/2014/main" id="{8A096200-EAAE-0C73-460F-69926BB8B2B5}"/>
                </a:ext>
              </a:extLst>
            </p:cNvPr>
            <p:cNvPicPr>
              <a:picLocks noChangeAspect="1"/>
            </p:cNvPicPr>
            <p:nvPr/>
          </p:nvPicPr>
          <p:blipFill>
            <a:blip r:embed="rId4"/>
            <a:srcRect b="13324"/>
            <a:stretch/>
          </p:blipFill>
          <p:spPr>
            <a:xfrm>
              <a:off x="2637986" y="3734977"/>
              <a:ext cx="2286000" cy="1377854"/>
            </a:xfrm>
            <a:prstGeom prst="rect">
              <a:avLst/>
            </a:prstGeom>
          </p:spPr>
        </p:pic>
        <p:sp>
          <p:nvSpPr>
            <p:cNvPr id="6" name="Rectangle 5">
              <a:extLst>
                <a:ext uri="{FF2B5EF4-FFF2-40B4-BE49-F238E27FC236}">
                  <a16:creationId xmlns:a16="http://schemas.microsoft.com/office/drawing/2014/main" id="{BEAE99A7-DC92-A0CB-3879-A5F2998724D4}"/>
                </a:ext>
              </a:extLst>
            </p:cNvPr>
            <p:cNvSpPr/>
            <p:nvPr/>
          </p:nvSpPr>
          <p:spPr>
            <a:xfrm>
              <a:off x="2613025" y="3709320"/>
              <a:ext cx="271183" cy="1580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TextBox 65">
            <a:extLst>
              <a:ext uri="{FF2B5EF4-FFF2-40B4-BE49-F238E27FC236}">
                <a16:creationId xmlns:a16="http://schemas.microsoft.com/office/drawing/2014/main" id="{576B4BAF-0702-5B80-3823-51A83AAAF582}"/>
              </a:ext>
            </a:extLst>
          </p:cNvPr>
          <p:cNvSpPr txBox="1"/>
          <p:nvPr/>
        </p:nvSpPr>
        <p:spPr>
          <a:xfrm rot="16200000">
            <a:off x="3832488" y="1691026"/>
            <a:ext cx="819455" cy="246221"/>
          </a:xfrm>
          <a:prstGeom prst="rect">
            <a:avLst/>
          </a:prstGeom>
          <a:noFill/>
        </p:spPr>
        <p:txBody>
          <a:bodyPr wrap="none" rtlCol="0">
            <a:spAutoFit/>
          </a:bodyPr>
          <a:lstStyle/>
          <a:p>
            <a:r>
              <a:rPr lang="en-US" sz="1000">
                <a:latin typeface="Arial" panose="020B0604020202020204" pitchFamily="34" charset="0"/>
                <a:cs typeface="Arial" panose="020B0604020202020204" pitchFamily="34" charset="0"/>
              </a:rPr>
              <a:t>Well-Mixed</a:t>
            </a:r>
          </a:p>
        </p:txBody>
      </p:sp>
      <p:sp>
        <p:nvSpPr>
          <p:cNvPr id="69" name="TextBox 68">
            <a:extLst>
              <a:ext uri="{FF2B5EF4-FFF2-40B4-BE49-F238E27FC236}">
                <a16:creationId xmlns:a16="http://schemas.microsoft.com/office/drawing/2014/main" id="{84F74CCD-9A08-7C4A-3750-A9D4CDF0395B}"/>
              </a:ext>
            </a:extLst>
          </p:cNvPr>
          <p:cNvSpPr txBox="1"/>
          <p:nvPr/>
        </p:nvSpPr>
        <p:spPr>
          <a:xfrm rot="16200000">
            <a:off x="3875769" y="2823343"/>
            <a:ext cx="732893"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20</a:t>
            </a:r>
          </a:p>
        </p:txBody>
      </p:sp>
      <p:pic>
        <p:nvPicPr>
          <p:cNvPr id="12" name="Picture 11">
            <a:extLst>
              <a:ext uri="{FF2B5EF4-FFF2-40B4-BE49-F238E27FC236}">
                <a16:creationId xmlns:a16="http://schemas.microsoft.com/office/drawing/2014/main" id="{74866796-F303-4F81-1441-CECC8824DDD5}"/>
              </a:ext>
            </a:extLst>
          </p:cNvPr>
          <p:cNvPicPr>
            <a:picLocks noChangeAspect="1"/>
          </p:cNvPicPr>
          <p:nvPr/>
        </p:nvPicPr>
        <p:blipFill>
          <a:blip r:embed="rId5"/>
          <a:srcRect b="13561"/>
          <a:stretch/>
        </p:blipFill>
        <p:spPr>
          <a:xfrm>
            <a:off x="1910498" y="2265996"/>
            <a:ext cx="2286000" cy="1374083"/>
          </a:xfrm>
          <a:prstGeom prst="rect">
            <a:avLst/>
          </a:prstGeom>
        </p:spPr>
      </p:pic>
      <p:sp>
        <p:nvSpPr>
          <p:cNvPr id="16" name="Rectangle 15">
            <a:extLst>
              <a:ext uri="{FF2B5EF4-FFF2-40B4-BE49-F238E27FC236}">
                <a16:creationId xmlns:a16="http://schemas.microsoft.com/office/drawing/2014/main" id="{2E8755D5-AD39-F510-BEC9-793E6A8A46FA}"/>
              </a:ext>
            </a:extLst>
          </p:cNvPr>
          <p:cNvSpPr/>
          <p:nvPr/>
        </p:nvSpPr>
        <p:spPr>
          <a:xfrm>
            <a:off x="1885425" y="2234929"/>
            <a:ext cx="290470" cy="1811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9F597F3-3C7D-EE53-F440-129D20ABA881}"/>
              </a:ext>
            </a:extLst>
          </p:cNvPr>
          <p:cNvPicPr>
            <a:picLocks noChangeAspect="1"/>
          </p:cNvPicPr>
          <p:nvPr/>
        </p:nvPicPr>
        <p:blipFill>
          <a:blip r:embed="rId6"/>
          <a:srcRect b="13324"/>
          <a:stretch/>
        </p:blipFill>
        <p:spPr>
          <a:xfrm>
            <a:off x="1910498" y="977047"/>
            <a:ext cx="2286000" cy="1377854"/>
          </a:xfrm>
          <a:prstGeom prst="rect">
            <a:avLst/>
          </a:prstGeom>
        </p:spPr>
      </p:pic>
      <p:sp>
        <p:nvSpPr>
          <p:cNvPr id="20" name="TextBox 19">
            <a:extLst>
              <a:ext uri="{FF2B5EF4-FFF2-40B4-BE49-F238E27FC236}">
                <a16:creationId xmlns:a16="http://schemas.microsoft.com/office/drawing/2014/main" id="{0BF118C7-84D3-62F2-EDD3-F504E56409F8}"/>
              </a:ext>
            </a:extLst>
          </p:cNvPr>
          <p:cNvSpPr txBox="1"/>
          <p:nvPr/>
        </p:nvSpPr>
        <p:spPr>
          <a:xfrm>
            <a:off x="2175895" y="944423"/>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22" name="TextBox 21">
            <a:extLst>
              <a:ext uri="{FF2B5EF4-FFF2-40B4-BE49-F238E27FC236}">
                <a16:creationId xmlns:a16="http://schemas.microsoft.com/office/drawing/2014/main" id="{D8BB6B9D-3B34-F2E3-D887-4E4BB9DA847E}"/>
              </a:ext>
            </a:extLst>
          </p:cNvPr>
          <p:cNvSpPr txBox="1"/>
          <p:nvPr/>
        </p:nvSpPr>
        <p:spPr>
          <a:xfrm>
            <a:off x="2175895" y="2258789"/>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24" name="TextBox 23">
            <a:extLst>
              <a:ext uri="{FF2B5EF4-FFF2-40B4-BE49-F238E27FC236}">
                <a16:creationId xmlns:a16="http://schemas.microsoft.com/office/drawing/2014/main" id="{2BBAA49B-F5FB-00F2-B242-655A5E3E2676}"/>
              </a:ext>
            </a:extLst>
          </p:cNvPr>
          <p:cNvSpPr txBox="1"/>
          <p:nvPr/>
        </p:nvSpPr>
        <p:spPr>
          <a:xfrm>
            <a:off x="2175895" y="3528084"/>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7" name="TextBox 6">
            <a:extLst>
              <a:ext uri="{FF2B5EF4-FFF2-40B4-BE49-F238E27FC236}">
                <a16:creationId xmlns:a16="http://schemas.microsoft.com/office/drawing/2014/main" id="{11B502EB-3374-A837-76F3-015DA580666B}"/>
              </a:ext>
            </a:extLst>
          </p:cNvPr>
          <p:cNvSpPr txBox="1"/>
          <p:nvPr/>
        </p:nvSpPr>
        <p:spPr>
          <a:xfrm>
            <a:off x="2175895" y="484480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grpSp>
        <p:nvGrpSpPr>
          <p:cNvPr id="33" name="Group 32">
            <a:extLst>
              <a:ext uri="{FF2B5EF4-FFF2-40B4-BE49-F238E27FC236}">
                <a16:creationId xmlns:a16="http://schemas.microsoft.com/office/drawing/2014/main" id="{3F6B7920-1973-3FA0-26C7-89C25A34FC4A}"/>
              </a:ext>
            </a:extLst>
          </p:cNvPr>
          <p:cNvGrpSpPr/>
          <p:nvPr/>
        </p:nvGrpSpPr>
        <p:grpSpPr>
          <a:xfrm>
            <a:off x="2736855" y="1020792"/>
            <a:ext cx="1365249" cy="654147"/>
            <a:chOff x="3022600" y="6043859"/>
            <a:chExt cx="1365249" cy="654147"/>
          </a:xfrm>
        </p:grpSpPr>
        <p:sp>
          <p:nvSpPr>
            <p:cNvPr id="37" name="TextBox 36">
              <a:extLst>
                <a:ext uri="{FF2B5EF4-FFF2-40B4-BE49-F238E27FC236}">
                  <a16:creationId xmlns:a16="http://schemas.microsoft.com/office/drawing/2014/main" id="{36372398-943A-7088-C842-77F244479C93}"/>
                </a:ext>
              </a:extLst>
            </p:cNvPr>
            <p:cNvSpPr txBox="1"/>
            <p:nvPr/>
          </p:nvSpPr>
          <p:spPr>
            <a:xfrm>
              <a:off x="3034371" y="6307311"/>
              <a:ext cx="44199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AT</a:t>
              </a:r>
            </a:p>
          </p:txBody>
        </p:sp>
        <p:sp>
          <p:nvSpPr>
            <p:cNvPr id="38" name="TextBox 37">
              <a:extLst>
                <a:ext uri="{FF2B5EF4-FFF2-40B4-BE49-F238E27FC236}">
                  <a16:creationId xmlns:a16="http://schemas.microsoft.com/office/drawing/2014/main" id="{86D9928D-DB8E-A5C7-CB75-38F772D5439C}"/>
                </a:ext>
              </a:extLst>
            </p:cNvPr>
            <p:cNvSpPr txBox="1"/>
            <p:nvPr/>
          </p:nvSpPr>
          <p:spPr>
            <a:xfrm>
              <a:off x="3034371" y="6043859"/>
              <a:ext cx="781392"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r</a:t>
              </a:r>
              <a:r>
                <a:rPr lang="en-US" sz="800" dirty="0">
                  <a:latin typeface="Arial" panose="020B0604020202020204" pitchFamily="34" charset="0"/>
                  <a:cs typeface="Arial" panose="020B0604020202020204" pitchFamily="34" charset="0"/>
                </a:rPr>
                <a:t> =      0.001</a:t>
              </a:r>
            </a:p>
          </p:txBody>
        </p:sp>
        <p:sp>
          <p:nvSpPr>
            <p:cNvPr id="40" name="TextBox 39">
              <a:extLst>
                <a:ext uri="{FF2B5EF4-FFF2-40B4-BE49-F238E27FC236}">
                  <a16:creationId xmlns:a16="http://schemas.microsoft.com/office/drawing/2014/main" id="{6E5276CB-95CD-F557-9A9D-3DCCD37A5DD7}"/>
                </a:ext>
              </a:extLst>
            </p:cNvPr>
            <p:cNvSpPr txBox="1"/>
            <p:nvPr/>
          </p:nvSpPr>
          <p:spPr>
            <a:xfrm>
              <a:off x="3713534" y="6043859"/>
              <a:ext cx="41998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0.01</a:t>
              </a:r>
            </a:p>
          </p:txBody>
        </p:sp>
        <p:sp>
          <p:nvSpPr>
            <p:cNvPr id="41" name="TextBox 40">
              <a:extLst>
                <a:ext uri="{FF2B5EF4-FFF2-40B4-BE49-F238E27FC236}">
                  <a16:creationId xmlns:a16="http://schemas.microsoft.com/office/drawing/2014/main" id="{371B7924-B340-FDCF-6554-3004A8A70ED1}"/>
                </a:ext>
              </a:extLst>
            </p:cNvPr>
            <p:cNvSpPr txBox="1"/>
            <p:nvPr/>
          </p:nvSpPr>
          <p:spPr>
            <a:xfrm>
              <a:off x="4017045" y="6043859"/>
              <a:ext cx="359842"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0.1</a:t>
              </a:r>
            </a:p>
          </p:txBody>
        </p:sp>
        <p:sp>
          <p:nvSpPr>
            <p:cNvPr id="43" name="TextBox 42">
              <a:extLst>
                <a:ext uri="{FF2B5EF4-FFF2-40B4-BE49-F238E27FC236}">
                  <a16:creationId xmlns:a16="http://schemas.microsoft.com/office/drawing/2014/main" id="{4BD2DF6D-5F15-0550-341F-ED052C84EC1C}"/>
                </a:ext>
              </a:extLst>
            </p:cNvPr>
            <p:cNvSpPr txBox="1"/>
            <p:nvPr/>
          </p:nvSpPr>
          <p:spPr>
            <a:xfrm>
              <a:off x="3034371" y="6165517"/>
              <a:ext cx="44199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Offer</a:t>
              </a:r>
            </a:p>
          </p:txBody>
        </p:sp>
        <p:sp>
          <p:nvSpPr>
            <p:cNvPr id="58" name="Rectangle 57">
              <a:extLst>
                <a:ext uri="{FF2B5EF4-FFF2-40B4-BE49-F238E27FC236}">
                  <a16:creationId xmlns:a16="http://schemas.microsoft.com/office/drawing/2014/main" id="{60C5AD46-461A-A239-61BA-9E99C48555F4}"/>
                </a:ext>
              </a:extLst>
            </p:cNvPr>
            <p:cNvSpPr/>
            <p:nvPr/>
          </p:nvSpPr>
          <p:spPr>
            <a:xfrm>
              <a:off x="3022600" y="6057795"/>
              <a:ext cx="1365249" cy="64021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7" name="Group 26">
              <a:extLst>
                <a:ext uri="{FF2B5EF4-FFF2-40B4-BE49-F238E27FC236}">
                  <a16:creationId xmlns:a16="http://schemas.microsoft.com/office/drawing/2014/main" id="{A3A43337-8C4A-4EF5-D0F7-6270A3AC96DB}"/>
                </a:ext>
              </a:extLst>
            </p:cNvPr>
            <p:cNvGrpSpPr/>
            <p:nvPr/>
          </p:nvGrpSpPr>
          <p:grpSpPr>
            <a:xfrm>
              <a:off x="3507001" y="6248734"/>
              <a:ext cx="82296" cy="369016"/>
              <a:chOff x="4184477" y="5068877"/>
              <a:chExt cx="82296" cy="369016"/>
            </a:xfrm>
          </p:grpSpPr>
          <p:sp>
            <p:nvSpPr>
              <p:cNvPr id="44" name="Rectangle 43">
                <a:extLst>
                  <a:ext uri="{FF2B5EF4-FFF2-40B4-BE49-F238E27FC236}">
                    <a16:creationId xmlns:a16="http://schemas.microsoft.com/office/drawing/2014/main" id="{7E65D5A0-EF07-298D-6D9D-AF1B28E02AE2}"/>
                  </a:ext>
                </a:extLst>
              </p:cNvPr>
              <p:cNvSpPr/>
              <p:nvPr/>
            </p:nvSpPr>
            <p:spPr>
              <a:xfrm>
                <a:off x="4184550" y="5212237"/>
                <a:ext cx="82151" cy="8215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5" name="Oval 44">
                <a:extLst>
                  <a:ext uri="{FF2B5EF4-FFF2-40B4-BE49-F238E27FC236}">
                    <a16:creationId xmlns:a16="http://schemas.microsoft.com/office/drawing/2014/main" id="{1D149017-1E83-ECB5-71C9-47EDE6C019CC}"/>
                  </a:ext>
                </a:extLst>
              </p:cNvPr>
              <p:cNvSpPr/>
              <p:nvPr/>
            </p:nvSpPr>
            <p:spPr>
              <a:xfrm>
                <a:off x="4184550" y="5068877"/>
                <a:ext cx="82151" cy="8215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riangle 1">
                <a:extLst>
                  <a:ext uri="{FF2B5EF4-FFF2-40B4-BE49-F238E27FC236}">
                    <a16:creationId xmlns:a16="http://schemas.microsoft.com/office/drawing/2014/main" id="{69D62BEA-32A3-3BD3-F034-2580DFCE30D2}"/>
                  </a:ext>
                </a:extLst>
              </p:cNvPr>
              <p:cNvSpPr/>
              <p:nvPr/>
            </p:nvSpPr>
            <p:spPr>
              <a:xfrm>
                <a:off x="4184477" y="5355597"/>
                <a:ext cx="82296" cy="82296"/>
              </a:xfrm>
              <a:prstGeom prst="triangl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t>
                </a:r>
              </a:p>
            </p:txBody>
          </p:sp>
        </p:grpSp>
        <p:grpSp>
          <p:nvGrpSpPr>
            <p:cNvPr id="17" name="Group 16">
              <a:extLst>
                <a:ext uri="{FF2B5EF4-FFF2-40B4-BE49-F238E27FC236}">
                  <a16:creationId xmlns:a16="http://schemas.microsoft.com/office/drawing/2014/main" id="{0E960FFF-56E1-DCD7-FA12-80AC1AFFE5A3}"/>
                </a:ext>
              </a:extLst>
            </p:cNvPr>
            <p:cNvGrpSpPr/>
            <p:nvPr/>
          </p:nvGrpSpPr>
          <p:grpSpPr>
            <a:xfrm>
              <a:off x="3835779" y="6248734"/>
              <a:ext cx="82296" cy="369016"/>
              <a:chOff x="4794739" y="5068877"/>
              <a:chExt cx="82296" cy="369016"/>
            </a:xfrm>
          </p:grpSpPr>
          <p:sp>
            <p:nvSpPr>
              <p:cNvPr id="48" name="Rectangle 47">
                <a:extLst>
                  <a:ext uri="{FF2B5EF4-FFF2-40B4-BE49-F238E27FC236}">
                    <a16:creationId xmlns:a16="http://schemas.microsoft.com/office/drawing/2014/main" id="{B8A8E48B-8C55-202A-C016-EC8DD4BA5A43}"/>
                  </a:ext>
                </a:extLst>
              </p:cNvPr>
              <p:cNvSpPr/>
              <p:nvPr/>
            </p:nvSpPr>
            <p:spPr>
              <a:xfrm>
                <a:off x="4794812" y="5212237"/>
                <a:ext cx="82151" cy="821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9" name="Oval 48">
                <a:extLst>
                  <a:ext uri="{FF2B5EF4-FFF2-40B4-BE49-F238E27FC236}">
                    <a16:creationId xmlns:a16="http://schemas.microsoft.com/office/drawing/2014/main" id="{FC86DF41-5B5E-CB08-68B2-F8F597CE0D3B}"/>
                  </a:ext>
                </a:extLst>
              </p:cNvPr>
              <p:cNvSpPr/>
              <p:nvPr/>
            </p:nvSpPr>
            <p:spPr>
              <a:xfrm>
                <a:off x="4794812" y="5068877"/>
                <a:ext cx="82151" cy="8215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8" name="Triangle 7">
                <a:extLst>
                  <a:ext uri="{FF2B5EF4-FFF2-40B4-BE49-F238E27FC236}">
                    <a16:creationId xmlns:a16="http://schemas.microsoft.com/office/drawing/2014/main" id="{0F11FF2A-D418-0246-564C-29211349AA9B}"/>
                  </a:ext>
                </a:extLst>
              </p:cNvPr>
              <p:cNvSpPr/>
              <p:nvPr/>
            </p:nvSpPr>
            <p:spPr>
              <a:xfrm>
                <a:off x="4794739" y="5355597"/>
                <a:ext cx="82296" cy="8229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grpSp>
        <p:grpSp>
          <p:nvGrpSpPr>
            <p:cNvPr id="18" name="Group 17">
              <a:extLst>
                <a:ext uri="{FF2B5EF4-FFF2-40B4-BE49-F238E27FC236}">
                  <a16:creationId xmlns:a16="http://schemas.microsoft.com/office/drawing/2014/main" id="{0E1838AF-62A9-BCDA-27FB-37F642CE480B}"/>
                </a:ext>
              </a:extLst>
            </p:cNvPr>
            <p:cNvGrpSpPr/>
            <p:nvPr/>
          </p:nvGrpSpPr>
          <p:grpSpPr>
            <a:xfrm>
              <a:off x="4152568" y="6248734"/>
              <a:ext cx="82296" cy="369016"/>
              <a:chOff x="5068077" y="5068877"/>
              <a:chExt cx="82296" cy="369016"/>
            </a:xfrm>
          </p:grpSpPr>
          <p:sp>
            <p:nvSpPr>
              <p:cNvPr id="50" name="Rectangle 49">
                <a:extLst>
                  <a:ext uri="{FF2B5EF4-FFF2-40B4-BE49-F238E27FC236}">
                    <a16:creationId xmlns:a16="http://schemas.microsoft.com/office/drawing/2014/main" id="{10365E8B-B7A8-3B10-76E9-163C3F533B57}"/>
                  </a:ext>
                </a:extLst>
              </p:cNvPr>
              <p:cNvSpPr/>
              <p:nvPr/>
            </p:nvSpPr>
            <p:spPr>
              <a:xfrm>
                <a:off x="5068150" y="5212237"/>
                <a:ext cx="82151" cy="82151"/>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1" name="Oval 50">
                <a:extLst>
                  <a:ext uri="{FF2B5EF4-FFF2-40B4-BE49-F238E27FC236}">
                    <a16:creationId xmlns:a16="http://schemas.microsoft.com/office/drawing/2014/main" id="{08FD093F-D123-E97E-F508-746720E0C4B2}"/>
                  </a:ext>
                </a:extLst>
              </p:cNvPr>
              <p:cNvSpPr/>
              <p:nvPr/>
            </p:nvSpPr>
            <p:spPr>
              <a:xfrm>
                <a:off x="5068150" y="5068877"/>
                <a:ext cx="82151" cy="8215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9" name="Triangle 8">
                <a:extLst>
                  <a:ext uri="{FF2B5EF4-FFF2-40B4-BE49-F238E27FC236}">
                    <a16:creationId xmlns:a16="http://schemas.microsoft.com/office/drawing/2014/main" id="{EC697DBA-720F-6BA4-2B16-BB991135277C}"/>
                  </a:ext>
                </a:extLst>
              </p:cNvPr>
              <p:cNvSpPr/>
              <p:nvPr/>
            </p:nvSpPr>
            <p:spPr>
              <a:xfrm>
                <a:off x="5068077" y="5355597"/>
                <a:ext cx="82296" cy="8229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t>
                </a:r>
              </a:p>
            </p:txBody>
          </p:sp>
        </p:grpSp>
        <p:sp>
          <p:nvSpPr>
            <p:cNvPr id="28" name="TextBox 27">
              <a:extLst>
                <a:ext uri="{FF2B5EF4-FFF2-40B4-BE49-F238E27FC236}">
                  <a16:creationId xmlns:a16="http://schemas.microsoft.com/office/drawing/2014/main" id="{968EAA71-285B-8D13-D6B4-A1DA7A40E9B5}"/>
                </a:ext>
              </a:extLst>
            </p:cNvPr>
            <p:cNvSpPr txBox="1"/>
            <p:nvPr/>
          </p:nvSpPr>
          <p:spPr>
            <a:xfrm>
              <a:off x="3034371" y="6459711"/>
              <a:ext cx="48874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Reject</a:t>
              </a:r>
            </a:p>
          </p:txBody>
        </p:sp>
      </p:grpSp>
      <p:sp>
        <p:nvSpPr>
          <p:cNvPr id="4" name="TextBox 3">
            <a:extLst>
              <a:ext uri="{FF2B5EF4-FFF2-40B4-BE49-F238E27FC236}">
                <a16:creationId xmlns:a16="http://schemas.microsoft.com/office/drawing/2014/main" id="{27821D72-037E-2604-E173-39D8D5E8974D}"/>
              </a:ext>
            </a:extLst>
          </p:cNvPr>
          <p:cNvSpPr txBox="1"/>
          <p:nvPr/>
        </p:nvSpPr>
        <p:spPr>
          <a:xfrm rot="16200000">
            <a:off x="3875769" y="4076124"/>
            <a:ext cx="732893"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40</a:t>
            </a:r>
          </a:p>
        </p:txBody>
      </p:sp>
      <p:sp>
        <p:nvSpPr>
          <p:cNvPr id="5" name="TextBox 4">
            <a:extLst>
              <a:ext uri="{FF2B5EF4-FFF2-40B4-BE49-F238E27FC236}">
                <a16:creationId xmlns:a16="http://schemas.microsoft.com/office/drawing/2014/main" id="{D3F8A915-A4E3-40B0-A171-4352DAC502E8}"/>
              </a:ext>
            </a:extLst>
          </p:cNvPr>
          <p:cNvSpPr txBox="1"/>
          <p:nvPr/>
        </p:nvSpPr>
        <p:spPr>
          <a:xfrm rot="16200000">
            <a:off x="3840503" y="5364170"/>
            <a:ext cx="803425"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100</a:t>
            </a:r>
          </a:p>
        </p:txBody>
      </p:sp>
    </p:spTree>
    <p:extLst>
      <p:ext uri="{BB962C8B-B14F-4D97-AF65-F5344CB8AC3E}">
        <p14:creationId xmlns:p14="http://schemas.microsoft.com/office/powerpoint/2010/main" val="1014179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8F8BB-A47C-E043-B7F3-B802ABDF7BC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C61269B-2D36-A390-0FE5-D7530EC6463D}"/>
              </a:ext>
            </a:extLst>
          </p:cNvPr>
          <p:cNvPicPr>
            <a:picLocks noChangeAspect="1"/>
          </p:cNvPicPr>
          <p:nvPr/>
        </p:nvPicPr>
        <p:blipFill>
          <a:blip r:embed="rId3"/>
          <a:stretch>
            <a:fillRect/>
          </a:stretch>
        </p:blipFill>
        <p:spPr>
          <a:xfrm>
            <a:off x="735098" y="4640090"/>
            <a:ext cx="2743200" cy="1909753"/>
          </a:xfrm>
          <a:prstGeom prst="rect">
            <a:avLst/>
          </a:prstGeom>
        </p:spPr>
      </p:pic>
      <p:pic>
        <p:nvPicPr>
          <p:cNvPr id="6" name="Picture 5">
            <a:extLst>
              <a:ext uri="{FF2B5EF4-FFF2-40B4-BE49-F238E27FC236}">
                <a16:creationId xmlns:a16="http://schemas.microsoft.com/office/drawing/2014/main" id="{CD13F2E9-B77E-5323-E232-8CD016F8D3DF}"/>
              </a:ext>
            </a:extLst>
          </p:cNvPr>
          <p:cNvPicPr>
            <a:picLocks noChangeAspect="1"/>
          </p:cNvPicPr>
          <p:nvPr/>
        </p:nvPicPr>
        <p:blipFill>
          <a:blip r:embed="rId4"/>
          <a:stretch>
            <a:fillRect/>
          </a:stretch>
        </p:blipFill>
        <p:spPr>
          <a:xfrm>
            <a:off x="762440" y="2501729"/>
            <a:ext cx="2743200" cy="1909753"/>
          </a:xfrm>
          <a:prstGeom prst="rect">
            <a:avLst/>
          </a:prstGeom>
        </p:spPr>
      </p:pic>
      <p:pic>
        <p:nvPicPr>
          <p:cNvPr id="8" name="Picture 7">
            <a:extLst>
              <a:ext uri="{FF2B5EF4-FFF2-40B4-BE49-F238E27FC236}">
                <a16:creationId xmlns:a16="http://schemas.microsoft.com/office/drawing/2014/main" id="{FD84D3A6-36C5-902D-5E6A-BC1A11652E00}"/>
              </a:ext>
            </a:extLst>
          </p:cNvPr>
          <p:cNvPicPr>
            <a:picLocks noChangeAspect="1"/>
          </p:cNvPicPr>
          <p:nvPr/>
        </p:nvPicPr>
        <p:blipFill>
          <a:blip r:embed="rId5"/>
          <a:stretch>
            <a:fillRect/>
          </a:stretch>
        </p:blipFill>
        <p:spPr>
          <a:xfrm>
            <a:off x="3512089" y="4642247"/>
            <a:ext cx="2743200" cy="1907596"/>
          </a:xfrm>
          <a:prstGeom prst="rect">
            <a:avLst/>
          </a:prstGeom>
        </p:spPr>
      </p:pic>
      <p:pic>
        <p:nvPicPr>
          <p:cNvPr id="3" name="Picture 2">
            <a:extLst>
              <a:ext uri="{FF2B5EF4-FFF2-40B4-BE49-F238E27FC236}">
                <a16:creationId xmlns:a16="http://schemas.microsoft.com/office/drawing/2014/main" id="{5AC758FD-473E-B965-D7EB-CB117648DB27}"/>
              </a:ext>
            </a:extLst>
          </p:cNvPr>
          <p:cNvPicPr>
            <a:picLocks noChangeAspect="1"/>
          </p:cNvPicPr>
          <p:nvPr/>
        </p:nvPicPr>
        <p:blipFill>
          <a:blip r:embed="rId6"/>
          <a:stretch>
            <a:fillRect/>
          </a:stretch>
        </p:blipFill>
        <p:spPr>
          <a:xfrm>
            <a:off x="3493801" y="2501729"/>
            <a:ext cx="2743200" cy="1911426"/>
          </a:xfrm>
          <a:prstGeom prst="rect">
            <a:avLst/>
          </a:prstGeom>
        </p:spPr>
      </p:pic>
      <p:sp>
        <p:nvSpPr>
          <p:cNvPr id="20" name="TextBox 19">
            <a:extLst>
              <a:ext uri="{FF2B5EF4-FFF2-40B4-BE49-F238E27FC236}">
                <a16:creationId xmlns:a16="http://schemas.microsoft.com/office/drawing/2014/main" id="{BD328BEE-28D9-43ED-3FC6-D238E0080999}"/>
              </a:ext>
            </a:extLst>
          </p:cNvPr>
          <p:cNvSpPr txBox="1"/>
          <p:nvPr/>
        </p:nvSpPr>
        <p:spPr>
          <a:xfrm>
            <a:off x="1134316" y="2500056"/>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23" name="TextBox 22">
            <a:extLst>
              <a:ext uri="{FF2B5EF4-FFF2-40B4-BE49-F238E27FC236}">
                <a16:creationId xmlns:a16="http://schemas.microsoft.com/office/drawing/2014/main" id="{9D788E9E-A0A3-2C0E-3159-9EB0779E9DF1}"/>
              </a:ext>
            </a:extLst>
          </p:cNvPr>
          <p:cNvSpPr txBox="1"/>
          <p:nvPr/>
        </p:nvSpPr>
        <p:spPr>
          <a:xfrm>
            <a:off x="3836042" y="4756033"/>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sp>
        <p:nvSpPr>
          <p:cNvPr id="21" name="TextBox 20">
            <a:extLst>
              <a:ext uri="{FF2B5EF4-FFF2-40B4-BE49-F238E27FC236}">
                <a16:creationId xmlns:a16="http://schemas.microsoft.com/office/drawing/2014/main" id="{CF8E6DC1-7BD9-6DCB-601B-F6BBEBFB0098}"/>
              </a:ext>
            </a:extLst>
          </p:cNvPr>
          <p:cNvSpPr txBox="1"/>
          <p:nvPr/>
        </p:nvSpPr>
        <p:spPr>
          <a:xfrm>
            <a:off x="3877516" y="2574264"/>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22" name="TextBox 21">
            <a:extLst>
              <a:ext uri="{FF2B5EF4-FFF2-40B4-BE49-F238E27FC236}">
                <a16:creationId xmlns:a16="http://schemas.microsoft.com/office/drawing/2014/main" id="{27F6601F-FD9F-B725-352F-A32D2C747C14}"/>
              </a:ext>
            </a:extLst>
          </p:cNvPr>
          <p:cNvSpPr txBox="1"/>
          <p:nvPr/>
        </p:nvSpPr>
        <p:spPr>
          <a:xfrm>
            <a:off x="1134315" y="4662452"/>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cxnSp>
        <p:nvCxnSpPr>
          <p:cNvPr id="34" name="Straight Connector 33">
            <a:extLst>
              <a:ext uri="{FF2B5EF4-FFF2-40B4-BE49-F238E27FC236}">
                <a16:creationId xmlns:a16="http://schemas.microsoft.com/office/drawing/2014/main" id="{2D40DEAB-0961-8DA0-F746-2107B6DF06C7}"/>
              </a:ext>
            </a:extLst>
          </p:cNvPr>
          <p:cNvCxnSpPr>
            <a:cxnSpLocks/>
          </p:cNvCxnSpPr>
          <p:nvPr/>
        </p:nvCxnSpPr>
        <p:spPr>
          <a:xfrm>
            <a:off x="2099" y="520901"/>
            <a:ext cx="0" cy="70898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5498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C5E5-2C05-B556-D918-8FDB9FC09E8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5B96FB2-9D96-E72D-DEE3-47D74BDBEB77}"/>
              </a:ext>
            </a:extLst>
          </p:cNvPr>
          <p:cNvPicPr>
            <a:picLocks noChangeAspect="1"/>
          </p:cNvPicPr>
          <p:nvPr/>
        </p:nvPicPr>
        <p:blipFill>
          <a:blip r:embed="rId3"/>
          <a:srcRect l="10518" b="12719"/>
          <a:stretch/>
        </p:blipFill>
        <p:spPr>
          <a:xfrm>
            <a:off x="3099697" y="1157965"/>
            <a:ext cx="2045564" cy="1377853"/>
          </a:xfrm>
          <a:prstGeom prst="rect">
            <a:avLst/>
          </a:prstGeom>
        </p:spPr>
      </p:pic>
      <p:pic>
        <p:nvPicPr>
          <p:cNvPr id="21" name="Picture 20">
            <a:extLst>
              <a:ext uri="{FF2B5EF4-FFF2-40B4-BE49-F238E27FC236}">
                <a16:creationId xmlns:a16="http://schemas.microsoft.com/office/drawing/2014/main" id="{CB1DE7CC-6E94-C22B-2072-CE1F04370F01}"/>
              </a:ext>
            </a:extLst>
          </p:cNvPr>
          <p:cNvPicPr>
            <a:picLocks noChangeAspect="1"/>
          </p:cNvPicPr>
          <p:nvPr/>
        </p:nvPicPr>
        <p:blipFill>
          <a:blip r:embed="rId4"/>
          <a:srcRect l="11498" b="13151"/>
          <a:stretch/>
        </p:blipFill>
        <p:spPr>
          <a:xfrm>
            <a:off x="3121243" y="2439940"/>
            <a:ext cx="2023161" cy="1372632"/>
          </a:xfrm>
          <a:prstGeom prst="rect">
            <a:avLst/>
          </a:prstGeom>
        </p:spPr>
      </p:pic>
      <p:pic>
        <p:nvPicPr>
          <p:cNvPr id="23" name="Picture 22">
            <a:extLst>
              <a:ext uri="{FF2B5EF4-FFF2-40B4-BE49-F238E27FC236}">
                <a16:creationId xmlns:a16="http://schemas.microsoft.com/office/drawing/2014/main" id="{FAF4ABCA-0759-0CAA-0FAB-33AE8747FE0D}"/>
              </a:ext>
            </a:extLst>
          </p:cNvPr>
          <p:cNvPicPr>
            <a:picLocks noChangeAspect="1"/>
          </p:cNvPicPr>
          <p:nvPr/>
        </p:nvPicPr>
        <p:blipFill>
          <a:blip r:embed="rId5"/>
          <a:srcRect l="12188"/>
          <a:stretch/>
        </p:blipFill>
        <p:spPr>
          <a:xfrm>
            <a:off x="3139339" y="3716807"/>
            <a:ext cx="2007371" cy="1582432"/>
          </a:xfrm>
          <a:prstGeom prst="rect">
            <a:avLst/>
          </a:prstGeom>
        </p:spPr>
      </p:pic>
      <p:sp>
        <p:nvSpPr>
          <p:cNvPr id="11" name="TextBox 10">
            <a:extLst>
              <a:ext uri="{FF2B5EF4-FFF2-40B4-BE49-F238E27FC236}">
                <a16:creationId xmlns:a16="http://schemas.microsoft.com/office/drawing/2014/main" id="{73139D72-05A5-10B4-39A9-4E7257E88E60}"/>
              </a:ext>
            </a:extLst>
          </p:cNvPr>
          <p:cNvSpPr txBox="1"/>
          <p:nvPr/>
        </p:nvSpPr>
        <p:spPr>
          <a:xfrm>
            <a:off x="1281849" y="1217847"/>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
        <p:nvSpPr>
          <p:cNvPr id="12" name="TextBox 11">
            <a:extLst>
              <a:ext uri="{FF2B5EF4-FFF2-40B4-BE49-F238E27FC236}">
                <a16:creationId xmlns:a16="http://schemas.microsoft.com/office/drawing/2014/main" id="{F782516E-963B-350E-4F4E-F7454469763A}"/>
              </a:ext>
            </a:extLst>
          </p:cNvPr>
          <p:cNvSpPr txBox="1"/>
          <p:nvPr/>
        </p:nvSpPr>
        <p:spPr>
          <a:xfrm>
            <a:off x="1281849" y="251307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13" name="TextBox 12">
            <a:extLst>
              <a:ext uri="{FF2B5EF4-FFF2-40B4-BE49-F238E27FC236}">
                <a16:creationId xmlns:a16="http://schemas.microsoft.com/office/drawing/2014/main" id="{D47B4DE1-6CB6-0E51-EA99-19F3FBEF5AF0}"/>
              </a:ext>
            </a:extLst>
          </p:cNvPr>
          <p:cNvSpPr txBox="1"/>
          <p:nvPr/>
        </p:nvSpPr>
        <p:spPr>
          <a:xfrm>
            <a:off x="1281849" y="3776108"/>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20" name="TextBox 19">
            <a:extLst>
              <a:ext uri="{FF2B5EF4-FFF2-40B4-BE49-F238E27FC236}">
                <a16:creationId xmlns:a16="http://schemas.microsoft.com/office/drawing/2014/main" id="{2F4F9822-FC29-1E8D-F7F8-A13E940158F1}"/>
              </a:ext>
            </a:extLst>
          </p:cNvPr>
          <p:cNvSpPr txBox="1"/>
          <p:nvPr/>
        </p:nvSpPr>
        <p:spPr>
          <a:xfrm>
            <a:off x="3123249" y="1151059"/>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sp>
        <p:nvSpPr>
          <p:cNvPr id="22" name="TextBox 21">
            <a:extLst>
              <a:ext uri="{FF2B5EF4-FFF2-40B4-BE49-F238E27FC236}">
                <a16:creationId xmlns:a16="http://schemas.microsoft.com/office/drawing/2014/main" id="{B9C7771C-DECE-0EC3-C80D-BF36954E7B15}"/>
              </a:ext>
            </a:extLst>
          </p:cNvPr>
          <p:cNvSpPr txBox="1"/>
          <p:nvPr/>
        </p:nvSpPr>
        <p:spPr>
          <a:xfrm>
            <a:off x="3123249" y="2446290"/>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a:t>
            </a:r>
          </a:p>
        </p:txBody>
      </p:sp>
      <p:sp>
        <p:nvSpPr>
          <p:cNvPr id="24" name="TextBox 23">
            <a:extLst>
              <a:ext uri="{FF2B5EF4-FFF2-40B4-BE49-F238E27FC236}">
                <a16:creationId xmlns:a16="http://schemas.microsoft.com/office/drawing/2014/main" id="{5EAAAE75-64E2-664C-9086-83721FE2C552}"/>
              </a:ext>
            </a:extLst>
          </p:cNvPr>
          <p:cNvSpPr txBox="1"/>
          <p:nvPr/>
        </p:nvSpPr>
        <p:spPr>
          <a:xfrm>
            <a:off x="3123249" y="3709320"/>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a:t>
            </a:r>
          </a:p>
        </p:txBody>
      </p:sp>
      <p:pic>
        <p:nvPicPr>
          <p:cNvPr id="14" name="Picture 13">
            <a:extLst>
              <a:ext uri="{FF2B5EF4-FFF2-40B4-BE49-F238E27FC236}">
                <a16:creationId xmlns:a16="http://schemas.microsoft.com/office/drawing/2014/main" id="{9141D87C-6D0A-E145-B08B-5C8C994DA919}"/>
              </a:ext>
            </a:extLst>
          </p:cNvPr>
          <p:cNvPicPr>
            <a:picLocks noChangeAspect="1"/>
          </p:cNvPicPr>
          <p:nvPr/>
        </p:nvPicPr>
        <p:blipFill>
          <a:blip r:embed="rId6"/>
          <a:srcRect b="12803"/>
          <a:stretch/>
        </p:blipFill>
        <p:spPr>
          <a:xfrm>
            <a:off x="968178" y="1160181"/>
            <a:ext cx="2286000" cy="1377853"/>
          </a:xfrm>
          <a:prstGeom prst="rect">
            <a:avLst/>
          </a:prstGeom>
        </p:spPr>
      </p:pic>
      <p:grpSp>
        <p:nvGrpSpPr>
          <p:cNvPr id="10" name="Group 9">
            <a:extLst>
              <a:ext uri="{FF2B5EF4-FFF2-40B4-BE49-F238E27FC236}">
                <a16:creationId xmlns:a16="http://schemas.microsoft.com/office/drawing/2014/main" id="{979B7CE3-014E-81F5-82F0-8E493B77FAE4}"/>
              </a:ext>
            </a:extLst>
          </p:cNvPr>
          <p:cNvGrpSpPr/>
          <p:nvPr/>
        </p:nvGrpSpPr>
        <p:grpSpPr>
          <a:xfrm>
            <a:off x="968178" y="3709320"/>
            <a:ext cx="2289014" cy="1584509"/>
            <a:chOff x="968178" y="3709320"/>
            <a:chExt cx="2289014" cy="1584509"/>
          </a:xfrm>
        </p:grpSpPr>
        <p:pic>
          <p:nvPicPr>
            <p:cNvPr id="19" name="Picture 18">
              <a:extLst>
                <a:ext uri="{FF2B5EF4-FFF2-40B4-BE49-F238E27FC236}">
                  <a16:creationId xmlns:a16="http://schemas.microsoft.com/office/drawing/2014/main" id="{B99F802F-B615-7CFB-E34B-A7660CBF456F}"/>
                </a:ext>
              </a:extLst>
            </p:cNvPr>
            <p:cNvPicPr>
              <a:picLocks noChangeAspect="1"/>
            </p:cNvPicPr>
            <p:nvPr/>
          </p:nvPicPr>
          <p:blipFill>
            <a:blip r:embed="rId7"/>
            <a:stretch>
              <a:fillRect/>
            </a:stretch>
          </p:blipFill>
          <p:spPr>
            <a:xfrm>
              <a:off x="968178" y="3716807"/>
              <a:ext cx="2289014" cy="1577022"/>
            </a:xfrm>
            <a:prstGeom prst="rect">
              <a:avLst/>
            </a:prstGeom>
          </p:spPr>
        </p:pic>
        <p:sp>
          <p:nvSpPr>
            <p:cNvPr id="7" name="Rectangle 6">
              <a:extLst>
                <a:ext uri="{FF2B5EF4-FFF2-40B4-BE49-F238E27FC236}">
                  <a16:creationId xmlns:a16="http://schemas.microsoft.com/office/drawing/2014/main" id="{4BCB9D1C-90AD-CFC5-7F65-4C841A1090F0}"/>
                </a:ext>
              </a:extLst>
            </p:cNvPr>
            <p:cNvSpPr/>
            <p:nvPr/>
          </p:nvSpPr>
          <p:spPr>
            <a:xfrm>
              <a:off x="1076325" y="3709320"/>
              <a:ext cx="181031" cy="1032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F2C4CBF2-5D7F-4BC1-B2D3-D49543E139AD}"/>
              </a:ext>
            </a:extLst>
          </p:cNvPr>
          <p:cNvGrpSpPr/>
          <p:nvPr/>
        </p:nvGrpSpPr>
        <p:grpSpPr>
          <a:xfrm>
            <a:off x="969685" y="2436935"/>
            <a:ext cx="2286000" cy="1377854"/>
            <a:chOff x="969685" y="2436935"/>
            <a:chExt cx="2286000" cy="1377854"/>
          </a:xfrm>
        </p:grpSpPr>
        <p:pic>
          <p:nvPicPr>
            <p:cNvPr id="16" name="Picture 15">
              <a:extLst>
                <a:ext uri="{FF2B5EF4-FFF2-40B4-BE49-F238E27FC236}">
                  <a16:creationId xmlns:a16="http://schemas.microsoft.com/office/drawing/2014/main" id="{75FDC073-3568-2286-3313-322EEE546DB5}"/>
                </a:ext>
              </a:extLst>
            </p:cNvPr>
            <p:cNvPicPr>
              <a:picLocks noChangeAspect="1"/>
            </p:cNvPicPr>
            <p:nvPr/>
          </p:nvPicPr>
          <p:blipFill>
            <a:blip r:embed="rId8"/>
            <a:srcRect b="12803"/>
            <a:stretch/>
          </p:blipFill>
          <p:spPr>
            <a:xfrm>
              <a:off x="969685" y="2436935"/>
              <a:ext cx="2286000" cy="1377854"/>
            </a:xfrm>
            <a:prstGeom prst="rect">
              <a:avLst/>
            </a:prstGeom>
          </p:spPr>
        </p:pic>
        <p:sp>
          <p:nvSpPr>
            <p:cNvPr id="5" name="Rectangle 4">
              <a:extLst>
                <a:ext uri="{FF2B5EF4-FFF2-40B4-BE49-F238E27FC236}">
                  <a16:creationId xmlns:a16="http://schemas.microsoft.com/office/drawing/2014/main" id="{3D906443-FC89-7691-A7C3-B37AE2C5850C}"/>
                </a:ext>
              </a:extLst>
            </p:cNvPr>
            <p:cNvSpPr/>
            <p:nvPr/>
          </p:nvSpPr>
          <p:spPr>
            <a:xfrm>
              <a:off x="1076325" y="2436935"/>
              <a:ext cx="173496" cy="1284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EC0676B7-A72B-D180-2595-79E4E1F890EC}"/>
              </a:ext>
            </a:extLst>
          </p:cNvPr>
          <p:cNvSpPr txBox="1"/>
          <p:nvPr/>
        </p:nvSpPr>
        <p:spPr>
          <a:xfrm rot="16200000">
            <a:off x="4858996" y="1731963"/>
            <a:ext cx="732893"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20</a:t>
            </a:r>
          </a:p>
        </p:txBody>
      </p:sp>
      <p:sp>
        <p:nvSpPr>
          <p:cNvPr id="15" name="TextBox 14">
            <a:extLst>
              <a:ext uri="{FF2B5EF4-FFF2-40B4-BE49-F238E27FC236}">
                <a16:creationId xmlns:a16="http://schemas.microsoft.com/office/drawing/2014/main" id="{AF41FB72-0DE6-B7F6-AB53-76F592DCC4D3}"/>
              </a:ext>
            </a:extLst>
          </p:cNvPr>
          <p:cNvSpPr txBox="1"/>
          <p:nvPr/>
        </p:nvSpPr>
        <p:spPr>
          <a:xfrm rot="16200000">
            <a:off x="4858996" y="2984744"/>
            <a:ext cx="732893"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40</a:t>
            </a:r>
          </a:p>
        </p:txBody>
      </p:sp>
      <p:sp>
        <p:nvSpPr>
          <p:cNvPr id="17" name="TextBox 16">
            <a:extLst>
              <a:ext uri="{FF2B5EF4-FFF2-40B4-BE49-F238E27FC236}">
                <a16:creationId xmlns:a16="http://schemas.microsoft.com/office/drawing/2014/main" id="{B54BEDB1-E992-102E-9618-B21D62B298DE}"/>
              </a:ext>
            </a:extLst>
          </p:cNvPr>
          <p:cNvSpPr txBox="1"/>
          <p:nvPr/>
        </p:nvSpPr>
        <p:spPr>
          <a:xfrm rot="16200000">
            <a:off x="4823730" y="4272790"/>
            <a:ext cx="803425" cy="246221"/>
          </a:xfrm>
          <a:prstGeom prst="rect">
            <a:avLst/>
          </a:prstGeom>
          <a:noFill/>
        </p:spPr>
        <p:txBody>
          <a:bodyPr wrap="non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r>
              <a:rPr lang="en-US" sz="1000" dirty="0">
                <a:latin typeface="Arial" panose="020B0604020202020204" pitchFamily="34" charset="0"/>
                <a:cs typeface="Arial" panose="020B0604020202020204" pitchFamily="34" charset="0"/>
              </a:rPr>
              <a:t> = 100</a:t>
            </a:r>
          </a:p>
        </p:txBody>
      </p:sp>
      <p:grpSp>
        <p:nvGrpSpPr>
          <p:cNvPr id="36" name="Group 35">
            <a:extLst>
              <a:ext uri="{FF2B5EF4-FFF2-40B4-BE49-F238E27FC236}">
                <a16:creationId xmlns:a16="http://schemas.microsoft.com/office/drawing/2014/main" id="{0A170342-10E2-AF89-5BC7-2D433BCD3922}"/>
              </a:ext>
            </a:extLst>
          </p:cNvPr>
          <p:cNvGrpSpPr/>
          <p:nvPr/>
        </p:nvGrpSpPr>
        <p:grpSpPr>
          <a:xfrm>
            <a:off x="1257356" y="5336503"/>
            <a:ext cx="1934707" cy="822960"/>
            <a:chOff x="1257356" y="5336503"/>
            <a:chExt cx="1934707" cy="822960"/>
          </a:xfrm>
        </p:grpSpPr>
        <p:sp>
          <p:nvSpPr>
            <p:cNvPr id="37" name="TextBox 36">
              <a:extLst>
                <a:ext uri="{FF2B5EF4-FFF2-40B4-BE49-F238E27FC236}">
                  <a16:creationId xmlns:a16="http://schemas.microsoft.com/office/drawing/2014/main" id="{DCDB3996-84C5-FE15-0B3C-A1874DA5BA64}"/>
                </a:ext>
              </a:extLst>
            </p:cNvPr>
            <p:cNvSpPr txBox="1"/>
            <p:nvPr/>
          </p:nvSpPr>
          <p:spPr>
            <a:xfrm>
              <a:off x="1269127" y="5760593"/>
              <a:ext cx="44199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AT</a:t>
              </a:r>
            </a:p>
          </p:txBody>
        </p:sp>
        <p:sp>
          <p:nvSpPr>
            <p:cNvPr id="38" name="TextBox 37">
              <a:extLst>
                <a:ext uri="{FF2B5EF4-FFF2-40B4-BE49-F238E27FC236}">
                  <a16:creationId xmlns:a16="http://schemas.microsoft.com/office/drawing/2014/main" id="{7A464F4E-4300-AE8C-D4C9-1CA86464C731}"/>
                </a:ext>
              </a:extLst>
            </p:cNvPr>
            <p:cNvSpPr txBox="1"/>
            <p:nvPr/>
          </p:nvSpPr>
          <p:spPr>
            <a:xfrm>
              <a:off x="1613529" y="5515071"/>
              <a:ext cx="486417"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0.1</a:t>
              </a:r>
            </a:p>
          </p:txBody>
        </p:sp>
        <p:sp>
          <p:nvSpPr>
            <p:cNvPr id="40" name="TextBox 39">
              <a:extLst>
                <a:ext uri="{FF2B5EF4-FFF2-40B4-BE49-F238E27FC236}">
                  <a16:creationId xmlns:a16="http://schemas.microsoft.com/office/drawing/2014/main" id="{8618C22B-619E-0CC0-FB9B-5450C7E34FC7}"/>
                </a:ext>
              </a:extLst>
            </p:cNvPr>
            <p:cNvSpPr txBox="1"/>
            <p:nvPr/>
          </p:nvSpPr>
          <p:spPr>
            <a:xfrm>
              <a:off x="1907100" y="5515071"/>
              <a:ext cx="41998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0.2</a:t>
              </a:r>
            </a:p>
          </p:txBody>
        </p:sp>
        <p:sp>
          <p:nvSpPr>
            <p:cNvPr id="41" name="TextBox 40">
              <a:extLst>
                <a:ext uri="{FF2B5EF4-FFF2-40B4-BE49-F238E27FC236}">
                  <a16:creationId xmlns:a16="http://schemas.microsoft.com/office/drawing/2014/main" id="{E23DDFEF-B560-47B0-C40B-688C8AAD7D25}"/>
                </a:ext>
              </a:extLst>
            </p:cNvPr>
            <p:cNvSpPr txBox="1"/>
            <p:nvPr/>
          </p:nvSpPr>
          <p:spPr>
            <a:xfrm>
              <a:off x="2194135" y="5515071"/>
              <a:ext cx="359842"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0.3</a:t>
              </a:r>
            </a:p>
          </p:txBody>
        </p:sp>
        <p:sp>
          <p:nvSpPr>
            <p:cNvPr id="43" name="TextBox 42">
              <a:extLst>
                <a:ext uri="{FF2B5EF4-FFF2-40B4-BE49-F238E27FC236}">
                  <a16:creationId xmlns:a16="http://schemas.microsoft.com/office/drawing/2014/main" id="{E0CB57C1-9B5F-1810-B661-C7F328E476A3}"/>
                </a:ext>
              </a:extLst>
            </p:cNvPr>
            <p:cNvSpPr txBox="1"/>
            <p:nvPr/>
          </p:nvSpPr>
          <p:spPr>
            <a:xfrm>
              <a:off x="1269127" y="5618799"/>
              <a:ext cx="44199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Offer</a:t>
              </a:r>
            </a:p>
          </p:txBody>
        </p:sp>
        <p:sp>
          <p:nvSpPr>
            <p:cNvPr id="58" name="Rectangle 57">
              <a:extLst>
                <a:ext uri="{FF2B5EF4-FFF2-40B4-BE49-F238E27FC236}">
                  <a16:creationId xmlns:a16="http://schemas.microsoft.com/office/drawing/2014/main" id="{9E753440-2B90-99EC-1966-BE5D1C91089C}"/>
                </a:ext>
              </a:extLst>
            </p:cNvPr>
            <p:cNvSpPr/>
            <p:nvPr/>
          </p:nvSpPr>
          <p:spPr>
            <a:xfrm>
              <a:off x="1257356" y="5336503"/>
              <a:ext cx="1840932" cy="82296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4" name="Rectangle 43">
              <a:extLst>
                <a:ext uri="{FF2B5EF4-FFF2-40B4-BE49-F238E27FC236}">
                  <a16:creationId xmlns:a16="http://schemas.microsoft.com/office/drawing/2014/main" id="{4A0275ED-1866-B9CB-8359-1E98C974E209}"/>
                </a:ext>
              </a:extLst>
            </p:cNvPr>
            <p:cNvSpPr/>
            <p:nvPr/>
          </p:nvSpPr>
          <p:spPr>
            <a:xfrm>
              <a:off x="1741830" y="5845376"/>
              <a:ext cx="82151" cy="821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5" name="Oval 44">
              <a:extLst>
                <a:ext uri="{FF2B5EF4-FFF2-40B4-BE49-F238E27FC236}">
                  <a16:creationId xmlns:a16="http://schemas.microsoft.com/office/drawing/2014/main" id="{E4BFAC08-34F7-4F7B-5BE2-45E254F953AD}"/>
                </a:ext>
              </a:extLst>
            </p:cNvPr>
            <p:cNvSpPr/>
            <p:nvPr/>
          </p:nvSpPr>
          <p:spPr>
            <a:xfrm>
              <a:off x="1741830" y="5702016"/>
              <a:ext cx="82151" cy="8215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riangle 1">
              <a:extLst>
                <a:ext uri="{FF2B5EF4-FFF2-40B4-BE49-F238E27FC236}">
                  <a16:creationId xmlns:a16="http://schemas.microsoft.com/office/drawing/2014/main" id="{4B878D14-1EB3-2AF7-A788-1A500CAD8C23}"/>
                </a:ext>
              </a:extLst>
            </p:cNvPr>
            <p:cNvSpPr/>
            <p:nvPr/>
          </p:nvSpPr>
          <p:spPr>
            <a:xfrm>
              <a:off x="1741757" y="5988736"/>
              <a:ext cx="82296" cy="8229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48" name="Rectangle 47">
              <a:extLst>
                <a:ext uri="{FF2B5EF4-FFF2-40B4-BE49-F238E27FC236}">
                  <a16:creationId xmlns:a16="http://schemas.microsoft.com/office/drawing/2014/main" id="{127B534D-9401-1692-A94C-15CE396AE42B}"/>
                </a:ext>
              </a:extLst>
            </p:cNvPr>
            <p:cNvSpPr/>
            <p:nvPr/>
          </p:nvSpPr>
          <p:spPr>
            <a:xfrm>
              <a:off x="2029418" y="5845376"/>
              <a:ext cx="82151" cy="821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9" name="Oval 48">
              <a:extLst>
                <a:ext uri="{FF2B5EF4-FFF2-40B4-BE49-F238E27FC236}">
                  <a16:creationId xmlns:a16="http://schemas.microsoft.com/office/drawing/2014/main" id="{80EF1E01-A037-D4AD-C055-CAD2225F6709}"/>
                </a:ext>
              </a:extLst>
            </p:cNvPr>
            <p:cNvSpPr/>
            <p:nvPr/>
          </p:nvSpPr>
          <p:spPr>
            <a:xfrm>
              <a:off x="2029418" y="5702016"/>
              <a:ext cx="82151" cy="8215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8" name="Triangle 7">
              <a:extLst>
                <a:ext uri="{FF2B5EF4-FFF2-40B4-BE49-F238E27FC236}">
                  <a16:creationId xmlns:a16="http://schemas.microsoft.com/office/drawing/2014/main" id="{AFFB714E-0534-5C97-CDFA-58164DE8FF9F}"/>
                </a:ext>
              </a:extLst>
            </p:cNvPr>
            <p:cNvSpPr/>
            <p:nvPr/>
          </p:nvSpPr>
          <p:spPr>
            <a:xfrm>
              <a:off x="2029345" y="5988736"/>
              <a:ext cx="82296" cy="8229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50" name="Rectangle 49">
              <a:extLst>
                <a:ext uri="{FF2B5EF4-FFF2-40B4-BE49-F238E27FC236}">
                  <a16:creationId xmlns:a16="http://schemas.microsoft.com/office/drawing/2014/main" id="{7E72DFA4-6F51-7FC3-D32D-B9E50A600B18}"/>
                </a:ext>
              </a:extLst>
            </p:cNvPr>
            <p:cNvSpPr/>
            <p:nvPr/>
          </p:nvSpPr>
          <p:spPr>
            <a:xfrm>
              <a:off x="2329731" y="5845376"/>
              <a:ext cx="82151" cy="8215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1" name="Oval 50">
              <a:extLst>
                <a:ext uri="{FF2B5EF4-FFF2-40B4-BE49-F238E27FC236}">
                  <a16:creationId xmlns:a16="http://schemas.microsoft.com/office/drawing/2014/main" id="{A2B983EA-61C8-6385-7698-48BE602E1652}"/>
                </a:ext>
              </a:extLst>
            </p:cNvPr>
            <p:cNvSpPr/>
            <p:nvPr/>
          </p:nvSpPr>
          <p:spPr>
            <a:xfrm>
              <a:off x="2329731" y="5702016"/>
              <a:ext cx="82151" cy="8215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9" name="Triangle 8">
              <a:extLst>
                <a:ext uri="{FF2B5EF4-FFF2-40B4-BE49-F238E27FC236}">
                  <a16:creationId xmlns:a16="http://schemas.microsoft.com/office/drawing/2014/main" id="{6C95F67A-B490-DBE2-E721-210B98BA7DE1}"/>
                </a:ext>
              </a:extLst>
            </p:cNvPr>
            <p:cNvSpPr/>
            <p:nvPr/>
          </p:nvSpPr>
          <p:spPr>
            <a:xfrm>
              <a:off x="2329658" y="5988736"/>
              <a:ext cx="82296" cy="82296"/>
            </a:xfrm>
            <a:prstGeom prst="triangl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8" name="TextBox 27">
              <a:extLst>
                <a:ext uri="{FF2B5EF4-FFF2-40B4-BE49-F238E27FC236}">
                  <a16:creationId xmlns:a16="http://schemas.microsoft.com/office/drawing/2014/main" id="{218E8571-563B-1257-9C99-E7A61D752042}"/>
                </a:ext>
              </a:extLst>
            </p:cNvPr>
            <p:cNvSpPr txBox="1"/>
            <p:nvPr/>
          </p:nvSpPr>
          <p:spPr>
            <a:xfrm>
              <a:off x="1269127" y="5912993"/>
              <a:ext cx="48874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Reject</a:t>
              </a:r>
            </a:p>
          </p:txBody>
        </p:sp>
        <p:sp>
          <p:nvSpPr>
            <p:cNvPr id="25" name="TextBox 24">
              <a:extLst>
                <a:ext uri="{FF2B5EF4-FFF2-40B4-BE49-F238E27FC236}">
                  <a16:creationId xmlns:a16="http://schemas.microsoft.com/office/drawing/2014/main" id="{43B285DD-9A74-D6B4-9845-D86108B62054}"/>
                </a:ext>
              </a:extLst>
            </p:cNvPr>
            <p:cNvSpPr txBox="1"/>
            <p:nvPr/>
          </p:nvSpPr>
          <p:spPr>
            <a:xfrm>
              <a:off x="2496109" y="5519187"/>
              <a:ext cx="41998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0.4</a:t>
              </a:r>
            </a:p>
          </p:txBody>
        </p:sp>
        <p:sp>
          <p:nvSpPr>
            <p:cNvPr id="29" name="Rectangle 28">
              <a:extLst>
                <a:ext uri="{FF2B5EF4-FFF2-40B4-BE49-F238E27FC236}">
                  <a16:creationId xmlns:a16="http://schemas.microsoft.com/office/drawing/2014/main" id="{C739ECBA-6A0A-253D-E13A-4DA81B09ED66}"/>
                </a:ext>
              </a:extLst>
            </p:cNvPr>
            <p:cNvSpPr/>
            <p:nvPr/>
          </p:nvSpPr>
          <p:spPr>
            <a:xfrm>
              <a:off x="2618427" y="5849492"/>
              <a:ext cx="82151" cy="8215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0" name="Oval 29">
              <a:extLst>
                <a:ext uri="{FF2B5EF4-FFF2-40B4-BE49-F238E27FC236}">
                  <a16:creationId xmlns:a16="http://schemas.microsoft.com/office/drawing/2014/main" id="{C2793908-AF78-FE5D-4F65-225C2AD4763F}"/>
                </a:ext>
              </a:extLst>
            </p:cNvPr>
            <p:cNvSpPr/>
            <p:nvPr/>
          </p:nvSpPr>
          <p:spPr>
            <a:xfrm>
              <a:off x="2618427" y="5706132"/>
              <a:ext cx="82151" cy="821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1" name="Triangle 30">
              <a:extLst>
                <a:ext uri="{FF2B5EF4-FFF2-40B4-BE49-F238E27FC236}">
                  <a16:creationId xmlns:a16="http://schemas.microsoft.com/office/drawing/2014/main" id="{CFF994DD-4268-FB97-141A-74427F2D3519}"/>
                </a:ext>
              </a:extLst>
            </p:cNvPr>
            <p:cNvSpPr/>
            <p:nvPr/>
          </p:nvSpPr>
          <p:spPr>
            <a:xfrm>
              <a:off x="2618354" y="5992852"/>
              <a:ext cx="82296" cy="8229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32" name="TextBox 31">
              <a:extLst>
                <a:ext uri="{FF2B5EF4-FFF2-40B4-BE49-F238E27FC236}">
                  <a16:creationId xmlns:a16="http://schemas.microsoft.com/office/drawing/2014/main" id="{829134FE-1CC2-774A-B2DB-971B70D2DCC8}"/>
                </a:ext>
              </a:extLst>
            </p:cNvPr>
            <p:cNvSpPr txBox="1"/>
            <p:nvPr/>
          </p:nvSpPr>
          <p:spPr>
            <a:xfrm>
              <a:off x="2772079" y="5523303"/>
              <a:ext cx="419984"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0.5</a:t>
              </a:r>
            </a:p>
          </p:txBody>
        </p:sp>
        <p:sp>
          <p:nvSpPr>
            <p:cNvPr id="35" name="Rectangle 34">
              <a:extLst>
                <a:ext uri="{FF2B5EF4-FFF2-40B4-BE49-F238E27FC236}">
                  <a16:creationId xmlns:a16="http://schemas.microsoft.com/office/drawing/2014/main" id="{0726CF5A-5436-6E50-FB1D-3B9E0B680CAE}"/>
                </a:ext>
              </a:extLst>
            </p:cNvPr>
            <p:cNvSpPr/>
            <p:nvPr/>
          </p:nvSpPr>
          <p:spPr>
            <a:xfrm>
              <a:off x="2894397" y="5853608"/>
              <a:ext cx="82151" cy="82151"/>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9" name="Oval 38">
              <a:extLst>
                <a:ext uri="{FF2B5EF4-FFF2-40B4-BE49-F238E27FC236}">
                  <a16:creationId xmlns:a16="http://schemas.microsoft.com/office/drawing/2014/main" id="{59E113F5-C83D-9C2A-11BA-0E4503BA930C}"/>
                </a:ext>
              </a:extLst>
            </p:cNvPr>
            <p:cNvSpPr/>
            <p:nvPr/>
          </p:nvSpPr>
          <p:spPr>
            <a:xfrm>
              <a:off x="2894397" y="5710248"/>
              <a:ext cx="82151" cy="8215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2" name="Triangle 41">
              <a:extLst>
                <a:ext uri="{FF2B5EF4-FFF2-40B4-BE49-F238E27FC236}">
                  <a16:creationId xmlns:a16="http://schemas.microsoft.com/office/drawing/2014/main" id="{7FBBCFF1-0197-49CE-D802-EF2784279B7E}"/>
                </a:ext>
              </a:extLst>
            </p:cNvPr>
            <p:cNvSpPr/>
            <p:nvPr/>
          </p:nvSpPr>
          <p:spPr>
            <a:xfrm>
              <a:off x="2894324" y="5996968"/>
              <a:ext cx="82296" cy="82296"/>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7" name="TextBox 26">
              <a:extLst>
                <a:ext uri="{FF2B5EF4-FFF2-40B4-BE49-F238E27FC236}">
                  <a16:creationId xmlns:a16="http://schemas.microsoft.com/office/drawing/2014/main" id="{98C563F9-1BE8-390F-39B7-0312C9E0653B}"/>
                </a:ext>
              </a:extLst>
            </p:cNvPr>
            <p:cNvSpPr txBox="1"/>
            <p:nvPr/>
          </p:nvSpPr>
          <p:spPr>
            <a:xfrm>
              <a:off x="1858560" y="5349013"/>
              <a:ext cx="1001063"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Dispersion Rate</a:t>
              </a:r>
            </a:p>
          </p:txBody>
        </p:sp>
      </p:grpSp>
      <p:grpSp>
        <p:nvGrpSpPr>
          <p:cNvPr id="34" name="Group 33">
            <a:extLst>
              <a:ext uri="{FF2B5EF4-FFF2-40B4-BE49-F238E27FC236}">
                <a16:creationId xmlns:a16="http://schemas.microsoft.com/office/drawing/2014/main" id="{87D4F6E1-E439-7C3F-1A06-57A26883F104}"/>
              </a:ext>
            </a:extLst>
          </p:cNvPr>
          <p:cNvGrpSpPr/>
          <p:nvPr/>
        </p:nvGrpSpPr>
        <p:grpSpPr>
          <a:xfrm>
            <a:off x="3577019" y="5336503"/>
            <a:ext cx="1177350" cy="822960"/>
            <a:chOff x="3577019" y="5336503"/>
            <a:chExt cx="1177350" cy="822960"/>
          </a:xfrm>
        </p:grpSpPr>
        <p:sp>
          <p:nvSpPr>
            <p:cNvPr id="47" name="TextBox 46">
              <a:extLst>
                <a:ext uri="{FF2B5EF4-FFF2-40B4-BE49-F238E27FC236}">
                  <a16:creationId xmlns:a16="http://schemas.microsoft.com/office/drawing/2014/main" id="{E5569699-E0FE-BD01-0CE7-F84B3CC6835A}"/>
                </a:ext>
              </a:extLst>
            </p:cNvPr>
            <p:cNvSpPr txBox="1"/>
            <p:nvPr/>
          </p:nvSpPr>
          <p:spPr>
            <a:xfrm>
              <a:off x="3588789" y="5760593"/>
              <a:ext cx="44199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AT</a:t>
              </a:r>
            </a:p>
          </p:txBody>
        </p:sp>
        <p:sp>
          <p:nvSpPr>
            <p:cNvPr id="52" name="TextBox 51">
              <a:extLst>
                <a:ext uri="{FF2B5EF4-FFF2-40B4-BE49-F238E27FC236}">
                  <a16:creationId xmlns:a16="http://schemas.microsoft.com/office/drawing/2014/main" id="{C27F4D4C-7262-8752-CC85-16975AC06BD1}"/>
                </a:ext>
              </a:extLst>
            </p:cNvPr>
            <p:cNvSpPr txBox="1"/>
            <p:nvPr/>
          </p:nvSpPr>
          <p:spPr>
            <a:xfrm>
              <a:off x="3883763" y="5515071"/>
              <a:ext cx="486417"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0.016</a:t>
              </a:r>
            </a:p>
          </p:txBody>
        </p:sp>
        <p:sp>
          <p:nvSpPr>
            <p:cNvPr id="53" name="TextBox 52">
              <a:extLst>
                <a:ext uri="{FF2B5EF4-FFF2-40B4-BE49-F238E27FC236}">
                  <a16:creationId xmlns:a16="http://schemas.microsoft.com/office/drawing/2014/main" id="{97A74C40-875E-0CCD-5310-03E8B620DB53}"/>
                </a:ext>
              </a:extLst>
            </p:cNvPr>
            <p:cNvSpPr txBox="1"/>
            <p:nvPr/>
          </p:nvSpPr>
          <p:spPr>
            <a:xfrm>
              <a:off x="4267951" y="5515071"/>
              <a:ext cx="486417"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0.032</a:t>
              </a:r>
            </a:p>
          </p:txBody>
        </p:sp>
        <p:sp>
          <p:nvSpPr>
            <p:cNvPr id="55" name="TextBox 54">
              <a:extLst>
                <a:ext uri="{FF2B5EF4-FFF2-40B4-BE49-F238E27FC236}">
                  <a16:creationId xmlns:a16="http://schemas.microsoft.com/office/drawing/2014/main" id="{6F2C1403-76DA-568C-7CE7-23C435D83E37}"/>
                </a:ext>
              </a:extLst>
            </p:cNvPr>
            <p:cNvSpPr txBox="1"/>
            <p:nvPr/>
          </p:nvSpPr>
          <p:spPr>
            <a:xfrm>
              <a:off x="3588789" y="5618799"/>
              <a:ext cx="441995"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Offer</a:t>
              </a:r>
            </a:p>
          </p:txBody>
        </p:sp>
        <p:sp>
          <p:nvSpPr>
            <p:cNvPr id="57" name="Rectangle 56">
              <a:extLst>
                <a:ext uri="{FF2B5EF4-FFF2-40B4-BE49-F238E27FC236}">
                  <a16:creationId xmlns:a16="http://schemas.microsoft.com/office/drawing/2014/main" id="{41E3F42F-8FA5-7182-B5A1-8E6CB6FFA86C}"/>
                </a:ext>
              </a:extLst>
            </p:cNvPr>
            <p:cNvSpPr/>
            <p:nvPr/>
          </p:nvSpPr>
          <p:spPr>
            <a:xfrm>
              <a:off x="3577019" y="5336503"/>
              <a:ext cx="1177350" cy="82296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3" name="Rectangle 72">
              <a:extLst>
                <a:ext uri="{FF2B5EF4-FFF2-40B4-BE49-F238E27FC236}">
                  <a16:creationId xmlns:a16="http://schemas.microsoft.com/office/drawing/2014/main" id="{2A2D6D69-1AD2-15C9-FA73-7DF204B6120D}"/>
                </a:ext>
              </a:extLst>
            </p:cNvPr>
            <p:cNvSpPr/>
            <p:nvPr/>
          </p:nvSpPr>
          <p:spPr>
            <a:xfrm>
              <a:off x="4061492" y="5845376"/>
              <a:ext cx="82151" cy="8215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4" name="Oval 73">
              <a:extLst>
                <a:ext uri="{FF2B5EF4-FFF2-40B4-BE49-F238E27FC236}">
                  <a16:creationId xmlns:a16="http://schemas.microsoft.com/office/drawing/2014/main" id="{218307E8-058C-15E9-F141-400C26AE5BBA}"/>
                </a:ext>
              </a:extLst>
            </p:cNvPr>
            <p:cNvSpPr/>
            <p:nvPr/>
          </p:nvSpPr>
          <p:spPr>
            <a:xfrm>
              <a:off x="4061492" y="5702016"/>
              <a:ext cx="82151" cy="8215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5" name="Triangle 74">
              <a:extLst>
                <a:ext uri="{FF2B5EF4-FFF2-40B4-BE49-F238E27FC236}">
                  <a16:creationId xmlns:a16="http://schemas.microsoft.com/office/drawing/2014/main" id="{F6ABCC42-798A-31A7-C492-95CA14A35CB5}"/>
                </a:ext>
              </a:extLst>
            </p:cNvPr>
            <p:cNvSpPr/>
            <p:nvPr/>
          </p:nvSpPr>
          <p:spPr>
            <a:xfrm>
              <a:off x="4061419" y="5988736"/>
              <a:ext cx="82296" cy="8229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70" name="Rectangle 69">
              <a:extLst>
                <a:ext uri="{FF2B5EF4-FFF2-40B4-BE49-F238E27FC236}">
                  <a16:creationId xmlns:a16="http://schemas.microsoft.com/office/drawing/2014/main" id="{128A4C1B-4484-F284-C0E1-5DDBB29AD774}"/>
                </a:ext>
              </a:extLst>
            </p:cNvPr>
            <p:cNvSpPr/>
            <p:nvPr/>
          </p:nvSpPr>
          <p:spPr>
            <a:xfrm>
              <a:off x="4439698" y="5845376"/>
              <a:ext cx="82151" cy="82151"/>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1" name="Oval 70">
              <a:extLst>
                <a:ext uri="{FF2B5EF4-FFF2-40B4-BE49-F238E27FC236}">
                  <a16:creationId xmlns:a16="http://schemas.microsoft.com/office/drawing/2014/main" id="{02F90D61-7FF0-7BEF-7DD7-281B21D3931C}"/>
                </a:ext>
              </a:extLst>
            </p:cNvPr>
            <p:cNvSpPr/>
            <p:nvPr/>
          </p:nvSpPr>
          <p:spPr>
            <a:xfrm>
              <a:off x="4439698" y="5702016"/>
              <a:ext cx="82151" cy="82151"/>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2" name="Triangle 71">
              <a:extLst>
                <a:ext uri="{FF2B5EF4-FFF2-40B4-BE49-F238E27FC236}">
                  <a16:creationId xmlns:a16="http://schemas.microsoft.com/office/drawing/2014/main" id="{72564730-C2B6-8F75-1338-EBA4B47EA824}"/>
                </a:ext>
              </a:extLst>
            </p:cNvPr>
            <p:cNvSpPr/>
            <p:nvPr/>
          </p:nvSpPr>
          <p:spPr>
            <a:xfrm>
              <a:off x="4439625" y="5988736"/>
              <a:ext cx="82296" cy="82296"/>
            </a:xfrm>
            <a:prstGeom prst="triangl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62" name="TextBox 61">
              <a:extLst>
                <a:ext uri="{FF2B5EF4-FFF2-40B4-BE49-F238E27FC236}">
                  <a16:creationId xmlns:a16="http://schemas.microsoft.com/office/drawing/2014/main" id="{B92FA125-53EC-64D5-F65D-7A03282852F7}"/>
                </a:ext>
              </a:extLst>
            </p:cNvPr>
            <p:cNvSpPr txBox="1"/>
            <p:nvPr/>
          </p:nvSpPr>
          <p:spPr>
            <a:xfrm>
              <a:off x="3588789" y="5912993"/>
              <a:ext cx="488745" cy="215444"/>
            </a:xfrm>
            <a:prstGeom prst="rect">
              <a:avLst/>
            </a:prstGeom>
            <a:noFill/>
          </p:spPr>
          <p:txBody>
            <a:bodyPr wrap="square" rtlCol="0">
              <a:spAutoFit/>
            </a:bodyPr>
            <a:lstStyle/>
            <a:p>
              <a:r>
                <a:rPr lang="en-US" sz="800">
                  <a:latin typeface="Arial" panose="020B0604020202020204" pitchFamily="34" charset="0"/>
                  <a:cs typeface="Arial" panose="020B0604020202020204" pitchFamily="34" charset="0"/>
                </a:rPr>
                <a:t>Reject</a:t>
              </a:r>
            </a:p>
          </p:txBody>
        </p:sp>
        <p:sp>
          <p:nvSpPr>
            <p:cNvPr id="33" name="TextBox 32">
              <a:extLst>
                <a:ext uri="{FF2B5EF4-FFF2-40B4-BE49-F238E27FC236}">
                  <a16:creationId xmlns:a16="http://schemas.microsoft.com/office/drawing/2014/main" id="{3807FFDC-9B9E-4CDE-E381-0329617417DE}"/>
                </a:ext>
              </a:extLst>
            </p:cNvPr>
            <p:cNvSpPr txBox="1"/>
            <p:nvPr/>
          </p:nvSpPr>
          <p:spPr>
            <a:xfrm>
              <a:off x="3833161" y="5344565"/>
              <a:ext cx="921207" cy="215444"/>
            </a:xfrm>
            <a:prstGeom prst="rect">
              <a:avLst/>
            </a:prstGeom>
            <a:noFill/>
          </p:spPr>
          <p:txBody>
            <a:bodyPr wrap="square" rtlCol="0">
              <a:spAutoFit/>
            </a:bodyPr>
            <a:lstStyle/>
            <a:p>
              <a:pPr algn="ctr"/>
              <a:r>
                <a:rPr lang="en-US" sz="800" dirty="0">
                  <a:latin typeface="Arial" panose="020B0604020202020204" pitchFamily="34" charset="0"/>
                  <a:cs typeface="Arial" panose="020B0604020202020204" pitchFamily="34" charset="0"/>
                </a:rPr>
                <a:t>Density</a:t>
              </a:r>
            </a:p>
          </p:txBody>
        </p:sp>
      </p:grpSp>
    </p:spTree>
    <p:extLst>
      <p:ext uri="{BB962C8B-B14F-4D97-AF65-F5344CB8AC3E}">
        <p14:creationId xmlns:p14="http://schemas.microsoft.com/office/powerpoint/2010/main" val="2645938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47790-485F-F10F-68DA-95CB58A9A55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711A9CA0-4CA9-979E-6081-6F7B957561FA}"/>
              </a:ext>
            </a:extLst>
          </p:cNvPr>
          <p:cNvPicPr>
            <a:picLocks noChangeAspect="1"/>
          </p:cNvPicPr>
          <p:nvPr/>
        </p:nvPicPr>
        <p:blipFill>
          <a:blip r:embed="rId3"/>
          <a:stretch>
            <a:fillRect/>
          </a:stretch>
        </p:blipFill>
        <p:spPr>
          <a:xfrm>
            <a:off x="849993" y="2433864"/>
            <a:ext cx="4572000" cy="3192120"/>
          </a:xfrm>
          <a:prstGeom prst="rect">
            <a:avLst/>
          </a:prstGeom>
        </p:spPr>
      </p:pic>
      <p:sp>
        <p:nvSpPr>
          <p:cNvPr id="26" name="Rectangle 25">
            <a:extLst>
              <a:ext uri="{FF2B5EF4-FFF2-40B4-BE49-F238E27FC236}">
                <a16:creationId xmlns:a16="http://schemas.microsoft.com/office/drawing/2014/main" id="{89EAD21E-4019-2DE6-6BE8-AE9587BD3DFA}"/>
              </a:ext>
            </a:extLst>
          </p:cNvPr>
          <p:cNvSpPr/>
          <p:nvPr/>
        </p:nvSpPr>
        <p:spPr>
          <a:xfrm>
            <a:off x="3991897" y="2566219"/>
            <a:ext cx="1327355" cy="35396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2861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C6829-A3DB-FD83-D236-38D57FE339B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11B80E1-397A-36C4-2D63-23B58C0B7FDC}"/>
              </a:ext>
            </a:extLst>
          </p:cNvPr>
          <p:cNvPicPr>
            <a:picLocks noChangeAspect="1"/>
          </p:cNvPicPr>
          <p:nvPr/>
        </p:nvPicPr>
        <p:blipFill>
          <a:blip r:embed="rId3"/>
          <a:stretch>
            <a:fillRect/>
          </a:stretch>
        </p:blipFill>
        <p:spPr>
          <a:xfrm>
            <a:off x="625209" y="5635427"/>
            <a:ext cx="2743200" cy="1909753"/>
          </a:xfrm>
          <a:prstGeom prst="rect">
            <a:avLst/>
          </a:prstGeom>
        </p:spPr>
      </p:pic>
      <p:pic>
        <p:nvPicPr>
          <p:cNvPr id="5" name="Picture 4">
            <a:extLst>
              <a:ext uri="{FF2B5EF4-FFF2-40B4-BE49-F238E27FC236}">
                <a16:creationId xmlns:a16="http://schemas.microsoft.com/office/drawing/2014/main" id="{284845ED-64E8-A5F6-9CC7-90DD28399C4A}"/>
              </a:ext>
            </a:extLst>
          </p:cNvPr>
          <p:cNvPicPr>
            <a:picLocks noChangeAspect="1"/>
          </p:cNvPicPr>
          <p:nvPr/>
        </p:nvPicPr>
        <p:blipFill>
          <a:blip r:embed="rId4"/>
          <a:stretch>
            <a:fillRect/>
          </a:stretch>
        </p:blipFill>
        <p:spPr>
          <a:xfrm>
            <a:off x="654376" y="3761280"/>
            <a:ext cx="2743200" cy="1909753"/>
          </a:xfrm>
          <a:prstGeom prst="rect">
            <a:avLst/>
          </a:prstGeom>
        </p:spPr>
      </p:pic>
      <p:pic>
        <p:nvPicPr>
          <p:cNvPr id="2" name="Picture 1">
            <a:extLst>
              <a:ext uri="{FF2B5EF4-FFF2-40B4-BE49-F238E27FC236}">
                <a16:creationId xmlns:a16="http://schemas.microsoft.com/office/drawing/2014/main" id="{B7ECB0A4-BB31-1F75-74BA-9E13262A6D6B}"/>
              </a:ext>
            </a:extLst>
          </p:cNvPr>
          <p:cNvPicPr>
            <a:picLocks noChangeAspect="1"/>
          </p:cNvPicPr>
          <p:nvPr/>
        </p:nvPicPr>
        <p:blipFill>
          <a:blip r:embed="rId5"/>
          <a:stretch>
            <a:fillRect/>
          </a:stretch>
        </p:blipFill>
        <p:spPr>
          <a:xfrm>
            <a:off x="3374843" y="5639020"/>
            <a:ext cx="2743200" cy="1905918"/>
          </a:xfrm>
          <a:prstGeom prst="rect">
            <a:avLst/>
          </a:prstGeom>
        </p:spPr>
      </p:pic>
      <p:pic>
        <p:nvPicPr>
          <p:cNvPr id="19" name="Picture 18">
            <a:extLst>
              <a:ext uri="{FF2B5EF4-FFF2-40B4-BE49-F238E27FC236}">
                <a16:creationId xmlns:a16="http://schemas.microsoft.com/office/drawing/2014/main" id="{96DE8904-E9FE-7A65-85FF-7EFC9A779985}"/>
              </a:ext>
            </a:extLst>
          </p:cNvPr>
          <p:cNvPicPr>
            <a:picLocks noChangeAspect="1"/>
          </p:cNvPicPr>
          <p:nvPr/>
        </p:nvPicPr>
        <p:blipFill>
          <a:blip r:embed="rId6"/>
          <a:stretch>
            <a:fillRect/>
          </a:stretch>
        </p:blipFill>
        <p:spPr>
          <a:xfrm>
            <a:off x="3354523" y="3758521"/>
            <a:ext cx="2743200" cy="1915272"/>
          </a:xfrm>
          <a:prstGeom prst="rect">
            <a:avLst/>
          </a:prstGeom>
        </p:spPr>
      </p:pic>
      <p:sp>
        <p:nvSpPr>
          <p:cNvPr id="20" name="TextBox 19">
            <a:extLst>
              <a:ext uri="{FF2B5EF4-FFF2-40B4-BE49-F238E27FC236}">
                <a16:creationId xmlns:a16="http://schemas.microsoft.com/office/drawing/2014/main" id="{6610C783-80BC-C1F5-6F2D-00C9F0748082}"/>
              </a:ext>
            </a:extLst>
          </p:cNvPr>
          <p:cNvSpPr txBox="1"/>
          <p:nvPr/>
        </p:nvSpPr>
        <p:spPr>
          <a:xfrm>
            <a:off x="969145" y="3758520"/>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b</a:t>
            </a:r>
          </a:p>
        </p:txBody>
      </p:sp>
      <p:sp>
        <p:nvSpPr>
          <p:cNvPr id="23" name="TextBox 22">
            <a:extLst>
              <a:ext uri="{FF2B5EF4-FFF2-40B4-BE49-F238E27FC236}">
                <a16:creationId xmlns:a16="http://schemas.microsoft.com/office/drawing/2014/main" id="{2D8F50BD-2D89-0807-930B-AD5CFA7215C4}"/>
              </a:ext>
            </a:extLst>
          </p:cNvPr>
          <p:cNvSpPr txBox="1"/>
          <p:nvPr/>
        </p:nvSpPr>
        <p:spPr>
          <a:xfrm>
            <a:off x="3695955" y="5683895"/>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e</a:t>
            </a:r>
          </a:p>
        </p:txBody>
      </p:sp>
      <p:sp>
        <p:nvSpPr>
          <p:cNvPr id="21" name="TextBox 20">
            <a:extLst>
              <a:ext uri="{FF2B5EF4-FFF2-40B4-BE49-F238E27FC236}">
                <a16:creationId xmlns:a16="http://schemas.microsoft.com/office/drawing/2014/main" id="{C508E4B6-314F-6552-D2AB-B3C9E2FE278F}"/>
              </a:ext>
            </a:extLst>
          </p:cNvPr>
          <p:cNvSpPr txBox="1"/>
          <p:nvPr/>
        </p:nvSpPr>
        <p:spPr>
          <a:xfrm>
            <a:off x="3712345" y="3767633"/>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c</a:t>
            </a:r>
          </a:p>
        </p:txBody>
      </p:sp>
      <p:sp>
        <p:nvSpPr>
          <p:cNvPr id="22" name="TextBox 21">
            <a:extLst>
              <a:ext uri="{FF2B5EF4-FFF2-40B4-BE49-F238E27FC236}">
                <a16:creationId xmlns:a16="http://schemas.microsoft.com/office/drawing/2014/main" id="{65C0F1B5-18DB-50BF-2A99-C19B4B3BF4A5}"/>
              </a:ext>
            </a:extLst>
          </p:cNvPr>
          <p:cNvSpPr txBox="1"/>
          <p:nvPr/>
        </p:nvSpPr>
        <p:spPr>
          <a:xfrm>
            <a:off x="969145" y="5671033"/>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d</a:t>
            </a:r>
          </a:p>
        </p:txBody>
      </p:sp>
      <p:cxnSp>
        <p:nvCxnSpPr>
          <p:cNvPr id="34" name="Straight Connector 33">
            <a:extLst>
              <a:ext uri="{FF2B5EF4-FFF2-40B4-BE49-F238E27FC236}">
                <a16:creationId xmlns:a16="http://schemas.microsoft.com/office/drawing/2014/main" id="{A5021571-C2BE-2156-091D-5989FB6BB1D0}"/>
              </a:ext>
            </a:extLst>
          </p:cNvPr>
          <p:cNvCxnSpPr>
            <a:cxnSpLocks/>
          </p:cNvCxnSpPr>
          <p:nvPr/>
        </p:nvCxnSpPr>
        <p:spPr>
          <a:xfrm>
            <a:off x="2099" y="520901"/>
            <a:ext cx="0" cy="7089846"/>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BEBBE51A-7606-B5A6-FEA3-C457B807E596}"/>
              </a:ext>
            </a:extLst>
          </p:cNvPr>
          <p:cNvPicPr>
            <a:picLocks noChangeAspect="1"/>
          </p:cNvPicPr>
          <p:nvPr/>
        </p:nvPicPr>
        <p:blipFill>
          <a:blip r:embed="rId7"/>
          <a:stretch>
            <a:fillRect/>
          </a:stretch>
        </p:blipFill>
        <p:spPr>
          <a:xfrm>
            <a:off x="2047687" y="1807318"/>
            <a:ext cx="2743200" cy="1907596"/>
          </a:xfrm>
          <a:prstGeom prst="rect">
            <a:avLst/>
          </a:prstGeom>
        </p:spPr>
      </p:pic>
      <p:sp>
        <p:nvSpPr>
          <p:cNvPr id="16" name="TextBox 15">
            <a:extLst>
              <a:ext uri="{FF2B5EF4-FFF2-40B4-BE49-F238E27FC236}">
                <a16:creationId xmlns:a16="http://schemas.microsoft.com/office/drawing/2014/main" id="{BA5F0128-4179-AF7D-8E92-6CF55BE4BF9F}"/>
              </a:ext>
            </a:extLst>
          </p:cNvPr>
          <p:cNvSpPr txBox="1"/>
          <p:nvPr/>
        </p:nvSpPr>
        <p:spPr>
          <a:xfrm>
            <a:off x="2419356" y="1823945"/>
            <a:ext cx="295563"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a:t>
            </a:r>
          </a:p>
        </p:txBody>
      </p:sp>
    </p:spTree>
    <p:extLst>
      <p:ext uri="{BB962C8B-B14F-4D97-AF65-F5344CB8AC3E}">
        <p14:creationId xmlns:p14="http://schemas.microsoft.com/office/powerpoint/2010/main" val="3644079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2C45D-5991-7149-B62D-E33369FB6991}"/>
              </a:ext>
            </a:extLst>
          </p:cNvPr>
          <p:cNvSpPr>
            <a:spLocks noGrp="1"/>
          </p:cNvSpPr>
          <p:nvPr>
            <p:ph type="title"/>
          </p:nvPr>
        </p:nvSpPr>
        <p:spPr>
          <a:xfrm>
            <a:off x="471487" y="3077636"/>
            <a:ext cx="5915025" cy="1767417"/>
          </a:xfrm>
        </p:spPr>
        <p:txBody>
          <a:bodyPr/>
          <a:lstStyle/>
          <a:p>
            <a:r>
              <a:rPr lang="en-US" dirty="0"/>
              <a:t>Appendix B Figures</a:t>
            </a:r>
          </a:p>
        </p:txBody>
      </p:sp>
    </p:spTree>
    <p:extLst>
      <p:ext uri="{BB962C8B-B14F-4D97-AF65-F5344CB8AC3E}">
        <p14:creationId xmlns:p14="http://schemas.microsoft.com/office/powerpoint/2010/main" val="2908479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F7147476-AEF2-22ED-DEAF-82F1FC779FF7}"/>
              </a:ext>
            </a:extLst>
          </p:cNvPr>
          <p:cNvPicPr>
            <a:picLocks noChangeAspect="1"/>
          </p:cNvPicPr>
          <p:nvPr/>
        </p:nvPicPr>
        <p:blipFill>
          <a:blip r:embed="rId3"/>
          <a:stretch>
            <a:fillRect/>
          </a:stretch>
        </p:blipFill>
        <p:spPr>
          <a:xfrm>
            <a:off x="3568766" y="2858741"/>
            <a:ext cx="2743200" cy="1898294"/>
          </a:xfrm>
          <a:prstGeom prst="rect">
            <a:avLst/>
          </a:prstGeom>
        </p:spPr>
      </p:pic>
      <p:pic>
        <p:nvPicPr>
          <p:cNvPr id="25" name="Picture 24">
            <a:extLst>
              <a:ext uri="{FF2B5EF4-FFF2-40B4-BE49-F238E27FC236}">
                <a16:creationId xmlns:a16="http://schemas.microsoft.com/office/drawing/2014/main" id="{16DA4209-AFAB-394E-86E8-05D2D0F450C6}"/>
              </a:ext>
            </a:extLst>
          </p:cNvPr>
          <p:cNvPicPr>
            <a:picLocks noChangeAspect="1"/>
          </p:cNvPicPr>
          <p:nvPr/>
        </p:nvPicPr>
        <p:blipFill>
          <a:blip r:embed="rId4"/>
          <a:stretch>
            <a:fillRect/>
          </a:stretch>
        </p:blipFill>
        <p:spPr>
          <a:xfrm>
            <a:off x="3572852" y="989936"/>
            <a:ext cx="2743200" cy="1901825"/>
          </a:xfrm>
          <a:prstGeom prst="rect">
            <a:avLst/>
          </a:prstGeom>
        </p:spPr>
      </p:pic>
      <p:sp>
        <p:nvSpPr>
          <p:cNvPr id="18" name="TextBox 17">
            <a:extLst>
              <a:ext uri="{FF2B5EF4-FFF2-40B4-BE49-F238E27FC236}">
                <a16:creationId xmlns:a16="http://schemas.microsoft.com/office/drawing/2014/main" id="{2F965AF5-B758-9A93-EAD0-2806E2CEC19D}"/>
              </a:ext>
            </a:extLst>
          </p:cNvPr>
          <p:cNvSpPr txBox="1"/>
          <p:nvPr/>
        </p:nvSpPr>
        <p:spPr>
          <a:xfrm>
            <a:off x="3908338" y="998403"/>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b</a:t>
            </a:r>
          </a:p>
        </p:txBody>
      </p:sp>
      <p:sp>
        <p:nvSpPr>
          <p:cNvPr id="17" name="TextBox 16">
            <a:extLst>
              <a:ext uri="{FF2B5EF4-FFF2-40B4-BE49-F238E27FC236}">
                <a16:creationId xmlns:a16="http://schemas.microsoft.com/office/drawing/2014/main" id="{BF628C00-8FD1-1F47-2236-3C894791A003}"/>
              </a:ext>
            </a:extLst>
          </p:cNvPr>
          <p:cNvSpPr txBox="1"/>
          <p:nvPr/>
        </p:nvSpPr>
        <p:spPr>
          <a:xfrm>
            <a:off x="1312920" y="993672"/>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a:t>
            </a:r>
          </a:p>
        </p:txBody>
      </p:sp>
      <p:sp>
        <p:nvSpPr>
          <p:cNvPr id="19" name="TextBox 18">
            <a:extLst>
              <a:ext uri="{FF2B5EF4-FFF2-40B4-BE49-F238E27FC236}">
                <a16:creationId xmlns:a16="http://schemas.microsoft.com/office/drawing/2014/main" id="{61CFFE83-E29D-70CC-9A72-0CEB3431AF75}"/>
              </a:ext>
            </a:extLst>
          </p:cNvPr>
          <p:cNvSpPr txBox="1"/>
          <p:nvPr/>
        </p:nvSpPr>
        <p:spPr>
          <a:xfrm>
            <a:off x="3976072" y="2896697"/>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d</a:t>
            </a:r>
          </a:p>
        </p:txBody>
      </p:sp>
      <p:sp>
        <p:nvSpPr>
          <p:cNvPr id="4" name="TextBox 3">
            <a:extLst>
              <a:ext uri="{FF2B5EF4-FFF2-40B4-BE49-F238E27FC236}">
                <a16:creationId xmlns:a16="http://schemas.microsoft.com/office/drawing/2014/main" id="{08F94185-601F-38DD-E3ED-A127C47D5DBF}"/>
              </a:ext>
            </a:extLst>
          </p:cNvPr>
          <p:cNvSpPr txBox="1"/>
          <p:nvPr/>
        </p:nvSpPr>
        <p:spPr>
          <a:xfrm>
            <a:off x="1232872" y="2856838"/>
            <a:ext cx="295563"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c</a:t>
            </a:r>
          </a:p>
        </p:txBody>
      </p:sp>
      <p:pic>
        <p:nvPicPr>
          <p:cNvPr id="6" name="Picture 5">
            <a:extLst>
              <a:ext uri="{FF2B5EF4-FFF2-40B4-BE49-F238E27FC236}">
                <a16:creationId xmlns:a16="http://schemas.microsoft.com/office/drawing/2014/main" id="{366685B9-6FFA-0B32-127F-BA386AF54BDF}"/>
              </a:ext>
            </a:extLst>
          </p:cNvPr>
          <p:cNvPicPr>
            <a:picLocks noChangeAspect="1"/>
          </p:cNvPicPr>
          <p:nvPr/>
        </p:nvPicPr>
        <p:blipFill>
          <a:blip r:embed="rId5"/>
          <a:stretch>
            <a:fillRect/>
          </a:stretch>
        </p:blipFill>
        <p:spPr>
          <a:xfrm>
            <a:off x="880369" y="994598"/>
            <a:ext cx="2743200" cy="1902099"/>
          </a:xfrm>
          <a:prstGeom prst="rect">
            <a:avLst/>
          </a:prstGeom>
        </p:spPr>
      </p:pic>
      <p:pic>
        <p:nvPicPr>
          <p:cNvPr id="8" name="Picture 7">
            <a:extLst>
              <a:ext uri="{FF2B5EF4-FFF2-40B4-BE49-F238E27FC236}">
                <a16:creationId xmlns:a16="http://schemas.microsoft.com/office/drawing/2014/main" id="{B0EB6ADA-5CC2-2386-3B17-6D074A13B659}"/>
              </a:ext>
            </a:extLst>
          </p:cNvPr>
          <p:cNvPicPr>
            <a:picLocks noChangeAspect="1"/>
          </p:cNvPicPr>
          <p:nvPr/>
        </p:nvPicPr>
        <p:blipFill>
          <a:blip r:embed="rId6"/>
          <a:stretch>
            <a:fillRect/>
          </a:stretch>
        </p:blipFill>
        <p:spPr>
          <a:xfrm>
            <a:off x="880369" y="2856838"/>
            <a:ext cx="2743200" cy="1902099"/>
          </a:xfrm>
          <a:prstGeom prst="rect">
            <a:avLst/>
          </a:prstGeom>
        </p:spPr>
      </p:pic>
      <p:grpSp>
        <p:nvGrpSpPr>
          <p:cNvPr id="12" name="Group 11">
            <a:extLst>
              <a:ext uri="{FF2B5EF4-FFF2-40B4-BE49-F238E27FC236}">
                <a16:creationId xmlns:a16="http://schemas.microsoft.com/office/drawing/2014/main" id="{381FA247-CA04-7244-3835-053787731CF3}"/>
              </a:ext>
            </a:extLst>
          </p:cNvPr>
          <p:cNvGrpSpPr/>
          <p:nvPr/>
        </p:nvGrpSpPr>
        <p:grpSpPr>
          <a:xfrm>
            <a:off x="2184318" y="4482864"/>
            <a:ext cx="457200" cy="246867"/>
            <a:chOff x="2184318" y="4482864"/>
            <a:chExt cx="457200" cy="246867"/>
          </a:xfrm>
        </p:grpSpPr>
        <p:sp>
          <p:nvSpPr>
            <p:cNvPr id="11" name="Rectangle 10">
              <a:extLst>
                <a:ext uri="{FF2B5EF4-FFF2-40B4-BE49-F238E27FC236}">
                  <a16:creationId xmlns:a16="http://schemas.microsoft.com/office/drawing/2014/main" id="{3FC47638-4B4F-E9AA-A2B1-8E37FC41A882}"/>
                </a:ext>
              </a:extLst>
            </p:cNvPr>
            <p:cNvSpPr/>
            <p:nvPr/>
          </p:nvSpPr>
          <p:spPr>
            <a:xfrm>
              <a:off x="2251969" y="4546599"/>
              <a:ext cx="321898" cy="1831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8B0EBD1-5183-EC6A-789B-6E292BA54A97}"/>
                </a:ext>
              </a:extLst>
            </p:cNvPr>
            <p:cNvSpPr txBox="1"/>
            <p:nvPr/>
          </p:nvSpPr>
          <p:spPr>
            <a:xfrm>
              <a:off x="2184318" y="4482864"/>
              <a:ext cx="457200" cy="246221"/>
            </a:xfrm>
            <a:prstGeom prst="rect">
              <a:avLst/>
            </a:prstGeom>
            <a:noFill/>
          </p:spPr>
          <p:txBody>
            <a:bodyPr wrap="squar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grpSp>
      <p:grpSp>
        <p:nvGrpSpPr>
          <p:cNvPr id="13" name="Group 12">
            <a:extLst>
              <a:ext uri="{FF2B5EF4-FFF2-40B4-BE49-F238E27FC236}">
                <a16:creationId xmlns:a16="http://schemas.microsoft.com/office/drawing/2014/main" id="{6D29FF9F-ABDA-2275-A363-D09708AD0042}"/>
              </a:ext>
            </a:extLst>
          </p:cNvPr>
          <p:cNvGrpSpPr/>
          <p:nvPr/>
        </p:nvGrpSpPr>
        <p:grpSpPr>
          <a:xfrm>
            <a:off x="4874758" y="4482864"/>
            <a:ext cx="457200" cy="246867"/>
            <a:chOff x="2184318" y="4482864"/>
            <a:chExt cx="457200" cy="246867"/>
          </a:xfrm>
        </p:grpSpPr>
        <p:sp>
          <p:nvSpPr>
            <p:cNvPr id="14" name="Rectangle 13">
              <a:extLst>
                <a:ext uri="{FF2B5EF4-FFF2-40B4-BE49-F238E27FC236}">
                  <a16:creationId xmlns:a16="http://schemas.microsoft.com/office/drawing/2014/main" id="{F4AE580A-1004-9416-38C6-B9528A4A5CD3}"/>
                </a:ext>
              </a:extLst>
            </p:cNvPr>
            <p:cNvSpPr/>
            <p:nvPr/>
          </p:nvSpPr>
          <p:spPr>
            <a:xfrm>
              <a:off x="2251969" y="4546599"/>
              <a:ext cx="321898" cy="1831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7F06DDF-5633-C649-84B0-62D3D09404AE}"/>
                </a:ext>
              </a:extLst>
            </p:cNvPr>
            <p:cNvSpPr txBox="1"/>
            <p:nvPr/>
          </p:nvSpPr>
          <p:spPr>
            <a:xfrm>
              <a:off x="2184318" y="4482864"/>
              <a:ext cx="457200" cy="246221"/>
            </a:xfrm>
            <a:prstGeom prst="rect">
              <a:avLst/>
            </a:prstGeom>
            <a:noFill/>
          </p:spPr>
          <p:txBody>
            <a:bodyPr wrap="squar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34030BE3-0338-E04C-C48E-A9272B7CB9AC}"/>
              </a:ext>
            </a:extLst>
          </p:cNvPr>
          <p:cNvGrpSpPr/>
          <p:nvPr/>
        </p:nvGrpSpPr>
        <p:grpSpPr>
          <a:xfrm>
            <a:off x="4874758" y="2603031"/>
            <a:ext cx="457200" cy="246867"/>
            <a:chOff x="2184318" y="4482864"/>
            <a:chExt cx="457200" cy="246867"/>
          </a:xfrm>
        </p:grpSpPr>
        <p:sp>
          <p:nvSpPr>
            <p:cNvPr id="20" name="Rectangle 19">
              <a:extLst>
                <a:ext uri="{FF2B5EF4-FFF2-40B4-BE49-F238E27FC236}">
                  <a16:creationId xmlns:a16="http://schemas.microsoft.com/office/drawing/2014/main" id="{78DFA5D6-CF9A-CBA2-EB8E-14CEBAA39E86}"/>
                </a:ext>
              </a:extLst>
            </p:cNvPr>
            <p:cNvSpPr/>
            <p:nvPr/>
          </p:nvSpPr>
          <p:spPr>
            <a:xfrm>
              <a:off x="2251969" y="4546599"/>
              <a:ext cx="321898" cy="1831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2F52F32-88D2-9909-9FB6-5C5886477649}"/>
                </a:ext>
              </a:extLst>
            </p:cNvPr>
            <p:cNvSpPr txBox="1"/>
            <p:nvPr/>
          </p:nvSpPr>
          <p:spPr>
            <a:xfrm>
              <a:off x="2184318" y="4482864"/>
              <a:ext cx="457200" cy="246221"/>
            </a:xfrm>
            <a:prstGeom prst="rect">
              <a:avLst/>
            </a:prstGeom>
            <a:noFill/>
          </p:spPr>
          <p:txBody>
            <a:bodyPr wrap="squar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grpSp>
      <p:grpSp>
        <p:nvGrpSpPr>
          <p:cNvPr id="22" name="Group 21">
            <a:extLst>
              <a:ext uri="{FF2B5EF4-FFF2-40B4-BE49-F238E27FC236}">
                <a16:creationId xmlns:a16="http://schemas.microsoft.com/office/drawing/2014/main" id="{57F67724-FA42-F3E1-70FB-5A0D24DDC9EB}"/>
              </a:ext>
            </a:extLst>
          </p:cNvPr>
          <p:cNvGrpSpPr/>
          <p:nvPr/>
        </p:nvGrpSpPr>
        <p:grpSpPr>
          <a:xfrm>
            <a:off x="2184318" y="2602707"/>
            <a:ext cx="457200" cy="246867"/>
            <a:chOff x="2184318" y="4482864"/>
            <a:chExt cx="457200" cy="246867"/>
          </a:xfrm>
        </p:grpSpPr>
        <p:sp>
          <p:nvSpPr>
            <p:cNvPr id="23" name="Rectangle 22">
              <a:extLst>
                <a:ext uri="{FF2B5EF4-FFF2-40B4-BE49-F238E27FC236}">
                  <a16:creationId xmlns:a16="http://schemas.microsoft.com/office/drawing/2014/main" id="{0C8F067E-28AA-5E36-3C78-26E82CD1F56C}"/>
                </a:ext>
              </a:extLst>
            </p:cNvPr>
            <p:cNvSpPr/>
            <p:nvPr/>
          </p:nvSpPr>
          <p:spPr>
            <a:xfrm>
              <a:off x="2251969" y="4546599"/>
              <a:ext cx="321898" cy="1831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536035-C3E6-8AC2-5101-5BE101AF91EE}"/>
                </a:ext>
              </a:extLst>
            </p:cNvPr>
            <p:cNvSpPr txBox="1"/>
            <p:nvPr/>
          </p:nvSpPr>
          <p:spPr>
            <a:xfrm>
              <a:off x="2184318" y="4482864"/>
              <a:ext cx="457200" cy="246221"/>
            </a:xfrm>
            <a:prstGeom prst="rect">
              <a:avLst/>
            </a:prstGeom>
            <a:noFill/>
          </p:spPr>
          <p:txBody>
            <a:bodyPr wrap="square" rtlCol="0">
              <a:spAutoFit/>
            </a:bodyPr>
            <a:lstStyle/>
            <a:p>
              <a:r>
                <a:rPr lang="en-US" sz="1000" i="1" dirty="0" err="1">
                  <a:latin typeface="Arial" panose="020B0604020202020204" pitchFamily="34" charset="0"/>
                  <a:cs typeface="Arial" panose="020B0604020202020204" pitchFamily="34" charset="0"/>
                </a:rPr>
                <a:t>G</a:t>
              </a:r>
              <a:r>
                <a:rPr lang="en-US" sz="1000" baseline="-25000" dirty="0" err="1">
                  <a:latin typeface="Arial" panose="020B0604020202020204" pitchFamily="34" charset="0"/>
                  <a:cs typeface="Arial" panose="020B0604020202020204" pitchFamily="34" charset="0"/>
                </a:rPr>
                <a:t>max</a:t>
              </a:r>
              <a:endParaRPr lang="en-US" sz="1000" baseline="-25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158708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83703C-C986-B7A7-CC2B-519EC66C7934}"/>
              </a:ext>
            </a:extLst>
          </p:cNvPr>
          <p:cNvPicPr>
            <a:picLocks noChangeAspect="1"/>
          </p:cNvPicPr>
          <p:nvPr/>
        </p:nvPicPr>
        <p:blipFill>
          <a:blip r:embed="rId3"/>
          <a:stretch>
            <a:fillRect/>
          </a:stretch>
        </p:blipFill>
        <p:spPr>
          <a:xfrm>
            <a:off x="998220" y="2263140"/>
            <a:ext cx="4572000" cy="3228392"/>
          </a:xfrm>
          <a:prstGeom prst="rect">
            <a:avLst/>
          </a:prstGeom>
        </p:spPr>
      </p:pic>
    </p:spTree>
    <p:extLst>
      <p:ext uri="{BB962C8B-B14F-4D97-AF65-F5344CB8AC3E}">
        <p14:creationId xmlns:p14="http://schemas.microsoft.com/office/powerpoint/2010/main" val="4111111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9E8C0-CB92-61B5-C3AB-84730FC19CA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4271837-00D1-E4DE-6BDB-01C5CFAA0C90}"/>
              </a:ext>
            </a:extLst>
          </p:cNvPr>
          <p:cNvPicPr>
            <a:picLocks noChangeAspect="1"/>
          </p:cNvPicPr>
          <p:nvPr/>
        </p:nvPicPr>
        <p:blipFill>
          <a:blip r:embed="rId3"/>
          <a:stretch>
            <a:fillRect/>
          </a:stretch>
        </p:blipFill>
        <p:spPr>
          <a:xfrm>
            <a:off x="1057333" y="2724034"/>
            <a:ext cx="4572000" cy="3228392"/>
          </a:xfrm>
          <a:prstGeom prst="rect">
            <a:avLst/>
          </a:prstGeom>
        </p:spPr>
      </p:pic>
      <p:pic>
        <p:nvPicPr>
          <p:cNvPr id="4" name="Picture 3">
            <a:extLst>
              <a:ext uri="{FF2B5EF4-FFF2-40B4-BE49-F238E27FC236}">
                <a16:creationId xmlns:a16="http://schemas.microsoft.com/office/drawing/2014/main" id="{72E4F903-1EA8-916E-7DA3-F7320ADA780F}"/>
              </a:ext>
            </a:extLst>
          </p:cNvPr>
          <p:cNvPicPr>
            <a:picLocks noChangeAspect="1"/>
          </p:cNvPicPr>
          <p:nvPr/>
        </p:nvPicPr>
        <p:blipFill>
          <a:blip r:embed="rId4"/>
          <a:stretch>
            <a:fillRect/>
          </a:stretch>
        </p:blipFill>
        <p:spPr>
          <a:xfrm>
            <a:off x="317500" y="2374900"/>
            <a:ext cx="6223000" cy="4394200"/>
          </a:xfrm>
          <a:prstGeom prst="rect">
            <a:avLst/>
          </a:prstGeom>
        </p:spPr>
      </p:pic>
    </p:spTree>
    <p:extLst>
      <p:ext uri="{BB962C8B-B14F-4D97-AF65-F5344CB8AC3E}">
        <p14:creationId xmlns:p14="http://schemas.microsoft.com/office/powerpoint/2010/main" val="2559799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6A56A9-0828-2DC3-5CAC-2BBA18F65C47}"/>
              </a:ext>
            </a:extLst>
          </p:cNvPr>
          <p:cNvPicPr>
            <a:picLocks noChangeAspect="1"/>
          </p:cNvPicPr>
          <p:nvPr/>
        </p:nvPicPr>
        <p:blipFill>
          <a:blip r:embed="rId3"/>
          <a:stretch>
            <a:fillRect/>
          </a:stretch>
        </p:blipFill>
        <p:spPr>
          <a:xfrm>
            <a:off x="3499215" y="895321"/>
            <a:ext cx="2743200" cy="1754802"/>
          </a:xfrm>
          <a:prstGeom prst="rect">
            <a:avLst/>
          </a:prstGeom>
        </p:spPr>
      </p:pic>
      <p:pic>
        <p:nvPicPr>
          <p:cNvPr id="44" name="Picture 43">
            <a:extLst>
              <a:ext uri="{FF2B5EF4-FFF2-40B4-BE49-F238E27FC236}">
                <a16:creationId xmlns:a16="http://schemas.microsoft.com/office/drawing/2014/main" id="{E72AAF6B-C930-F834-DC71-30F12CE04E4B}"/>
              </a:ext>
            </a:extLst>
          </p:cNvPr>
          <p:cNvPicPr>
            <a:picLocks noChangeAspect="1"/>
          </p:cNvPicPr>
          <p:nvPr/>
        </p:nvPicPr>
        <p:blipFill>
          <a:blip r:embed="rId4"/>
          <a:stretch>
            <a:fillRect/>
          </a:stretch>
        </p:blipFill>
        <p:spPr>
          <a:xfrm>
            <a:off x="645524" y="2530661"/>
            <a:ext cx="2743200" cy="1754802"/>
          </a:xfrm>
          <a:prstGeom prst="rect">
            <a:avLst/>
          </a:prstGeom>
        </p:spPr>
      </p:pic>
      <p:pic>
        <p:nvPicPr>
          <p:cNvPr id="45" name="Picture 44">
            <a:extLst>
              <a:ext uri="{FF2B5EF4-FFF2-40B4-BE49-F238E27FC236}">
                <a16:creationId xmlns:a16="http://schemas.microsoft.com/office/drawing/2014/main" id="{62B1D4A5-32E8-F1F1-E76B-C137CA4BEB7F}"/>
              </a:ext>
            </a:extLst>
          </p:cNvPr>
          <p:cNvPicPr>
            <a:picLocks noChangeAspect="1"/>
          </p:cNvPicPr>
          <p:nvPr/>
        </p:nvPicPr>
        <p:blipFill>
          <a:blip r:embed="rId5"/>
          <a:stretch>
            <a:fillRect/>
          </a:stretch>
        </p:blipFill>
        <p:spPr>
          <a:xfrm>
            <a:off x="645524" y="4165065"/>
            <a:ext cx="2743200" cy="1754802"/>
          </a:xfrm>
          <a:prstGeom prst="rect">
            <a:avLst/>
          </a:prstGeom>
        </p:spPr>
      </p:pic>
      <p:pic>
        <p:nvPicPr>
          <p:cNvPr id="46" name="Picture 45">
            <a:extLst>
              <a:ext uri="{FF2B5EF4-FFF2-40B4-BE49-F238E27FC236}">
                <a16:creationId xmlns:a16="http://schemas.microsoft.com/office/drawing/2014/main" id="{81B23848-8FBC-2866-6CF3-A66F8285C40C}"/>
              </a:ext>
            </a:extLst>
          </p:cNvPr>
          <p:cNvPicPr>
            <a:picLocks noChangeAspect="1"/>
          </p:cNvPicPr>
          <p:nvPr/>
        </p:nvPicPr>
        <p:blipFill>
          <a:blip r:embed="rId6"/>
          <a:stretch>
            <a:fillRect/>
          </a:stretch>
        </p:blipFill>
        <p:spPr>
          <a:xfrm>
            <a:off x="645524" y="5799470"/>
            <a:ext cx="2743200" cy="1754802"/>
          </a:xfrm>
          <a:prstGeom prst="rect">
            <a:avLst/>
          </a:prstGeom>
        </p:spPr>
      </p:pic>
      <p:pic>
        <p:nvPicPr>
          <p:cNvPr id="47" name="Picture 46">
            <a:extLst>
              <a:ext uri="{FF2B5EF4-FFF2-40B4-BE49-F238E27FC236}">
                <a16:creationId xmlns:a16="http://schemas.microsoft.com/office/drawing/2014/main" id="{623B01EB-C166-59D5-0C77-5A50D490286A}"/>
              </a:ext>
            </a:extLst>
          </p:cNvPr>
          <p:cNvPicPr>
            <a:picLocks noChangeAspect="1"/>
          </p:cNvPicPr>
          <p:nvPr/>
        </p:nvPicPr>
        <p:blipFill>
          <a:blip r:embed="rId7"/>
          <a:stretch>
            <a:fillRect/>
          </a:stretch>
        </p:blipFill>
        <p:spPr>
          <a:xfrm>
            <a:off x="3499215" y="2530661"/>
            <a:ext cx="2743200" cy="1754802"/>
          </a:xfrm>
          <a:prstGeom prst="rect">
            <a:avLst/>
          </a:prstGeom>
        </p:spPr>
      </p:pic>
      <p:pic>
        <p:nvPicPr>
          <p:cNvPr id="50" name="Picture 49">
            <a:extLst>
              <a:ext uri="{FF2B5EF4-FFF2-40B4-BE49-F238E27FC236}">
                <a16:creationId xmlns:a16="http://schemas.microsoft.com/office/drawing/2014/main" id="{3CF646AB-C27F-2287-239D-2AEBD12F33DA}"/>
              </a:ext>
            </a:extLst>
          </p:cNvPr>
          <p:cNvPicPr>
            <a:picLocks noChangeAspect="1"/>
          </p:cNvPicPr>
          <p:nvPr/>
        </p:nvPicPr>
        <p:blipFill>
          <a:blip r:embed="rId8"/>
          <a:stretch>
            <a:fillRect/>
          </a:stretch>
        </p:blipFill>
        <p:spPr>
          <a:xfrm>
            <a:off x="3499215" y="4165065"/>
            <a:ext cx="2743200" cy="1754802"/>
          </a:xfrm>
          <a:prstGeom prst="rect">
            <a:avLst/>
          </a:prstGeom>
        </p:spPr>
      </p:pic>
      <p:pic>
        <p:nvPicPr>
          <p:cNvPr id="52" name="Picture 51">
            <a:extLst>
              <a:ext uri="{FF2B5EF4-FFF2-40B4-BE49-F238E27FC236}">
                <a16:creationId xmlns:a16="http://schemas.microsoft.com/office/drawing/2014/main" id="{B7E8423B-EB54-75EC-A20E-4CC075C4A8C0}"/>
              </a:ext>
            </a:extLst>
          </p:cNvPr>
          <p:cNvPicPr>
            <a:picLocks noChangeAspect="1"/>
          </p:cNvPicPr>
          <p:nvPr/>
        </p:nvPicPr>
        <p:blipFill>
          <a:blip r:embed="rId9"/>
          <a:stretch>
            <a:fillRect/>
          </a:stretch>
        </p:blipFill>
        <p:spPr>
          <a:xfrm>
            <a:off x="3499215" y="5799470"/>
            <a:ext cx="2743200" cy="1754802"/>
          </a:xfrm>
          <a:prstGeom prst="rect">
            <a:avLst/>
          </a:prstGeom>
        </p:spPr>
      </p:pic>
      <p:sp>
        <p:nvSpPr>
          <p:cNvPr id="24" name="TextBox 23">
            <a:extLst>
              <a:ext uri="{FF2B5EF4-FFF2-40B4-BE49-F238E27FC236}">
                <a16:creationId xmlns:a16="http://schemas.microsoft.com/office/drawing/2014/main" id="{D09777BD-2070-E2F7-E229-0C9F703ED844}"/>
              </a:ext>
            </a:extLst>
          </p:cNvPr>
          <p:cNvSpPr txBox="1"/>
          <p:nvPr/>
        </p:nvSpPr>
        <p:spPr>
          <a:xfrm>
            <a:off x="1676406" y="2765505"/>
            <a:ext cx="862148"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0.001</a:t>
            </a:r>
          </a:p>
        </p:txBody>
      </p:sp>
      <p:sp>
        <p:nvSpPr>
          <p:cNvPr id="26" name="TextBox 25">
            <a:extLst>
              <a:ext uri="{FF2B5EF4-FFF2-40B4-BE49-F238E27FC236}">
                <a16:creationId xmlns:a16="http://schemas.microsoft.com/office/drawing/2014/main" id="{57C1BB5E-EB2B-9289-49EB-2166C4B19A57}"/>
              </a:ext>
            </a:extLst>
          </p:cNvPr>
          <p:cNvSpPr txBox="1"/>
          <p:nvPr/>
        </p:nvSpPr>
        <p:spPr>
          <a:xfrm>
            <a:off x="1676406" y="4414917"/>
            <a:ext cx="905690"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0.01</a:t>
            </a:r>
          </a:p>
        </p:txBody>
      </p:sp>
      <p:sp>
        <p:nvSpPr>
          <p:cNvPr id="27" name="TextBox 26">
            <a:extLst>
              <a:ext uri="{FF2B5EF4-FFF2-40B4-BE49-F238E27FC236}">
                <a16:creationId xmlns:a16="http://schemas.microsoft.com/office/drawing/2014/main" id="{37496C05-C6BE-6776-0408-C02CC3C60ECC}"/>
              </a:ext>
            </a:extLst>
          </p:cNvPr>
          <p:cNvSpPr txBox="1"/>
          <p:nvPr/>
        </p:nvSpPr>
        <p:spPr>
          <a:xfrm>
            <a:off x="1676406" y="6052038"/>
            <a:ext cx="938348"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0.1</a:t>
            </a:r>
          </a:p>
        </p:txBody>
      </p:sp>
      <p:pic>
        <p:nvPicPr>
          <p:cNvPr id="43" name="Picture 42">
            <a:extLst>
              <a:ext uri="{FF2B5EF4-FFF2-40B4-BE49-F238E27FC236}">
                <a16:creationId xmlns:a16="http://schemas.microsoft.com/office/drawing/2014/main" id="{185DB601-2539-A56E-2A21-6299CE1E299E}"/>
              </a:ext>
            </a:extLst>
          </p:cNvPr>
          <p:cNvPicPr>
            <a:picLocks noChangeAspect="1"/>
          </p:cNvPicPr>
          <p:nvPr/>
        </p:nvPicPr>
        <p:blipFill>
          <a:blip r:embed="rId10"/>
          <a:stretch>
            <a:fillRect/>
          </a:stretch>
        </p:blipFill>
        <p:spPr>
          <a:xfrm>
            <a:off x="645524" y="896257"/>
            <a:ext cx="2743200" cy="1754802"/>
          </a:xfrm>
          <a:prstGeom prst="rect">
            <a:avLst/>
          </a:prstGeom>
        </p:spPr>
      </p:pic>
      <p:sp>
        <p:nvSpPr>
          <p:cNvPr id="42" name="TextBox 41">
            <a:extLst>
              <a:ext uri="{FF2B5EF4-FFF2-40B4-BE49-F238E27FC236}">
                <a16:creationId xmlns:a16="http://schemas.microsoft.com/office/drawing/2014/main" id="{558B8568-6FAD-3423-2FE9-C92D3C59B565}"/>
              </a:ext>
            </a:extLst>
          </p:cNvPr>
          <p:cNvSpPr txBox="1"/>
          <p:nvPr/>
        </p:nvSpPr>
        <p:spPr>
          <a:xfrm>
            <a:off x="4606835" y="2777103"/>
            <a:ext cx="818606"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1.0</a:t>
            </a:r>
          </a:p>
        </p:txBody>
      </p:sp>
      <p:sp>
        <p:nvSpPr>
          <p:cNvPr id="49" name="TextBox 48">
            <a:extLst>
              <a:ext uri="{FF2B5EF4-FFF2-40B4-BE49-F238E27FC236}">
                <a16:creationId xmlns:a16="http://schemas.microsoft.com/office/drawing/2014/main" id="{41CD8A67-0752-C28F-9805-5CF3EFCA5839}"/>
              </a:ext>
            </a:extLst>
          </p:cNvPr>
          <p:cNvSpPr txBox="1"/>
          <p:nvPr/>
        </p:nvSpPr>
        <p:spPr>
          <a:xfrm>
            <a:off x="4606834" y="1152091"/>
            <a:ext cx="1001485"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Payoff/Sum</a:t>
            </a:r>
            <a:endParaRPr lang="en-US" sz="1200">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196C15D4-8898-6437-EC1E-D37E0E3AA256}"/>
              </a:ext>
            </a:extLst>
          </p:cNvPr>
          <p:cNvSpPr txBox="1"/>
          <p:nvPr/>
        </p:nvSpPr>
        <p:spPr>
          <a:xfrm>
            <a:off x="4606835" y="4413150"/>
            <a:ext cx="818606"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5.0</a:t>
            </a:r>
          </a:p>
        </p:txBody>
      </p:sp>
      <p:sp>
        <p:nvSpPr>
          <p:cNvPr id="53" name="TextBox 52">
            <a:extLst>
              <a:ext uri="{FF2B5EF4-FFF2-40B4-BE49-F238E27FC236}">
                <a16:creationId xmlns:a16="http://schemas.microsoft.com/office/drawing/2014/main" id="{1A9A09CE-310A-F538-D7D0-D8E6EB0E8D47}"/>
              </a:ext>
            </a:extLst>
          </p:cNvPr>
          <p:cNvSpPr txBox="1"/>
          <p:nvPr/>
        </p:nvSpPr>
        <p:spPr>
          <a:xfrm>
            <a:off x="4606835" y="6040201"/>
            <a:ext cx="818606" cy="276999"/>
          </a:xfrm>
          <a:prstGeom prst="rect">
            <a:avLst/>
          </a:prstGeom>
          <a:noFill/>
        </p:spPr>
        <p:txBody>
          <a:bodyPr wrap="square" rtlCol="0">
            <a:spAutoFit/>
          </a:bodyPr>
          <a:lstStyle/>
          <a:p>
            <a:r>
              <a:rPr lang="en-US" sz="1200" i="1">
                <a:latin typeface="Arial" panose="020B0604020202020204" pitchFamily="34" charset="0"/>
                <a:cs typeface="Arial" panose="020B0604020202020204" pitchFamily="34" charset="0"/>
              </a:rPr>
              <a:t>w</a:t>
            </a:r>
            <a:r>
              <a:rPr lang="en-US" sz="1200">
                <a:latin typeface="Arial" panose="020B0604020202020204" pitchFamily="34" charset="0"/>
                <a:cs typeface="Arial" panose="020B0604020202020204" pitchFamily="34" charset="0"/>
              </a:rPr>
              <a:t> = 10.0</a:t>
            </a:r>
          </a:p>
        </p:txBody>
      </p:sp>
    </p:spTree>
    <p:extLst>
      <p:ext uri="{BB962C8B-B14F-4D97-AF65-F5344CB8AC3E}">
        <p14:creationId xmlns:p14="http://schemas.microsoft.com/office/powerpoint/2010/main" val="28903957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guresUG11" id="{AAB5D93C-3FB7-CE48-90E3-F537EB63DB33}" vid="{32C5BDAC-8EFF-8442-AF32-C13557F97AF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3670</TotalTime>
  <Words>2011</Words>
  <Application>Microsoft Macintosh PowerPoint</Application>
  <PresentationFormat>Letter Paper (8.5x11 in)</PresentationFormat>
  <Paragraphs>264</Paragraphs>
  <Slides>19</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Calibri</vt:lpstr>
      <vt:lpstr>Calibri Light</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 B Figures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Jeffrey Schank</dc:creator>
  <cp:lastModifiedBy>Jeffrey C Schank</cp:lastModifiedBy>
  <cp:revision>69</cp:revision>
  <cp:lastPrinted>2023-08-16T19:13:51Z</cp:lastPrinted>
  <dcterms:created xsi:type="dcterms:W3CDTF">2023-08-24T20:21:50Z</dcterms:created>
  <dcterms:modified xsi:type="dcterms:W3CDTF">2025-12-10T05:52:37Z</dcterms:modified>
</cp:coreProperties>
</file>